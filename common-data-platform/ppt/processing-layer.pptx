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3315C">
              <a:alpha val="30000"/>
            </a:srgbClr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ARCHITECTURE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アーキテクチャ設計書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9728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5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データを Silver / Gold へ昇格させる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D5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データ品質管理・変換・物理化の中核レイヤー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2615184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206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Medallion Architecture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75304" y="51206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9824" y="51206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dbt / Spark / Trino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72984" y="5120640"/>
            <a:ext cx="1956816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2984" y="51206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/ MERGE INTO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Architecture / Processing Layer Design Specification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 / Table of Contents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99669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プロセシングレイヤーの位置づけ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121615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→ Silver → Gold 全体像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960120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99669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本レイヤーの責務と処理スコープ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03720" y="121615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プロセシングレイヤーが担う14の責務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52704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527048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15636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メダリオンアーキテクチャ詳細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" y="178308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各層の役割・データ状態・出力対象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52704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527048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15636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入力: Bronze Layer 仕様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03720" y="178308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データ・CDC changelog・メタカラム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09397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093976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213055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Layer 設計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3000" y="235000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整形・標準化・重複排除・品質チェック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09397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093976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213055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処理設計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903720" y="235000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Latest State / History Table / SCD Type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2660904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660904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43000" y="26974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Layer 設計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43000" y="29169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業務ロジック・データマート・KPI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2660904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2660904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26974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処理エンジンの使い分け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03720" y="29169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dbt / Spark / Trino / Flink / Glue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227832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227832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43000" y="32644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マテリアライズ方式の選択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43000" y="34838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 / Table / Incremental / MERGE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3227832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3227832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903720" y="32644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Federation との関係整理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903720" y="34838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論理参照と物理化の判断基準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79476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3794760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143000" y="383133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Apache Iceberg 運用設計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143000" y="40507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/ Snapshot / Compaction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379476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3794760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903720" y="383133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横断コンポーネント設計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903720" y="40507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Orchestration / Quality / Lineage 等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436168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4361688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1143000" y="439826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Contract 設計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1143000" y="46177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ソースと基盤間の契約・検証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436168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17920" y="4361688"/>
            <a:ext cx="73152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550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903720" y="439826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全体俯瞰図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6903720" y="46177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図解用マッピング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16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プロセシングレイヤーの位置づけ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Positioning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14400"/>
            <a:ext cx="4937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73152" cy="5394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プロセシングレイヤーとは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1463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データ分析基盤におけるプロセシングレイヤーは、Collecting Layer によって取り込まれ Storage Layer の Bronze に保存された Raw データを、加工・整形・品質保証することで、ビジネスで安全かつ容易に利用できる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/ Gold へ昇格させる中心的なレイヤー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である。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設計原則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レイクハウス前提 (S3 + Apache Iceberg)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メダリオンアーキテクチャ (Bronze → Silver → Gold)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処理エンジンを目的別に使い分ける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再実行可能性・冪等性を担保する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品質チェックとリネージで信頼性を確保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/ BI / API は Access Layer 側へ分離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914400"/>
            <a:ext cx="60350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051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データ基盤全体における位置づけ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97880" y="1508760"/>
            <a:ext cx="5623560" cy="50292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5453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 Systems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180136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RDB / SaaS / API / Files / Events / Logs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49640" y="2029968"/>
            <a:ext cx="274320" cy="164592"/>
          </a:xfrm>
          <a:prstGeom prst="down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212848"/>
            <a:ext cx="5623560" cy="5029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249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Collecting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2505456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Ingestion / CDC / Batch / Streaming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49640" y="2734056"/>
            <a:ext cx="274320" cy="164592"/>
          </a:xfrm>
          <a:prstGeom prst="down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2916936"/>
            <a:ext cx="5623560" cy="50292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953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Storage Layer ─ Bronze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320954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Data / CDC Changelog (S3 + Iceberg)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49640" y="3438144"/>
            <a:ext cx="274320" cy="164592"/>
          </a:xfrm>
          <a:prstGeom prst="down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621024"/>
            <a:ext cx="5623560" cy="6583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3575304"/>
            <a:ext cx="5806440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657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Processing Layer 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3913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→ Silver / Gold 変換・品質保証の中核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49640" y="4297680"/>
            <a:ext cx="274320" cy="164592"/>
          </a:xfrm>
          <a:prstGeom prst="down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4480560"/>
            <a:ext cx="5623560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5171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Storage Layer ─ Silver / Gold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477316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Cleaned / Standardized / Business-ready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49640" y="5001768"/>
            <a:ext cx="274320" cy="164592"/>
          </a:xfrm>
          <a:prstGeom prst="down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5184648"/>
            <a:ext cx="562356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52212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Access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89320" y="5477256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/ BI / API / Notebook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16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本レイヤーの責務と処理スコープ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Responsibilities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プロセシングレイヤーは、Bronze から Silver / Gold への変換を中核に、計14項目の責務を担う。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2588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2588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入力・読み込み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データの読み込み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changelog 読込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ファイル/イベント読込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32588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32588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整形・標準化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データ型変換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カラム名標準化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タイムゾーン統一・コード値統一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3258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2588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32588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クレンジング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5508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Null / 不正値処理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重複排除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参照整合性チェック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98280" y="13258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32588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98280" y="132588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反映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23544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Insert / Update / Delete 反映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削除データの扱い (論理/物理)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履歴・最新状態の管理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7889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78892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78892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品質保証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3200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データ品質チェック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業務ルール検証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Quarantine による隔離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27889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278892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278892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74720" y="3200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/ Gold テーブル生成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Fact / Dimension の作成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業務指標の実装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27889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78892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278892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集計・マート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55080" y="3200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データマート生成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日次/月次集計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特徴量テーブル生成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98280" y="27889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98280" y="278892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98280" y="2788920"/>
            <a:ext cx="73152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運用・統治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235440" y="3200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再実行可能な処理管理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リネージ・処理履歴の記録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 / Watermark 管理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434840"/>
            <a:ext cx="109728" cy="1783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4526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責務設計上の重要ポイント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7240" y="4892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単なる変換ではなく品質保証を伴う: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データを信頼できる業務データへ昇格させることが本質。型変換だけのレイヤーではない。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Semantic / BI は Access Layer に分離: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メトリクス定義や可視化はプロセシングの外側で扱う。本層は物理化されたデータを Access に渡すまでが責務範囲。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横断機能を Cross-cutting として整理: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Orchestration / Quality / Schema / Quarantine / Lineage / Observability / Security / Contract / Iceberg 運用を統括する。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16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メダリオンアーキテクチャ詳細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Medallion Architecture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→ Silver → Gold の3層で、データの品質と利用しやすさを段階的に高める。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36576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25880"/>
            <a:ext cx="3657600" cy="109728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63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/ Changelog / Replayable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データ保存・再処理用の原本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データ状態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ソースに近い、生データ、CDC changelog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主な内容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SaaS / API からの Raw データ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RDB からの取得データ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changelog の蓄積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アプリケーションイベント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/ App ログ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外部ファイル類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365760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監査証跡 / append-only / 再処理可能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9372" y="3584448"/>
            <a:ext cx="128016" cy="329184"/>
          </a:xfrm>
          <a:prstGeom prst="rightArrow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1325880"/>
            <a:ext cx="36576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1325880"/>
            <a:ext cx="3657600" cy="109728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463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4348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Cleaned / Standardized / Deduplicated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D99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整形・標準化・重複排除・品質チェック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3484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D99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データ状態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分析処理に使える標準化済みデータ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3484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D99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主な内容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4069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データ型変換・カラム名標準化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Null / 不正値処理・補完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タイムゾーン・コード値統一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重複排除 (主キー + 更新時刻)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の MERGE 反映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データ品質テスト適用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51960" y="5760720"/>
            <a:ext cx="365760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Cleaned / Trusted / 解析可能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14132" y="3584448"/>
            <a:ext cx="128016" cy="329184"/>
          </a:xfrm>
          <a:prstGeom prst="rightArrow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325880"/>
            <a:ext cx="36576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1325880"/>
            <a:ext cx="365760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1463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22960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Business-ready / Aggregated / KPI-ready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業務ロジック適用・データマート・集計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データ状態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29600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ビジネス利用に最適化された信頼済みデータ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主な内容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0" y="4069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Fact / Dimension テーブル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部門別データマート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日次・月次集計テーブル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Wide Table (結合済み横持ち)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Customer 360 / 顧客統合ビュー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 / スコアリング向け特徴量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46720" y="5760720"/>
            <a:ext cx="365760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Curated / Business-ready / SLA定義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Bronze はストレージレイヤーの責務だが、プロセシングレイヤーから見ると入力データに相当する。Silver / Gold が本レイヤーの主な出力。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16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入力: Bronze Layer 仕様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Input: Bronze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1440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73152" cy="237744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Layer の役割と特徴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は Collecting Layer から出力された Raw データを保存する層。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プロセシングレイヤーは Bronze を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入力データ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として読み込む。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ソースに近い形式で保存する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append-only を基本とする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後から再処理できる構造を担保する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監査証跡として保持する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CDC の変更履歴を保持する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86400" cy="2971800"/>
          </a:xfrm>
          <a:prstGeom prst="rect">
            <a:avLst/>
          </a:prstGeom>
          <a:solidFill>
            <a:srgbClr val="0B2545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73152" cy="297180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テーブル命名例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bronze.salesforce_account_raw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bronze.postgres_orders_changelog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bronze.web_events_raw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bronze.app_logs_raw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bronze.stripe_payments_changelog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bronze.s3_inbound_files_raw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規約: &lt;layer&gt;.&lt;source&gt;_&lt;table&gt;_&lt;type&gt; 形式で統一。CDC は _changelog、batch/snapshot は _raw を付与。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914400"/>
            <a:ext cx="73152" cy="5486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推奨メタカラム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325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元データのカラムに加え、監査・再処理・重複排除・リネージのために以下を付与する。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カラム名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_source_system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SaaS / DB 等のソース種別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_source_database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ソース DB 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_source_table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ソーステーブル名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_source_file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ファイル名 (該当時)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_ingested_at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取り込み時刻 (UTC)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_load_id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ロードバッチ識別子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_batch_id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実行単位の識別子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_record_hash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重複検知用ハッシュ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_operation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 / U / D (CDC)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_source_created_at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ソース生成時刻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_source_updated_at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ソース更新時刻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_event_time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イベント発生時刻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_processing_time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処理時刻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_is_deleted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論理削除フラグ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400800" y="5989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これらは Silver 生成時に重複排除・最新レコード判定・CDC MERGE・削除反映・障害調査に利用する。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16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Layer 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Silver Layer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= Cleaned / Standardized / Deduplicated / CDC Merged / Quality Checked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91440" cy="2926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539496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代表的な変換処理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型変換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文字列の日付を timestamp に、金額を decimal に変換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命名標準化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cust_id → customer_id 等への統一・スネークケース化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54864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Null 処理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必須項目の Null 検出・補完・Quarantine 隔離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重複排除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6596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主キー + 更新時刻 + 取り込み時刻で最新レコード選択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タイムゾーン統一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65960" y="3474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UTC / JST 等の基準を全体で統一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86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コード値標準化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6596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 / Male / 男性 などのコード体系を統一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54864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削除反映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6596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delete・論理削除フラグの反映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70916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品質チェック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65960" y="4709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unique / not null / accepted values / relationship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303520"/>
            <a:ext cx="91440" cy="2926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303520"/>
            <a:ext cx="539496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303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テーブル例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669280"/>
            <a:ext cx="548640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715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9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silver.orders            silver.customers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9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silver.payments          silver.products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9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silver.web_events_cleaned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1463040"/>
            <a:ext cx="91440" cy="2926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1463040"/>
            <a:ext cx="539496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で保持する代表カラム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や履歴管理を行う場合に設計する。すべてのテーブルで必須ではない。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8600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カラム名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business_key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業務上の自然キー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surrogate_key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サロゲートキー (代理キー)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source_updated_at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ソース側の更新時刻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ingested_at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Bronze 取り込み時刻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valid_from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有効開始時刻 (SCD2)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valid_to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有効終了時刻 (SCD2)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is_current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最新フラグ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is_deleted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論理削除フラグ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record_hash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差分検知用ハッシュ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load_id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ロード識別子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6217920" y="5486400"/>
            <a:ext cx="5486400" cy="960120"/>
          </a:xfrm>
          <a:prstGeom prst="rect">
            <a:avLst/>
          </a:prstGeom>
          <a:solidFill>
            <a:srgbClr val="EAF6F4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17920" y="5486400"/>
            <a:ext cx="73152" cy="9601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00800" y="5532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品質チェック例 (dbt tests / Great Expectations)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400800" y="58064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3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is not null  /  customer_id exists in customers  /  amount &gt;= 0  /  status in accepted values  /  row_count &gt; 0  /  freshness within SLA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16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処理設計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CDC 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で取り込んだ Insert / Update / Delete イベントは、Bronze では append-only の changelog として保存し、Silver で最新状態または履歴テーブルへ変換する。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468880" cy="77724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Events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Debezium / DMS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641348"/>
            <a:ext cx="256032" cy="237744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371600"/>
            <a:ext cx="2468880" cy="77724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Changelog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append-only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24728" y="1641348"/>
            <a:ext cx="256032" cy="237744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371600"/>
            <a:ext cx="2468880" cy="7772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325880"/>
            <a:ext cx="256032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INTO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77656" y="1641348"/>
            <a:ext cx="256032" cy="237744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15984" y="1371600"/>
            <a:ext cx="2468880" cy="77724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7424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最新 / 履歴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07424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Latest / 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331720"/>
            <a:ext cx="112471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9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例:  bronze.postgres_orders_changelog  ──MERGE INTO──▶  silver.orders   (latest)   /   silver.orders_history   (history)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108960"/>
            <a:ext cx="73152" cy="3108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Latest State Table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最新状態だけを保持するテーブル ( 例: silver.orders 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向いている用途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1148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最新注文状態の参照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最新顧客マスタの参照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用の現在状態分析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OLTP 連携用の最新ビュー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5212080" cy="594360"/>
          </a:xfrm>
          <a:prstGeom prst="rect">
            <a:avLst/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86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INTO で upsert を行い、delete は物理削除または is_deleted で論理削除する。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10896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108960"/>
            <a:ext cx="73152" cy="31089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History Table (SCD Type 2)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変更履歴を保持するテーブル ( 例: silver.orders_history 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向いている用途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41148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監査・トレーサビリティ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過去時点での履歴分析・再現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状態遷移分析 (例: ステータス変遷)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Slowly Changing Dimension Type 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5486400"/>
            <a:ext cx="5212080" cy="594360"/>
          </a:xfrm>
          <a:prstGeom prst="rect">
            <a:avLst/>
          </a:prstGeom>
          <a:solidFill>
            <a:srgbClr val="FBF1E6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5486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valid_from / valid_to / is_current を保持し、レコード単位で履歴を残す。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で設計すべき項目:  Insert/Update/Delete の扱い ・ operation column ・ before/after image ・ 物理 vs 論理削除 ・ Latest/History ・ SCD2 ・ 遅延到着 ・ イベント順序保証 ・ MERGE キー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16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Layer 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Gold Layer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= Business-ready / Curated / Data Mart / Aggregated / KPI-ready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630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Fact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売上・注文・決済・イベント等の事実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377440"/>
            <a:ext cx="3383280" cy="320040"/>
          </a:xfrm>
          <a:prstGeom prst="rect">
            <a:avLst/>
          </a:prstGeom>
          <a:solidFill>
            <a:srgbClr val="F7F3E3"/>
          </a:solidFill>
          <a:ln w="12700">
            <a:solidFill>
              <a:srgbClr val="F7F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gold.fct_orders / fct_payments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146304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4630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Dimension 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顧客・商品・店舗・組織等の軸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2377440"/>
            <a:ext cx="3383280" cy="320040"/>
          </a:xfrm>
          <a:prstGeom prst="rect">
            <a:avLst/>
          </a:prstGeom>
          <a:solidFill>
            <a:srgbClr val="F7F3E3"/>
          </a:solidFill>
          <a:ln w="12700">
            <a:solidFill>
              <a:srgbClr val="F7F3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gold.dim_customers / dim_products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146304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4630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Mart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 / マーケ / 財務 / CS 等の用途別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2377440"/>
            <a:ext cx="3383280" cy="320040"/>
          </a:xfrm>
          <a:prstGeom prst="rect">
            <a:avLst/>
          </a:prstGeom>
          <a:solidFill>
            <a:srgbClr val="F7F3E3"/>
          </a:solidFill>
          <a:ln w="12700">
            <a:solidFill>
              <a:srgbClr val="F7F3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gold.mart_sales / mart_marketing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92608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Aggregate Table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 / 月次 / カテゴリ別の集計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40480"/>
            <a:ext cx="3383280" cy="320040"/>
          </a:xfrm>
          <a:prstGeom prst="rect">
            <a:avLst/>
          </a:prstGeom>
          <a:solidFill>
            <a:srgbClr val="F7F3E3"/>
          </a:solidFill>
          <a:ln w="12700">
            <a:solidFill>
              <a:srgbClr val="F7F3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gold.daily_revenue / monthly_revenue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51960" y="292608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292608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Wide Table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3484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結合済みの横持ち分析テーブル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3840480"/>
            <a:ext cx="3383280" cy="320040"/>
          </a:xfrm>
          <a:prstGeom prst="rect">
            <a:avLst/>
          </a:prstGeom>
          <a:solidFill>
            <a:srgbClr val="F7F3E3"/>
          </a:solidFill>
          <a:ln w="12700">
            <a:solidFill>
              <a:srgbClr val="F7F3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gold.customer_360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46720" y="2926080"/>
            <a:ext cx="3657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292608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Feature Table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 / スコアリング向け特徴量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83880" y="3840480"/>
            <a:ext cx="3383280" cy="320040"/>
          </a:xfrm>
          <a:prstGeom prst="rect">
            <a:avLst/>
          </a:prstGeom>
          <a:solidFill>
            <a:srgbClr val="F7F3E3"/>
          </a:solidFill>
          <a:ln w="12700">
            <a:solidFill>
              <a:srgbClr val="F7F3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gold.features_churn_v1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6858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434840"/>
            <a:ext cx="73152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で設計すべき項目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0080" y="48463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846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粒度 (Granularity)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40280" y="48463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40280" y="4846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主キー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840480" y="48463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0" y="4846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更新頻度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40680" y="484632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0680" y="4846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集計単位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" y="519379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193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業務ロジックの責任者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40280" y="519379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40280" y="5193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再計算範囲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840480" y="519379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0" y="5193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遅延データの反映方針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40680" y="519379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40680" y="5193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履歴保持方針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0080" y="55412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5412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PII 含有有無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40280" y="55412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40280" y="55412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利用対象部門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840480" y="55412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0" y="55412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498080" y="4434840"/>
            <a:ext cx="4206240" cy="1920240"/>
          </a:xfrm>
          <a:prstGeom prst="rect">
            <a:avLst/>
          </a:prstGeom>
          <a:solidFill>
            <a:srgbClr val="FBF6E5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0" y="4434840"/>
            <a:ext cx="73152" cy="1920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8096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特に重要: 粒度 (Granularity)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680960" y="4846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gold.fct_orders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: 1行 = 1注文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gold.daily_revenue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: 1行 = 1日 × 商品カテゴリ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B08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gold.customer_360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: 1行 = 1顧客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16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処理エンジンの使い分け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Processing Engines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処理の性質 ( SQL/プログラム、バッチ/ストリーミング、データ量、即時性要件 ) に応じて、複数のエンジンを使い分ける。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240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2240280" cy="822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SQL変換 / モデリング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 を中心とした Silver / Gold モデル構築。テスト・ドキュメント・リネージを統合管理。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2402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SQL中心の変換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/ Gold モデル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dbt tests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ドキュメント生成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再実行・依存管理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1371600"/>
            <a:ext cx="2240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1371600"/>
            <a:ext cx="2240280" cy="8229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2608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分散バッチ処理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22860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大規模データの重い変換・ML 前処理。Scala / PySpark で柔軟な変換を実装可能。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3703320"/>
            <a:ext cx="22402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703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40690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大規模バッチ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 JOIN / 集計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 前処理 / 特徴量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複雑な変換ロジック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書き込み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1371600"/>
            <a:ext cx="2240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371600"/>
            <a:ext cx="224028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Trino / Starburst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 SQL 実行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22860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上での CTAS / INSERT / MERGE。Federation 経由で他ソースを跨いだ物理化も可能。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3703320"/>
            <a:ext cx="22402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703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40690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CTAS / INSERT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INTO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Federation 物理化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アドホック処理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直結クエリ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1371600"/>
            <a:ext cx="2240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1371600"/>
            <a:ext cx="2240280" cy="8229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 Flink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8952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ストリーミング処理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89520" y="22860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リアルタイム集計・状態管理・イベント時間処理。Watermark によるレイト到着制御。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52360" y="3703320"/>
            <a:ext cx="22402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703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40690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低レイテンシ集計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状態管理 (KeyedState)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 Time / Watermark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Exactly-once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ストリーム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784080" y="1371600"/>
            <a:ext cx="2240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84080" y="1371600"/>
            <a:ext cx="2240280" cy="82296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21240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Glue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2124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マネージド ETL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921240" y="22860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Spark ベースのマネージド ETL。Glue Data Catalog と連携し AWS エコシステムに統合しやすい。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784080" y="3703320"/>
            <a:ext cx="22402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21240" y="3703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921240" y="40690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Spark ベース ETL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Glue Catalog 連携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Crawler 連携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サーバレス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統合運用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852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選定ガイド:  SQL中心は dbt + Trino  ／  重いバッチ・ML前処理は Spark  ／  リアルタイムは Flink  ／  AWS 統合・マネージドは Glue  ／  これらを Orchestrator から協調実行する。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16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マテリアライズ方式の選択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 Materialization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プロセシングレイヤーでは、出力をどの形 ( 論理ビュー / 物理テーブル / 差分更新 / MERGE / 履歴 ) で保持するかを処理特性に応じて設計する。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主な用途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注意点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View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軽量変換 / 常に最新を参照したい場合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実装容易・最新性◎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3E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重い処理は実行コスト増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Table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安定した物理データ / BI 高速化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高速参照・コスト予測可能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3E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再計算コストが必要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Incremental Table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大量データの差分更新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再計算回避・コスト効率◎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3E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差分定義・整合性に注意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Materialized View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集計結果の高速参照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宣言的・自動更新可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3E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実装はエンジン依存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Iceberg MERGE Table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CDC の upsert / delete 反映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履歴・最新の両立、Time Travel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3E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MERGE キー設計が必須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History Table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履歴管理 / 監査 / SCD Type 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完全な履歴保持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3E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ストレージ容量に注意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プロセシングレイヤーで区別すべき判断軸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5394960"/>
            <a:ext cx="2697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5394960"/>
            <a:ext cx="2697480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5559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論理 View でよいか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5897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軽量変換・最新参照のみで十分か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91840" y="5394960"/>
            <a:ext cx="2697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5394960"/>
            <a:ext cx="2697480" cy="9144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9000" y="5559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 Table にすべきか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29000" y="5897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高頻度参照・性能要件があるか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5394960"/>
            <a:ext cx="2697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26480" y="5394960"/>
            <a:ext cx="269748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5559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Incremental / MERGE か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63640" y="5897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大量データ・CDC が前提か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961120" y="5394960"/>
            <a:ext cx="2697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61120" y="5394960"/>
            <a:ext cx="2697480" cy="9144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98280" y="5559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集計済 Table が必要か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098280" y="5897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/ レポートで都度集計を避けたいか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16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Federation との関係整理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 Federation Relationship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Federation 自体はプロセシングレイヤーに閉じない。ただし、Federation で参照した外部データを Silver / Gold に物理化する場合は、本レイヤーの処理対象になる。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3383280" cy="77724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Federation / Query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Trino / Athena による外部参照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1659636"/>
            <a:ext cx="320040" cy="292608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17320"/>
            <a:ext cx="3383280" cy="7772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371600"/>
            <a:ext cx="347472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Processing Layer で Materialize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重い変換・高頻度・再現性が必要な処理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1659636"/>
            <a:ext cx="320040" cy="292608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417320"/>
            <a:ext cx="3383280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/ Gold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物理化されたデータとして利用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使い分けの判断基準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処理内容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理由・特性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推奨アプローチ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軽い型変換・フィルタ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Federated View 側で完結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D99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Federation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探索的な一時分析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都度参照で十分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D99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Federation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重い名寄せ・複雑な変換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再実行性とコスト効率のため物理化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Silver に物理化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複数ソース横断 JOIN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性能と整合性を担保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Silver / Gold に物理化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高頻度 BI 参照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応答性能・コスト最適化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Gold に物理化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監査・再現性が必要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Time Travel・スナップショット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Silver / Gold に保存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FBF1E6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5669280"/>
            <a:ext cx="109728" cy="7315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5669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 設計指針 ]  </a:t>
            </a:r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Federation は外部ソースの「論理参照」に用いる。一方、</a:t>
            </a:r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重い変換・高頻度参照・再現性が必要な処理は Processing Layer で Silver / Gold へ Materialize する</a:t>
            </a:r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ことを原則とする。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Apache Iceberg 運用設計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11. Iceberg Operations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レイクハウス前提で Apache Iceberg を採用する場合、テーブルフォーマットとしての運用もプロセシングレイヤーの設計対象となる。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25880"/>
            <a:ext cx="73152" cy="5074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で設計すべき項目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78308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INTO  ─  CDC の upsert / delete 反映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INSERT OVERWRITE  ─  パーティション単位の置換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Schema Evolution  ─  カラム追加・名前変更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Partition Evolution  ─  パーティション戦略の変更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Snapshot Management  ─  スナップショット履歴管理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 Travel  ─  過去時点の参照・障害調査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Rollback  ─  問題発生時のスナップショット復元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Compaction  ─  小ファイル統合 (rewrite_data_files)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Small Files 対策  ─  ファイルサイズ最適化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Manifest 管理  ─  manifest list の整理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Expire Snapshots  ─  古いスナップショット削除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Vacuum / Orphan Files  ─  孤立ファイル削除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Branch / Tag  ─  WAP パターン・本番分岐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25880"/>
            <a:ext cx="73152" cy="5074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特に重要なポイントと理由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5120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28800"/>
            <a:ext cx="109728" cy="6583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INTO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157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の upsert / delete 反映に必須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0" y="2532888"/>
            <a:ext cx="5120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532888"/>
            <a:ext cx="109728" cy="6583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 Travel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862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過去時点の再現・障害調査・監査に有効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236976"/>
            <a:ext cx="5120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236976"/>
            <a:ext cx="109728" cy="658368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Snapshot 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肥大化を防ぎストレージコストを抑制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941064"/>
            <a:ext cx="5120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941064"/>
            <a:ext cx="109728" cy="658368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270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Small Files 問題を防ぎ性能維持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645152"/>
            <a:ext cx="5120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645152"/>
            <a:ext cx="109728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Schema Evolution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4974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カラム追加・変更にダウンタイムなく対応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5349240"/>
            <a:ext cx="5120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5349240"/>
            <a:ext cx="109728" cy="658368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Partition 設計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5678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クエリ性能とコストに直結する最重要項目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MERGE / Time Travel / Snapshot / Compaction / Schema Evolution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16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横断コンポーネント設計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12. Cross-cutting Components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以下8機能は、プロセシングレイヤーの各処理に共通して必要となる横断機能。Collecting / Storage / Access の各層にもまたがる共通制御として設計する。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1947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ジョブ実行・依存・リトライ・SLA・バックフィル管理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3317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Airflow / Dagster / Prefect / Step Functions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10128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371600"/>
            <a:ext cx="274320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Quality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47288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47288" y="1947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Null / unique / 範囲 / 鮮度 / 業務ルールの検証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47288" y="23317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47288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dbt tests / Great Expectations / Soda / Deequ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63056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1371600"/>
            <a:ext cx="2743200" cy="3657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Schema Management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0216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0216" y="1947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Schema drift 検知・evolution・breaking 検知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23317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Glue Catalog / Iceberg / DataHub / Schema Registry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015984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1371600"/>
            <a:ext cx="2743200" cy="3657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3144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Error Handling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53144" y="1783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3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153144" y="1947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不正レコードの隔離・退避・再処理可能化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53144" y="23317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3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53144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quarantine.* / S3 quarantine zone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2944368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2944368"/>
            <a:ext cx="2743200" cy="36576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Metadata / Lineage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4360" y="3355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テーブル・ジョブ・SQL・カラムリネージ・PII タグ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3904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DataHub / OpenMetadata / Marquez / OpenLineage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310128" y="2944368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0128" y="2944368"/>
            <a:ext cx="2743200" cy="36576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447288" y="3355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D99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47288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ジョブ・件数・鮮度・CDC lag・コスト監視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47288" y="3904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D99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447288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CloudWatch / Datadog / Grafana / Monte Carlo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63056" y="2944368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3056" y="2944368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0216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/ Governance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300216" y="3355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0216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IAM / KMS / Lake Formation / PII マスキング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00216" y="3904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0216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IAM / Lake Formation / KMS / CloudTrail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015984" y="2944368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15984" y="2944368"/>
            <a:ext cx="2743200" cy="3657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53144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Contract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9153144" y="3355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3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153144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ソースと基盤間の契約・SLA・スキーマ・鮮度検証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153144" y="3904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3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代表ツール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153144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OpenDataContract / dbt contracts / 独自実装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57200" y="4663440"/>
            <a:ext cx="11247120" cy="1783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4663440"/>
            <a:ext cx="109728" cy="1783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4754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横断コンポーネント設計における重要観点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77240" y="5074920"/>
            <a:ext cx="10789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レイヤー横断で統一: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Orchestration / Lineage / Security は Processing 単独で持たず、基盤全体で統一的に設計する。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DQ は Bronze / Silver / Gold の各段で実施: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段階ごとに検証ルールを変える ( Bronze=形式 / Silver=構造 / Gold=業務ルール )。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Quarantine + Replay 設計: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失敗データを捨てず隔離・調査・再投入できる経路を必ず用意する。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Lineage を運用に組み込む: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障害時の影響分析・PII 影響評価・スキーマ変更影響評価に活用する。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Contract 設計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 Data Contract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Contract は、ソース提供側と基盤利用側との間で「スキーマ・SLA・品質ルール」を契約として明示化し、機械的に検証する仕組み。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73152" cy="5029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契約に含めるべき項目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schema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テーブル構造・型・必須カラム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primary key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主キーと一意性保証範囲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提供側・問合せ責任者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鮮度 / 可用性 / 提供時刻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freshness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更新頻度・許容遅延時間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allowed values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コード値の許容集合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PII 有無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個人情報の有無とカラム指定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 event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削除イベントの有無と方式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quality rules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業務ルール・整合性検証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契約バージョンと変更ポリシー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Owner と SLA、PII / delete event の明示が運用上特に効く。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1371600"/>
            <a:ext cx="54864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371600"/>
            <a:ext cx="73152" cy="24231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契約検証を行うタイミング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1828800"/>
            <a:ext cx="5120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828800"/>
            <a:ext cx="109728" cy="43891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1828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読み込み時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0" y="18288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スキーマ・必須カラム・型を検証。違反は Quarantine へ。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0" y="2304288"/>
            <a:ext cx="5120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2304288"/>
            <a:ext cx="109728" cy="43891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23042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生成時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686800" y="23042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整合性・参照整合・重複排除・業務ルールを検証。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0" y="2779776"/>
            <a:ext cx="5120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2779776"/>
            <a:ext cx="109728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0" y="277977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生成時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686800" y="27797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粒度・主キー・集計値の妥当性・PII 含有を検証。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00800" y="3255264"/>
            <a:ext cx="5120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1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3255264"/>
            <a:ext cx="109728" cy="43891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0" y="32552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重要テーブル公開前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686800" y="32552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 / SLA / 契約バージョンの最終チェック。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217920" y="3931920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1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17920" y="3931920"/>
            <a:ext cx="73152" cy="246888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契約違反時の処理フロー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446520" y="4434840"/>
            <a:ext cx="932688" cy="1783080"/>
          </a:xfrm>
          <a:prstGeom prst="rect">
            <a:avLst/>
          </a:prstGeom>
          <a:solidFill>
            <a:srgbClr val="FBF1E6"/>
          </a:solidFill>
          <a:ln w="6350">
            <a:solidFill>
              <a:srgbClr val="E8A87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48272" y="4526280"/>
            <a:ext cx="329184" cy="329184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48272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46520" y="48920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違反検知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92240" y="51663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Schema / 必須項目 / 業務ルール違反を検出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360920" y="5212080"/>
            <a:ext cx="109728" cy="182880"/>
          </a:xfrm>
          <a:prstGeom prst="rightArrow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70648" y="4434840"/>
            <a:ext cx="932688" cy="1783080"/>
          </a:xfrm>
          <a:prstGeom prst="rect">
            <a:avLst/>
          </a:prstGeom>
          <a:solidFill>
            <a:srgbClr val="FBF1E6"/>
          </a:solidFill>
          <a:ln w="6350">
            <a:solidFill>
              <a:srgbClr val="E8A87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72400" y="4526280"/>
            <a:ext cx="329184" cy="329184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470648" y="48920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Quarantine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516368" y="51663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問題レコードを quarantine.* に隔離保管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8385048" y="5212080"/>
            <a:ext cx="109728" cy="182880"/>
          </a:xfrm>
          <a:prstGeom prst="rightArrow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494776" y="4434840"/>
            <a:ext cx="932688" cy="1783080"/>
          </a:xfrm>
          <a:prstGeom prst="rect">
            <a:avLst/>
          </a:prstGeom>
          <a:solidFill>
            <a:srgbClr val="FBF1E6"/>
          </a:solidFill>
          <a:ln w="6350">
            <a:solidFill>
              <a:srgbClr val="E8A87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796528" y="4526280"/>
            <a:ext cx="329184" cy="329184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9652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8494776" y="48920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540496" y="51663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 と運用チームへアラート発報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9409176" y="5212080"/>
            <a:ext cx="109728" cy="182880"/>
          </a:xfrm>
          <a:prstGeom prst="rightArrow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518904" y="4434840"/>
            <a:ext cx="932688" cy="1783080"/>
          </a:xfrm>
          <a:prstGeom prst="rect">
            <a:avLst/>
          </a:prstGeom>
          <a:solidFill>
            <a:srgbClr val="FBF1E6"/>
          </a:solidFill>
          <a:ln w="6350">
            <a:solidFill>
              <a:srgbClr val="E8A87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820656" y="4526280"/>
            <a:ext cx="329184" cy="329184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820656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9518904" y="48920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影響分析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564624" y="51663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リネージから下流影響を可視化・停止判断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10433304" y="5212080"/>
            <a:ext cx="109728" cy="182880"/>
          </a:xfrm>
          <a:prstGeom prst="rightArrow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543032" y="4434840"/>
            <a:ext cx="932688" cy="1783080"/>
          </a:xfrm>
          <a:prstGeom prst="rect">
            <a:avLst/>
          </a:prstGeom>
          <a:solidFill>
            <a:srgbClr val="FBF1E6"/>
          </a:solidFill>
          <a:ln w="6350">
            <a:solidFill>
              <a:srgbClr val="E8A87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844784" y="4526280"/>
            <a:ext cx="329184" cy="329184"/>
          </a:xfrm>
          <a:prstGeom prst="ellipse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844784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10543032" y="48920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再投入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10588752" y="51663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原因対処後、Backfill / Replay で復旧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全体俯瞰図 (図解用マッピング)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0" y="73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 Overall Architecture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121615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60120"/>
            <a:ext cx="22860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89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2286000" cy="45720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/ Raw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S3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Apache Iceberg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Data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Changelog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Events / Logs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89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メタカラム付与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 / _ingested_at / _load_id / _record_hash / _operation / _is_deleted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97480" y="3383280"/>
            <a:ext cx="274320" cy="365760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960120"/>
            <a:ext cx="5943600" cy="5120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B99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960120"/>
            <a:ext cx="5943600" cy="457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1554480"/>
            <a:ext cx="55778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554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Processing Engines:  dbt  /  Spark  /  Trino  /  Flink  /  AWS Glue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194560"/>
            <a:ext cx="5577840" cy="1691640"/>
          </a:xfrm>
          <a:prstGeom prst="rect">
            <a:avLst/>
          </a:prstGeom>
          <a:solidFill>
            <a:srgbClr val="F0F2F5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194560"/>
            <a:ext cx="5577840" cy="36576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26517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Standardized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Deduplicated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Merged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Quality Checked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Type Converted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950208"/>
            <a:ext cx="365760" cy="228600"/>
          </a:xfrm>
          <a:prstGeom prst="down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251960"/>
            <a:ext cx="5577840" cy="1691640"/>
          </a:xfrm>
          <a:prstGeom prst="rect">
            <a:avLst/>
          </a:prstGeom>
          <a:solidFill>
            <a:srgbClr val="FBF6E5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251960"/>
            <a:ext cx="5577840" cy="3657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Layer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Business-ready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Marts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Fact Tables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4709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Dimension Tables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Aggregated Tables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Feature Tables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3383280"/>
            <a:ext cx="274320" cy="365760"/>
          </a:xfrm>
          <a:prstGeom prst="rightArrow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0" y="960120"/>
            <a:ext cx="24688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31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26880" y="960120"/>
            <a:ext cx="2468880" cy="4572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Access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4183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1832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Tables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Marts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Aggregated Tables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4183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接続先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18320" y="36576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Semantic Layer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Tools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B3A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Notebook / ML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Cross-cutting:  Orchestration  ／  Data Quality  ／  Schema  ／  Quarantine  ／  Lineage  ／  Observability  ／  Security  ／  Data Contract  ／  Iceberg Mgmt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6629400"/>
            <a:ext cx="11430000" cy="0"/>
          </a:xfrm>
          <a:prstGeom prst="line">
            <a:avLst/>
          </a:prstGeom>
          <a:noFill/>
          <a:ln w="9525">
            <a:solidFill>
              <a:srgbClr val="C7D1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656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データ統合基盤アーキテクチャ設計書  /  Processing Layer 設計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89920" y="6656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95760" y="0"/>
            <a:ext cx="36576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プロセシングレイヤーは「変換の場」ではなく、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データを </a:t>
            </a:r>
            <a:pPr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信頼できる業務データへ昇格させる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品質管理・変換・物理化の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中核レイヤー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である。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82296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本レイヤーで特に明確に設計すべき6項目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 から Silver への整形・標準化・品質チェック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425196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 changelog から最新状態 / 履歴テーブルへの変換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 から Gold への業務ロジック適用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4800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 におけるデータマート / 集計テーブル設計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394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 テーブルの MERGE / Snapshot / Compaction 運用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544068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5394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品質チェック / エラー隔離 / 再実行 / リネージ管理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solidFill>
            <a:srgbClr val="1B998B">
              <a:alpha val="20000"/>
            </a:srgbClr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Access Layer の Semantic / BI / API と役割分担しやすい構造へ。  —  End of Design Document.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データ統合基盤 プロセシングレイヤー設計</dc:title>
  <dc:subject>PptxGenJS Presentation</dc:subject>
  <dc:creator>Data Platform Architecture</dc:creator>
  <cp:lastModifiedBy>Data Platform Architecture</cp:lastModifiedBy>
  <cp:revision>1</cp:revision>
  <dcterms:created xsi:type="dcterms:W3CDTF">2026-05-13T02:40:45Z</dcterms:created>
  <dcterms:modified xsi:type="dcterms:W3CDTF">2026-05-13T02:40:45Z</dcterms:modified>
</cp:coreProperties>
</file>