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808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ARCHITECTURE DESIGN DOCUMENT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アーキテクチャ設計書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データ統合基盤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アクセスレイヤー アーキテクチャ設計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731520" y="3703320"/>
            <a:ext cx="1371600" cy="36576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840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～ Query Engine × Semantic Layer × Multi-Channel Output ～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SSoT（Single Source of Truth）の保証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Zero SQL による解釈の一意化、Materialized View による負荷分散、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 / API / リバースETL の3チャネルによる用途別データ供給を実現する。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5760720"/>
            <a:ext cx="45720" cy="640080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5760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08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 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60167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DPF-AL-2026-001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74720" y="5760720"/>
            <a:ext cx="45720" cy="640080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5760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08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VERSION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11880" y="60167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v1.0 / Draft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5760720"/>
            <a:ext cx="45720" cy="640080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5760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08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LAYER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55080" y="60167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Access Layer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961120" y="5760720"/>
            <a:ext cx="45720" cy="640080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5760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08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STATUS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098280" y="60167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Design Phase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【資料】データ統合基盤アーキテクチャ設計書 / アクセスレイヤー編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338560" y="457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P.02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目次 / Table of Contents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365760" cy="54864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88720"/>
            <a:ext cx="11064240" cy="18288"/>
          </a:xfrm>
          <a:prstGeom prst="rect">
            <a:avLst/>
          </a:prstGeom>
          <a:solidFill>
            <a:srgbClr val="C8C8C8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61872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本書はアクセスレイヤーの全体像・構成要素・設計要件・運用方針を全7セクションで定義する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64008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830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アクセスレイヤーの位置付けと役割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05740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データ基盤全体における本レイヤーのスコープ、解決すべき課題、SSoTとしての責務を定義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25880" y="2350008"/>
            <a:ext cx="10332720" cy="9144"/>
          </a:xfrm>
          <a:prstGeom prst="rect">
            <a:avLst/>
          </a:prstGeom>
          <a:solidFill>
            <a:srgbClr val="C8C8C8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423160"/>
            <a:ext cx="64008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231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全体アーキテクチャ（俯瞰図）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26974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4層構造（入力層／クエリ層／セマンティック層／出力層）の全体像とデータフローを可視化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25880" y="2990088"/>
            <a:ext cx="10332720" cy="9144"/>
          </a:xfrm>
          <a:prstGeom prst="rect">
            <a:avLst/>
          </a:prstGeom>
          <a:solidFill>
            <a:srgbClr val="C8C8C8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063240"/>
            <a:ext cx="64008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0632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588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クエリ・論理データ統合エンジン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33375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Trino / Athena によるフェデレーテッドクエリ実行と Lake Formation による権限境界の設計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325880" y="3630168"/>
            <a:ext cx="10332720" cy="9144"/>
          </a:xfrm>
          <a:prstGeom prst="rect">
            <a:avLst/>
          </a:prstGeom>
          <a:solidFill>
            <a:srgbClr val="C8C8C8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703320"/>
            <a:ext cx="64008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703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2588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セマンティックレイヤー（ヘッドレスBI）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397764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Cube.js による Zero SQL と Analytics Base View / Aggregated View の階層定義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325880" y="4270248"/>
            <a:ext cx="10332720" cy="9144"/>
          </a:xfrm>
          <a:prstGeom prst="rect">
            <a:avLst/>
          </a:prstGeom>
          <a:solidFill>
            <a:srgbClr val="C8C8C8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343400"/>
            <a:ext cx="64008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3434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2588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出力チャネル（BI / API / リバースETL）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25880" y="461772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用途別3チャネル（参照・連携・還元）の使い分け方針と接続先システムの整理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325880" y="4910328"/>
            <a:ext cx="10332720" cy="9144"/>
          </a:xfrm>
          <a:prstGeom prst="rect">
            <a:avLst/>
          </a:prstGeom>
          <a:solidFill>
            <a:srgbClr val="C8C8C8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983480"/>
            <a:ext cx="64008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9834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325880" y="4983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重要設計要件（非機能・運用）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325880" y="525780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Materialized View による負荷分散、レスポンス保証、サイレントエラー防止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325880" y="5550408"/>
            <a:ext cx="10332720" cy="9144"/>
          </a:xfrm>
          <a:prstGeom prst="rect">
            <a:avLst/>
          </a:prstGeom>
          <a:solidFill>
            <a:srgbClr val="C8C8C8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5623560"/>
            <a:ext cx="64008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56235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325880" y="5623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リバースETL vs API連携の使い分け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325880" y="58978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Push型／Pull型の特性比較と、業務ユースケースごとの選定指針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" y="6629400"/>
            <a:ext cx="1188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Data Platform Architecture Document｜Access Layer Design｜CONFIDENTIAL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【資料】データ統合基盤アーキテクチャ設計書 / アクセスレイヤー編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338560" y="457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P.03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01. アクセスレイヤーの位置付けと役割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365760" cy="54864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88720"/>
            <a:ext cx="11064240" cy="18288"/>
          </a:xfrm>
          <a:prstGeom prst="rect">
            <a:avLst/>
          </a:prstGeom>
          <a:solidFill>
            <a:srgbClr val="C8C8C8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61872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ストレージ／プロセシング層で整備されたデータの「出口」として、安全・正確・迅速な利用を保証する最終レイヤー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365760" cy="29260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9164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8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1691640"/>
            <a:ext cx="347472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6916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データ基盤全体における位置付け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103120"/>
            <a:ext cx="3840480" cy="640080"/>
          </a:xfrm>
          <a:prstGeom prst="rect">
            <a:avLst/>
          </a:prstGeom>
          <a:solidFill>
            <a:srgbClr val="8080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03120"/>
            <a:ext cx="35661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アクセスレイヤー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2423160"/>
            <a:ext cx="35661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本書の対象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3840480" cy="502920"/>
          </a:xfrm>
          <a:prstGeom prst="rect">
            <a:avLst/>
          </a:prstGeom>
          <a:solidFill>
            <a:srgbClr val="5C5C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743200"/>
            <a:ext cx="356616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プロセシング層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2994660"/>
            <a:ext cx="356616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dbt / Spark / Glue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384048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246120"/>
            <a:ext cx="356616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ストレージ層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497580"/>
            <a:ext cx="356616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Iceberg / S3 (Bronze→Silver→Gold)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749040"/>
            <a:ext cx="384048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749040"/>
            <a:ext cx="356616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インジェスト層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000500"/>
            <a:ext cx="356616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Fivetran / Kafka / CDC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2976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 Data Flow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80560" y="1691640"/>
            <a:ext cx="365760" cy="29260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169164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8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1691640"/>
            <a:ext cx="694944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16916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アクセスレイヤーが担う4つの責務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80560" y="2103120"/>
            <a:ext cx="73152" cy="1078992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53712" y="2103120"/>
            <a:ext cx="7242048" cy="1078992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166360" y="217627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SSoT（信頼できる唯一の情報源）の担保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66360" y="2560320"/>
            <a:ext cx="6492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計算ロジックをサーバ側に集約し、誰がどのツールから参照しても同一の結果を返す。アナリスト間の指標ズレ・JOINミスを根絶。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480560" y="3227832"/>
            <a:ext cx="73152" cy="1078992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53712" y="3227832"/>
            <a:ext cx="7242048" cy="1078992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3319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166360" y="3300984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Zero SQL 環境の提供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166360" y="3685032"/>
            <a:ext cx="6492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セマンティックレイヤーが GUI 操作から SQL を自動生成。非エンジニアでも安全に正しい数値へ到達できる UX を実現。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480560" y="4352544"/>
            <a:ext cx="73152" cy="1078992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53712" y="4352544"/>
            <a:ext cx="7242048" cy="1078992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44439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5166360" y="4425696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負荷分散とレスポンス保証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166360" y="4809744"/>
            <a:ext cx="6492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Materialized View で重い処理をバッチに切り出し、エンドユーザーの応答速度を秒オーダーで安定化させる。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80560" y="5477256"/>
            <a:ext cx="73152" cy="1078992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53712" y="5477256"/>
            <a:ext cx="7242048" cy="1078992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55686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5166360" y="555040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多様な出口（マルチチャネル）への配信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166360" y="5934456"/>
            <a:ext cx="6492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 参照／API 連携／リバースETL の3経路へ同一データを供給。業務システムへの還元まで一気通貫で支える。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65760" y="6355080"/>
            <a:ext cx="11430000" cy="2286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63550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【重要】アクセスレイヤーが脆弱な基盤は、いくらストレージ層を整えても「使われない基盤」となる。本レイヤーの設計品質が利用率を決定づける。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8600" y="6629400"/>
            <a:ext cx="1188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Data Platform Architecture Document｜Access Layer Design｜CONFIDENTIAL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【資料】データ統合基盤アーキテクチャ設計書 / アクセスレイヤー編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338560" y="457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P.04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02. 全体アーキテクチャ（俯瞰図）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365760" cy="54864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88720"/>
            <a:ext cx="11064240" cy="18288"/>
          </a:xfrm>
          <a:prstGeom prst="rect">
            <a:avLst/>
          </a:prstGeom>
          <a:solidFill>
            <a:srgbClr val="C8C8C8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61872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下から上へ：ストレージ層 → クエリ層 → セマンティック層 → 出力層 の4階層構造でデータが流通する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1371600" cy="960120"/>
          </a:xfrm>
          <a:prstGeom prst="rect">
            <a:avLst/>
          </a:prstGeom>
          <a:solidFill>
            <a:srgbClr val="8080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第4層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0391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出力チャネル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350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Output Layer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1371600" cy="960120"/>
          </a:xfrm>
          <a:prstGeom prst="rect">
            <a:avLst/>
          </a:prstGeom>
          <a:solidFill>
            <a:srgbClr val="5C5C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0449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セマンティック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3355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Semantic Layer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3703320"/>
            <a:ext cx="1371600" cy="960120"/>
          </a:xfrm>
          <a:prstGeom prst="rect">
            <a:avLst/>
          </a:prstGeom>
          <a:solidFill>
            <a:srgbClr val="2A2A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794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第2層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0507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クエリエンジン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361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Query Engine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4709160"/>
            <a:ext cx="1371600" cy="960120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第1層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50566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ストレージ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5367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Storage Layer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28800" y="1737360"/>
            <a:ext cx="320040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BIツール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920240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Metabase / Tableau / Superset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920240" y="23134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ダッシュボード・可視化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166360" y="1737360"/>
            <a:ext cx="320040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API連携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57800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 Gateway / GraphQL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57800" y="23134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社内アプリ・マイクロサービス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503920" y="1737360"/>
            <a:ext cx="320040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0392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リバースETL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595360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Connector → MongoDB / SaaS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595360" y="23134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CRM・MA への業務還元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828800" y="2743200"/>
            <a:ext cx="9875520" cy="868680"/>
          </a:xfrm>
          <a:prstGeom prst="rect">
            <a:avLst/>
          </a:prstGeom>
          <a:solidFill>
            <a:srgbClr val="E8E8E8"/>
          </a:solidFill>
          <a:ln w="19050">
            <a:solidFill>
              <a:srgbClr val="5C5C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65960" y="278892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Semantic Layer ／ Headless BI　【 Zero SQL：GUI操作 → SQL自動生成 】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965960" y="3108960"/>
            <a:ext cx="47091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5C5C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57400" y="310896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Cube.js（ヘッドレスBI）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057400" y="3346704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Measures / Dimensions / Segments を中央定義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58000" y="3108960"/>
            <a:ext cx="47091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5C5C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9440" y="310896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階層的 View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49440" y="3346704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Analytics Base View ＋ Aggregated View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828800" y="3749040"/>
            <a:ext cx="9875520" cy="868680"/>
          </a:xfrm>
          <a:prstGeom prst="rect">
            <a:avLst/>
          </a:prstGeom>
          <a:solidFill>
            <a:srgbClr val="F5F5F5"/>
          </a:solidFill>
          <a:ln w="19050">
            <a:solidFill>
              <a:srgbClr val="2A2A2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65960" y="3840480"/>
            <a:ext cx="73152" cy="6858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039112" y="3840480"/>
            <a:ext cx="3035808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48840" y="386791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Trino / Athena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148840" y="416052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高速SQL ／ クエリフェデレーション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212080" y="3840480"/>
            <a:ext cx="73152" cy="685800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285232" y="3840480"/>
            <a:ext cx="3035808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94960" y="386791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Materialized View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394960" y="416052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重い処理をバッチ化／応答高速化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458200" y="3840480"/>
            <a:ext cx="73152" cy="68580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531352" y="3840480"/>
            <a:ext cx="3035808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41080" y="386791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 Lake Formation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641080" y="416052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テーブル／カラム単位の権限制御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828800" y="4754880"/>
            <a:ext cx="9875520" cy="86868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965960" y="480060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Iceberg Tables（S3）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1965960" y="5120640"/>
            <a:ext cx="313944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057400" y="5138928"/>
            <a:ext cx="295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Gold層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057400" y="5340096"/>
            <a:ext cx="295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業務指標／集計済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196840" y="5120640"/>
            <a:ext cx="313944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288280" y="5138928"/>
            <a:ext cx="295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Silver層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288280" y="5340096"/>
            <a:ext cx="295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クレンジング済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8427720" y="5120640"/>
            <a:ext cx="313944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519160" y="5138928"/>
            <a:ext cx="295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C8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ストリーミングRaw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8519160" y="5340096"/>
            <a:ext cx="295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Kafka 等からの生データ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712464" y="2596896"/>
            <a:ext cx="182880" cy="109728"/>
          </a:xfrm>
          <a:prstGeom prst="triangl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675120" y="2596896"/>
            <a:ext cx="182880" cy="109728"/>
          </a:xfrm>
          <a:prstGeom prst="triangl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637776" y="2596896"/>
            <a:ext cx="182880" cy="109728"/>
          </a:xfrm>
          <a:prstGeom prst="triangl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712464" y="3602736"/>
            <a:ext cx="182880" cy="109728"/>
          </a:xfrm>
          <a:prstGeom prst="triangl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675120" y="3602736"/>
            <a:ext cx="182880" cy="109728"/>
          </a:xfrm>
          <a:prstGeom prst="triangl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637776" y="3602736"/>
            <a:ext cx="182880" cy="109728"/>
          </a:xfrm>
          <a:prstGeom prst="triangl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712464" y="4608576"/>
            <a:ext cx="182880" cy="109728"/>
          </a:xfrm>
          <a:prstGeom prst="triangl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675120" y="4608576"/>
            <a:ext cx="182880" cy="109728"/>
          </a:xfrm>
          <a:prstGeom prst="triangl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637776" y="4608576"/>
            <a:ext cx="182880" cy="109728"/>
          </a:xfrm>
          <a:prstGeom prst="triangl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65760" y="5806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【凡例】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1280160" y="5843016"/>
            <a:ext cx="164592" cy="164592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508760" y="5806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 データフロー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840480" y="5843016"/>
            <a:ext cx="164592" cy="164592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069080" y="5806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アクセス制御の関所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6400800" y="5843016"/>
            <a:ext cx="164592" cy="164592"/>
          </a:xfrm>
          <a:prstGeom prst="rect">
            <a:avLst/>
          </a:prstGeom>
          <a:solidFill>
            <a:srgbClr val="5C5C5C"/>
          </a:solidFill>
          <a:ln w="12700">
            <a:solidFill>
              <a:srgbClr val="5C5C5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629400" y="5806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翻訳レイヤー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8961120" y="5843016"/>
            <a:ext cx="164592" cy="16459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189720" y="5806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実行エンジン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365760" y="6263640"/>
            <a:ext cx="1143000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【設計思想】 強固な権限境界（Lake Formation）の上に、高速エンジン（Trino）＋負荷緩衝（MV）を構築し、その上に「意味」を載せる Semantic Layer を挟むことで、多様な出口に対し安全・高速・正確なデータ供給を実現する。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28600" y="6629400"/>
            <a:ext cx="1188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Data Platform Architecture Document｜Access Layer Design｜CONFIDENTIAL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【資料】データ統合基盤アーキテクチャ設計書 / アクセスレイヤー編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338560" y="457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P.05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03. クエリ・論理データ統合エンジン層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365760" cy="54864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88720"/>
            <a:ext cx="11064240" cy="18288"/>
          </a:xfrm>
          <a:prstGeom prst="rect">
            <a:avLst/>
          </a:prstGeom>
          <a:solidFill>
            <a:srgbClr val="C8C8C8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61872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ストレージ層への安全かつ高速なアクセスを担保する基盤。Lake Formation を関所とし、Trino を高速エンジンとして配置する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365760" cy="29260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9164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8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1691640"/>
            <a:ext cx="521208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6916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Trino ／ Amazon Athena（クエリエンジン）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103120"/>
            <a:ext cx="5577840" cy="2011680"/>
          </a:xfrm>
          <a:prstGeom prst="rect">
            <a:avLst/>
          </a:prstGeom>
          <a:solidFill>
            <a:srgbClr val="F5F5F5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103120"/>
            <a:ext cx="5577840" cy="4572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402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【役割】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48716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Iceberg / S3 等のストレージへ MPP 方式で並列スキャンを行い、超低レイテンシでSQLを返す。複数データソースの仮想統合（クエリフェデレーション）も担う。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0632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【選定理由】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310128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BIインタラクティブ用途では「思考を止めない応答速度」が必須要件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汎用処理用の Spark ではなく、SQL高速応答に特化した Trino を採用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マネージド志向の場合は Athena（Trinoベースのサーバレス）を選択肢に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1691640"/>
            <a:ext cx="365760" cy="29260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69164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8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1691640"/>
            <a:ext cx="530352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16916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 Lake Formation（アクセス制御）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2103120"/>
            <a:ext cx="5669280" cy="2011680"/>
          </a:xfrm>
          <a:prstGeom prst="rect">
            <a:avLst/>
          </a:prstGeom>
          <a:solidFill>
            <a:srgbClr val="F5F5F5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2103120"/>
            <a:ext cx="5669280" cy="4572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22402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【役割】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248716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クエリエンジンとストレージの間に立つ「関所」。テーブル／カラム／行単位の権限を一元管理し、誰がどのデータにアクセスできるかを宣言的に制御する。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30632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【主要機能】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331012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Tag-Based Access Control（タグでまとめて権限付与）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Column-Level / Row-Level Security（PII列のマスキング等）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監査ログの自動取得 → 不正アクセス検知へ連携可能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297680"/>
            <a:ext cx="365760" cy="29260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29768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8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4297680"/>
            <a:ext cx="1106424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42976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アクセス時のデータフローと権限境界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800600"/>
            <a:ext cx="1554480" cy="1188720"/>
          </a:xfrm>
          <a:prstGeom prst="rect">
            <a:avLst/>
          </a:prstGeom>
          <a:solidFill>
            <a:srgbClr val="8080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5029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BIユーザー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5440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 アプリ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938528" y="5376672"/>
            <a:ext cx="164592" cy="36576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5400000">
            <a:off x="2084832" y="5303520"/>
            <a:ext cx="91440" cy="182880"/>
          </a:xfrm>
          <a:prstGeom prst="rtTriangle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67128" y="4800600"/>
            <a:ext cx="1737360" cy="1188720"/>
          </a:xfrm>
          <a:prstGeom prst="rect">
            <a:avLst/>
          </a:prstGeom>
          <a:solidFill>
            <a:srgbClr val="5C5C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67128" y="5029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Semantic Layer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167128" y="5440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Cube.js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922776" y="5376672"/>
            <a:ext cx="164592" cy="36576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5400000">
            <a:off x="4069080" y="5303520"/>
            <a:ext cx="91440" cy="182880"/>
          </a:xfrm>
          <a:prstGeom prst="rtTriangle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51376" y="4800600"/>
            <a:ext cx="1737360" cy="1188720"/>
          </a:xfrm>
          <a:prstGeom prst="rect">
            <a:avLst/>
          </a:prstGeom>
          <a:solidFill>
            <a:srgbClr val="2A2A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51376" y="5029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Trino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151376" y="5440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Query Engine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907024" y="5376672"/>
            <a:ext cx="164592" cy="36576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5400000">
            <a:off x="6053328" y="5303520"/>
            <a:ext cx="91440" cy="182880"/>
          </a:xfrm>
          <a:prstGeom prst="rtTriangle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35624" y="4800600"/>
            <a:ext cx="2103120" cy="1188720"/>
          </a:xfrm>
          <a:prstGeom prst="rect">
            <a:avLst/>
          </a:prstGeom>
          <a:solidFill>
            <a:srgbClr val="4040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35624" y="5029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Lake Formation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135624" y="5440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権限境界（関所）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257032" y="5376672"/>
            <a:ext cx="164592" cy="36576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5400000">
            <a:off x="8403336" y="5303520"/>
            <a:ext cx="91440" cy="182880"/>
          </a:xfrm>
          <a:prstGeom prst="rtTriangle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485632" y="4800600"/>
            <a:ext cx="1920240" cy="1188720"/>
          </a:xfrm>
          <a:prstGeom prst="rect">
            <a:avLst/>
          </a:prstGeom>
          <a:solidFill>
            <a:srgbClr val="7070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85632" y="5029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Glue Data Catalog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485632" y="5440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メタデータ参照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0424160" y="5376672"/>
            <a:ext cx="164592" cy="36576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5400000">
            <a:off x="10570464" y="5303520"/>
            <a:ext cx="91440" cy="182880"/>
          </a:xfrm>
          <a:prstGeom prst="rtTriangle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652760" y="4800600"/>
            <a:ext cx="173736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652760" y="5029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Iceberg / S3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0652760" y="5440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実データ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65760" y="612648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ユーザー → Semantic で SQL 生成 → ② Trino が受領 → ③ Lake Formation が権限チェック → ④ Catalog 経由で ⑤ Iceberg を読み取り、結果を逆順で返す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65760" y="6400800"/>
            <a:ext cx="11430000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" y="640080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【ポイント】 権限チェックはアプリ側ではなく Lake Formation 側で実施する。アプリで実装すると経路ごとにバラつき、抜け穴ができるため。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8600" y="6629400"/>
            <a:ext cx="1188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Data Platform Architecture Document｜Access Layer Design｜CONFIDENTIAL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【資料】データ統合基盤アーキテクチャ設計書 / アクセスレイヤー編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338560" y="457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P.06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04. セマンティックレイヤー（ヘッドレスBI）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365760" cy="54864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88720"/>
            <a:ext cx="11064240" cy="18288"/>
          </a:xfrm>
          <a:prstGeom prst="rect">
            <a:avLst/>
          </a:prstGeom>
          <a:solidFill>
            <a:srgbClr val="C8C8C8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61872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ビジネス指標・次元・セグメントをサーバ側に定義し「意味」を一元管理。Zero SQL を実現する翻訳レイヤー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365760" cy="29260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9164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8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1691640"/>
            <a:ext cx="521208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6916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Cube.js による指標の中央定義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103120"/>
            <a:ext cx="5577840" cy="2286000"/>
          </a:xfrm>
          <a:prstGeom prst="rect">
            <a:avLst/>
          </a:prstGeom>
          <a:solidFill>
            <a:srgbClr val="F5F5F5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定義される3要素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542032"/>
            <a:ext cx="1280160" cy="411480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420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Measures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74520" y="25420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集計対象（売上、ユーザー数、平均値 等）。SUM/AVG/COUNT のロジックを内包。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136392"/>
            <a:ext cx="1280160" cy="411480"/>
          </a:xfrm>
          <a:prstGeom prst="rect">
            <a:avLst/>
          </a:prstGeom>
          <a:solidFill>
            <a:srgbClr val="5C5C5C"/>
          </a:solidFill>
          <a:ln w="12700">
            <a:solidFill>
              <a:srgbClr val="5C5C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13639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Dimensions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74520" y="31363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切り口（日付、地域、商品カテゴリ 等）。GROUP BY 句に対応する軸。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730752"/>
            <a:ext cx="1280160" cy="411480"/>
          </a:xfrm>
          <a:prstGeom prst="rect">
            <a:avLst/>
          </a:prstGeom>
          <a:solidFill>
            <a:srgbClr val="606060"/>
          </a:solidFill>
          <a:ln w="12700">
            <a:solidFill>
              <a:srgbClr val="6060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3075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Segments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74520" y="373075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事前定義フィルタ（プレミアム会員、特定期間 等）。WHERE 条件のテンプレート。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1691640"/>
            <a:ext cx="365760" cy="29260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169164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8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92240" y="1691640"/>
            <a:ext cx="530352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16916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階層的 View 構造（dbt と連携）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2103120"/>
            <a:ext cx="5669280" cy="2286000"/>
          </a:xfrm>
          <a:prstGeom prst="rect">
            <a:avLst/>
          </a:prstGeom>
          <a:solidFill>
            <a:srgbClr val="F5F5F5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2240280"/>
            <a:ext cx="5394960" cy="594360"/>
          </a:xfrm>
          <a:prstGeom prst="rect">
            <a:avLst/>
          </a:prstGeom>
          <a:solidFill>
            <a:srgbClr val="8080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22860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Aggregated View（集計済ビュー）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25420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用途別の事前集計。BI 直接参照を想定。例：日次売上サマリ。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 rot="10800000">
            <a:off x="8887968" y="2843784"/>
            <a:ext cx="146304" cy="91440"/>
          </a:xfrm>
          <a:prstGeom prst="triangle">
            <a:avLst/>
          </a:prstGeom>
          <a:solidFill>
            <a:srgbClr val="707070"/>
          </a:solidFill>
          <a:ln w="12700">
            <a:solidFill>
              <a:srgbClr val="70707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63640" y="2953512"/>
            <a:ext cx="5394960" cy="594360"/>
          </a:xfrm>
          <a:prstGeom prst="rect">
            <a:avLst/>
          </a:prstGeom>
          <a:solidFill>
            <a:srgbClr val="5C5C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29992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Analytics Base View（最小粒度）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0" y="32552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ロジックの共通化。JOIN 済の中間テーブル。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 rot="10800000">
            <a:off x="8887968" y="3557016"/>
            <a:ext cx="146304" cy="91440"/>
          </a:xfrm>
          <a:prstGeom prst="triangle">
            <a:avLst/>
          </a:prstGeom>
          <a:solidFill>
            <a:srgbClr val="707070"/>
          </a:solidFill>
          <a:ln w="12700">
            <a:solidFill>
              <a:srgbClr val="70707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63640" y="3666744"/>
            <a:ext cx="5394960" cy="594360"/>
          </a:xfrm>
          <a:prstGeom prst="rect">
            <a:avLst/>
          </a:prstGeom>
          <a:solidFill>
            <a:srgbClr val="2A2A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371246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Source / Silver（Iceberg）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39684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クレンジング済の素データ。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4572000"/>
            <a:ext cx="365760" cy="29260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5720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8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4.3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31520" y="4572000"/>
            <a:ext cx="1106424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45720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Zero SQL がもたらす効果（Before / After）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4983480"/>
            <a:ext cx="562356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40404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4983480"/>
            <a:ext cx="5623560" cy="292608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498348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Before：セマンティック層なし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8640" y="5349240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✕ アナリストごとに SQL を手書き → 計算ロジックが分散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✕ JOIN ミスや WHERE 条件漏れで「サイレントエラー」発生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✕ 同じ指標でも会議体ごとに数値が違う → 議論が空転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✕ アナリストの工数が SQL 書き直しに集中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72200" y="4983480"/>
            <a:ext cx="562356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0606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72200" y="4983480"/>
            <a:ext cx="5623560" cy="292608"/>
          </a:xfrm>
          <a:prstGeom prst="rect">
            <a:avLst/>
          </a:prstGeom>
          <a:solidFill>
            <a:srgbClr val="606060"/>
          </a:solidFill>
          <a:ln w="12700">
            <a:solidFill>
              <a:srgbClr val="60606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9360" y="498348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After：Cube.js 導入後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355080" y="5349240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指標定義を Git 管理 → 全社で唯一のロジック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GUI で項目を選ぶだけ → SQL は自動生成（Zero SQL）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どのツールから参照しても同一の数値（SSoT 担保）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アナリストは「指標設計」という上流業務へシフト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8600" y="6629400"/>
            <a:ext cx="1188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Data Platform Architecture Document｜Access Layer Design｜CONFIDENTIAL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【資料】データ統合基盤アーキテクチャ設計書 / アクセスレイヤー編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338560" y="457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P.07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05. 出力チャネル（BI / API / リバースETL）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365760" cy="54864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88720"/>
            <a:ext cx="11064240" cy="18288"/>
          </a:xfrm>
          <a:prstGeom prst="rect">
            <a:avLst/>
          </a:prstGeom>
          <a:solidFill>
            <a:srgbClr val="C8C8C8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61872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セマンティックレイヤーから3経路へ分岐。各チャネルの特性に応じて配信方式・接続先・運用責任を切り分ける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370332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91640"/>
            <a:ext cx="3703320" cy="822960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830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00584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BIツール参照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148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Reference / Visualization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58775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08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代表ツール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278892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Metabase（OSS / 軽量）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Tableau（エンタープライズ）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Apache Superset（拡張性）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359359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08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方式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7947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GUI操作 → Cube.js が SQL 自動生成 → Trino 実行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432511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08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主なユースケース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452628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経営ダッシュボード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営業・マーケのKPI監視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アドホック分析（探索）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533095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08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主な利用者 ／ 更新頻度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55321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経営層・事業部門・アナリスト  ／  オンデマンド（リアルタイム参照）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6035040"/>
            <a:ext cx="342900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808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60350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 注意：ユーザー数増 = クエリ数増。Materialized View で負荷緩和が必須。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06240" y="1691640"/>
            <a:ext cx="370332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06240" y="1691640"/>
            <a:ext cx="3703320" cy="822960"/>
          </a:xfrm>
          <a:prstGeom prst="rect">
            <a:avLst/>
          </a:prstGeom>
          <a:solidFill>
            <a:srgbClr val="5C5C5C"/>
          </a:solidFill>
          <a:ln w="12700">
            <a:solidFill>
              <a:srgbClr val="5C5C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43400" y="17830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484632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API連携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46320" y="2148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On-Demand Pull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389120" y="258775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5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代表ツール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89120" y="278892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API Gateway（REST）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GraphQL（柔軟なスキーマ）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Cube.js REST API（内蔵）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389120" y="359359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5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方式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389120" y="37947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外部アプリが必要なタイミングで Pull 取得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389120" y="432511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5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主なユースケース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389120" y="452628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自社Webアプリの統計表示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マイクロサービス間の指標連携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顧客向け管理画面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389120" y="533095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5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主な利用者 ／ 更新頻度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389120" y="55321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社内アプリケーション・他システム  ／  リクエスト都度（同期型）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343400" y="6035040"/>
            <a:ext cx="342900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5C5C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34840" y="60350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 注意：認証・レート制限・スキーマバージョニングを慎重に設計。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046720" y="1691640"/>
            <a:ext cx="370332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46720" y="1691640"/>
            <a:ext cx="3703320" cy="82296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83880" y="17830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868680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リバースETL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686800" y="2148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Push / Write-back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229600" y="258775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04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代表ツール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229600" y="278892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Hightouch / Census（SaaS）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自前 Connector + Airflow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Workflow Orchestrator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229600" y="359359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04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方式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229600" y="37947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定期バッチで業務システムへ書き戻し（Push）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229600" y="432511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04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主なユースケース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229600" y="452628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CRM への LTV / 離反スコア付与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MA ツールへのターゲット連携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MongoDB への業務フラグ反映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229600" y="533095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04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主な利用者 ／ 更新頻度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229600" y="55321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CRM / MA / 業務アプリのオペレーター  ／  定期バッチ（時間・日次）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183880" y="6035040"/>
            <a:ext cx="342900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75320" y="60350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 注意：書き戻し先の更新がビジネスを直接動かす。整合性・冪等性を厳格管理。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8600" y="6629400"/>
            <a:ext cx="1188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Data Platform Architecture Document｜Access Layer Design｜CONFIDENTIAL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【資料】データ統合基盤アーキテクチャ設計書 / アクセスレイヤー編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338560" y="457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P.08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06. 重要設計要件 ① ／ 負荷分散：Materialized View の活用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365760" cy="54864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88720"/>
            <a:ext cx="11064240" cy="18288"/>
          </a:xfrm>
          <a:prstGeom prst="rect">
            <a:avLst/>
          </a:prstGeom>
          <a:solidFill>
            <a:srgbClr val="C8C8C8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61872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ストリーミングRaw への直接参照は禁止。MV を「緩衝材」として挟むことで、応答速度とシステム安定性を両立する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365760" cy="29260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9164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8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6.1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1691640"/>
            <a:ext cx="521208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6916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アンチパターン：生データ直接参照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103120"/>
            <a:ext cx="557784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404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377440"/>
            <a:ext cx="4846320" cy="640080"/>
          </a:xfrm>
          <a:prstGeom prst="rect">
            <a:avLst/>
          </a:prstGeom>
          <a:solidFill>
            <a:srgbClr val="8080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4231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BIツール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6974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30名が同時に閲覧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rot="10800000">
            <a:off x="3063240" y="3054096"/>
            <a:ext cx="182880" cy="164592"/>
          </a:xfrm>
          <a:prstGeom prst="triangl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337560"/>
            <a:ext cx="4846320" cy="640080"/>
          </a:xfrm>
          <a:prstGeom prst="rect">
            <a:avLst/>
          </a:prstGeom>
          <a:solidFill>
            <a:srgbClr val="4040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3832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Trino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657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毎クリックで巨大スキャン発生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rot="10800000">
            <a:off x="3063240" y="4014216"/>
            <a:ext cx="182880" cy="164592"/>
          </a:xfrm>
          <a:prstGeom prst="triangl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297680"/>
            <a:ext cx="484632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3434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ストリーミングRaw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46177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数TB級の生データ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5394960"/>
            <a:ext cx="5212080" cy="868680"/>
          </a:xfrm>
          <a:prstGeom prst="rect">
            <a:avLst/>
          </a:prstGeom>
          <a:solidFill>
            <a:srgbClr val="F5F5F5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4406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04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✕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クエリエンジンが過負荷 → クラスタダウンの危険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04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✕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応答 30秒～分単位 → BI ユーザー離脱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04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✕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バッチ処理（ETL）が遅延し、業務全体に波及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1691640"/>
            <a:ext cx="365760" cy="29260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169164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8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6.2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92240" y="1691640"/>
            <a:ext cx="530352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16916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推奨パターン：MV を緩衝材として配置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2103120"/>
            <a:ext cx="566928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6060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2240" y="2331720"/>
            <a:ext cx="4937760" cy="502920"/>
          </a:xfrm>
          <a:prstGeom prst="rect">
            <a:avLst/>
          </a:prstGeom>
          <a:solidFill>
            <a:srgbClr val="8080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235915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BIツール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0" y="257860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30名が同時に閲覧（軽快）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 rot="10800000">
            <a:off x="8887968" y="2862072"/>
            <a:ext cx="146304" cy="128016"/>
          </a:xfrm>
          <a:prstGeom prst="triangle">
            <a:avLst/>
          </a:prstGeom>
          <a:solidFill>
            <a:srgbClr val="606060"/>
          </a:solidFill>
          <a:ln w="12700">
            <a:solidFill>
              <a:srgbClr val="60606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0" y="3044952"/>
            <a:ext cx="4937760" cy="502920"/>
          </a:xfrm>
          <a:prstGeom prst="rect">
            <a:avLst/>
          </a:prstGeom>
          <a:solidFill>
            <a:srgbClr val="606060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307238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Materialized View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83680" y="32918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数MB級の事前集計済テーブル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 rot="10800000">
            <a:off x="8887968" y="3575304"/>
            <a:ext cx="146304" cy="128016"/>
          </a:xfrm>
          <a:prstGeom prst="triangle">
            <a:avLst/>
          </a:prstGeom>
          <a:solidFill>
            <a:srgbClr val="606060"/>
          </a:solidFill>
          <a:ln w="12700">
            <a:solidFill>
              <a:srgbClr val="60606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92240" y="3758184"/>
            <a:ext cx="493776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378561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Trino（リフレッシュ専用）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83680" y="400507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5分おきに MV を更新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 rot="10800000">
            <a:off x="8887968" y="4288536"/>
            <a:ext cx="146304" cy="128016"/>
          </a:xfrm>
          <a:prstGeom prst="triangle">
            <a:avLst/>
          </a:prstGeom>
          <a:solidFill>
            <a:srgbClr val="606060"/>
          </a:solidFill>
          <a:ln w="12700">
            <a:solidFill>
              <a:srgbClr val="60606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92240" y="4471416"/>
            <a:ext cx="493776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44988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ストリーミングRaw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83680" y="471830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MV からのみ参照される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309360" y="5303520"/>
            <a:ext cx="5303520" cy="960120"/>
          </a:xfrm>
          <a:prstGeom prst="rect">
            <a:avLst/>
          </a:prstGeom>
          <a:solidFill>
            <a:srgbClr val="F5F5F5"/>
          </a:solidFill>
          <a:ln w="6350">
            <a:solidFill>
              <a:srgbClr val="6060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53492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6060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Trino の重い処理は「リフレッシュ時のみ」に局所化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6060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BIユーザーは軽量MVを参照 → 応答 1秒以下を維持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6060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5分粒度のニアリアルタイム性を確保（ストリーミング由来）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6060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他ワークロード（ETL等）に影響しない、安定運用が可能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" y="6446520"/>
            <a:ext cx="11430000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6446520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【設計指針】 リフレッシュ間隔は要件次第で 1分／5分／10分／時次 と段階設計。鮮度要件と計算コストのバランスを SLO として明文化する。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8600" y="6629400"/>
            <a:ext cx="1188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Data Platform Architecture Document｜Access Layer Design｜CONFIDENTIAL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【資料】データ統合基盤アーキテクチャ設計書 / アクセスレイヤー編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338560" y="457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P.09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07. リバースETL vs API連携の使い分け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365760" cy="54864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88720"/>
            <a:ext cx="11064240" cy="18288"/>
          </a:xfrm>
          <a:prstGeom prst="rect">
            <a:avLst/>
          </a:prstGeom>
          <a:solidFill>
            <a:srgbClr val="C8C8C8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61872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Push型（リバースETL）／Pull型（API）の特性を理解し、ユースケースに応じて選定する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365760" cy="29260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9164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8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7.1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1691640"/>
            <a:ext cx="1106424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691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Push型 と Pull型 の概念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103120"/>
            <a:ext cx="55778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404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103120"/>
            <a:ext cx="5577840" cy="27432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1031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リバースETL：Push 型（分析基盤から押し出す）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560320"/>
            <a:ext cx="1554480" cy="777240"/>
          </a:xfrm>
          <a:prstGeom prst="rect">
            <a:avLst/>
          </a:prstGeom>
          <a:solidFill>
            <a:srgbClr val="2A2A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5603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分析基盤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rot="5400000">
            <a:off x="2231136" y="2880360"/>
            <a:ext cx="109728" cy="146304"/>
          </a:xfrm>
          <a:prstGeom prst="rtTriangl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0" y="2560320"/>
            <a:ext cx="1554480" cy="777240"/>
          </a:xfrm>
          <a:prstGeom prst="rect">
            <a:avLst/>
          </a:prstGeom>
          <a:solidFill>
            <a:srgbClr val="4040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25603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Connector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（バッチ）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rot="5400000">
            <a:off x="3968496" y="2880360"/>
            <a:ext cx="109728" cy="146304"/>
          </a:xfrm>
          <a:prstGeom prst="rtTriangl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0" y="2560320"/>
            <a:ext cx="1554480" cy="777240"/>
          </a:xfrm>
          <a:prstGeom prst="rect">
            <a:avLst/>
          </a:prstGeom>
          <a:solidFill>
            <a:srgbClr val="7070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0" y="25603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業務システム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(CRM/MA/DB)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36499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► バッチで自動的に書き戻し（業務側は何もしなくてもデータが届く）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2103120"/>
            <a:ext cx="55778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5C5C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2103120"/>
            <a:ext cx="5577840" cy="274320"/>
          </a:xfrm>
          <a:prstGeom prst="rect">
            <a:avLst/>
          </a:prstGeom>
          <a:solidFill>
            <a:srgbClr val="5C5C5C"/>
          </a:solidFill>
          <a:ln w="12700">
            <a:solidFill>
              <a:srgbClr val="5C5C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21031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API連携：Pull 型（業務側から取りに来る）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92240" y="2560320"/>
            <a:ext cx="1554480" cy="777240"/>
          </a:xfrm>
          <a:prstGeom prst="rect">
            <a:avLst/>
          </a:prstGeom>
          <a:solidFill>
            <a:srgbClr val="7070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25603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業務システム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(社内アプリ等)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 rot="5400000">
            <a:off x="8083296" y="2880360"/>
            <a:ext cx="109728" cy="146304"/>
          </a:xfrm>
          <a:prstGeom prst="rtTriangle">
            <a:avLst/>
          </a:prstGeom>
          <a:solidFill>
            <a:srgbClr val="5C5C5C"/>
          </a:solidFill>
          <a:ln w="12700">
            <a:solidFill>
              <a:srgbClr val="5C5C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2560320"/>
            <a:ext cx="1554480" cy="777240"/>
          </a:xfrm>
          <a:prstGeom prst="rect">
            <a:avLst/>
          </a:prstGeom>
          <a:solidFill>
            <a:srgbClr val="5C5C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0" y="25603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 Gateway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 GraphQL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 rot="5400000">
            <a:off x="9820656" y="2880360"/>
            <a:ext cx="109728" cy="146304"/>
          </a:xfrm>
          <a:prstGeom prst="rtTriangle">
            <a:avLst/>
          </a:prstGeom>
          <a:solidFill>
            <a:srgbClr val="5C5C5C"/>
          </a:solidFill>
          <a:ln w="12700">
            <a:solidFill>
              <a:srgbClr val="5C5C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966960" y="2560320"/>
            <a:ext cx="1554480" cy="777240"/>
          </a:xfrm>
          <a:prstGeom prst="rect">
            <a:avLst/>
          </a:prstGeom>
          <a:solidFill>
            <a:srgbClr val="2A2A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66960" y="25603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分析基盤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(Cube.js)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55080" y="336499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3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► 必要なタイミングでリクエスト発行（リアルタイム取得・最新値）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3703320"/>
            <a:ext cx="365760" cy="29260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70332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8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7.2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31520" y="3703320"/>
            <a:ext cx="1106424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3703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比較表：観点別の特性整理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114800"/>
          <a:ext cx="11430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  <a:gridCol w="45720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観点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リバースETL（Push型）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API連携（Pull型）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C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A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データの主導権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分析基盤側（Push）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業務システム側（Pull）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A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更新タイミング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定期バッチ（時間／日次）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リクエスト都度（同期）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A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ビジネスロジック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事前計算済（予測スコア・フラグ等）を書き戻す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セマンティック層がリクエスト時に計算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A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代表的ユースケース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MA への顧客リスト連携／CRM への LTV 付与／MongoDB への業務フラグ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Web アプリ上の利用統計／マイクロサービス間 KPI 取得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A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向いている要件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重い計算結果を「持たせておきたい」とき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最新値を「問い合わせたい・提供したい」とき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A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注意点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書き戻し先の整合性／冪等性／失敗時のリトライ設計が必須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認証・レート制限・スキーマバージョニングを慎重に設計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2" name="Shape 39"/>
          <p:cNvSpPr/>
          <p:nvPr/>
        </p:nvSpPr>
        <p:spPr>
          <a:xfrm>
            <a:off x="365760" y="6446520"/>
            <a:ext cx="11430000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02920" y="6446520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【選定指針】 「分析結果でビジネスを動かす」ならリバースETL、「ユーザーがその場で確認する」ならAPI連携。両者は競合せず併用が原則。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28600" y="6629400"/>
            <a:ext cx="1188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Data Platform Architecture Document｜Access Layer Design｜CONFIDENTIAL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08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本設計のまとめ ／ アクセスレイヤー設計の3つの要諦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27632"/>
            <a:ext cx="1371600" cy="36576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3611880" cy="3383280"/>
          </a:xfrm>
          <a:prstGeom prst="rect">
            <a:avLst/>
          </a:prstGeom>
          <a:solidFill>
            <a:srgbClr val="1A1A1A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574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808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強固な土台 ＝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クエリ層 ＋ アクセス制御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3703320"/>
            <a:ext cx="457200" cy="27432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94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Trino による高速SQL と Lake Formation による権限境界を、土台として最初に固める。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4462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Trino：SQL高速応答に特化、BI 用途で必須の低レイテンシを実現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Lake Formation：アプリ依存ではなく宣言的な権限管理で抜け穴を排除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Glue Data Catalog：メタデータの一元化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80560" y="1920240"/>
            <a:ext cx="3611880" cy="3383280"/>
          </a:xfrm>
          <a:prstGeom prst="rect">
            <a:avLst/>
          </a:prstGeom>
          <a:solidFill>
            <a:srgbClr val="1A1A1A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0574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808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4663440" y="28346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意味の翻訳 ＝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Semantic Layer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63440" y="3703320"/>
            <a:ext cx="457200" cy="27432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794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Cube.js を中央に置き、Zero SQL で「同じ指標は誰が見ても同じ値」を担保する。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4462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Measures / Dimensions / Segments を Git 管理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Analytics Base View ＋ Aggregated View の階層設計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サイレントエラー（手書きSQLの計算ズレ）を構造的に防止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29600" y="1920240"/>
            <a:ext cx="3611880" cy="3383280"/>
          </a:xfrm>
          <a:prstGeom prst="rect">
            <a:avLst/>
          </a:prstGeom>
          <a:solidFill>
            <a:srgbClr val="1A1A1A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20574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808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8412480" y="28346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多様な出口 ＝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 ＋ API ＋ リバースETL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412480" y="3703320"/>
            <a:ext cx="457200" cy="27432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3794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3チャネルを役割で使い分け、可視化／組込／業務還元まで一気通貫で支える。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0" y="4462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BI：オンデマンド可視化、MV で負荷分散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API：Pull型、リアルタイム参照ユースケース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リバースETL：Push型、業務アクション自動化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1520" y="5486400"/>
            <a:ext cx="10972800" cy="777240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5321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「クエリエンジンと権限制御の強固な土台」の上に、「Semantic Layer による翻訳」を挟み、「多様な出口（BI/API/リバースETL）」へ安全・高速にデータを供給する。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これが現代的なアクセスレイヤー設計の全容である。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64008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E8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Document End / 以上 ／ 議論・質疑をお願いします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データ統合基盤 アクセスレイヤー設計書</dc:title>
  <dc:subject>PptxGenJS Presentation</dc:subject>
  <dc:creator>Data Platform Team</dc:creator>
  <cp:lastModifiedBy>Data Platform Team</cp:lastModifiedBy>
  <cp:revision>1</cp:revision>
  <dcterms:created xsi:type="dcterms:W3CDTF">2026-05-13T03:11:49Z</dcterms:created>
  <dcterms:modified xsi:type="dcterms:W3CDTF">2026-05-13T03:11:49Z</dcterms:modified>
</cp:coreProperties>
</file>