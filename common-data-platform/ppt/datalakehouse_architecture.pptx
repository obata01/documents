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モダン・データレイクハウス・アーキテクチャ全体設計図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収集から活用までのエンドツーエンド・フロー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612880" cy="566928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オブザーバビリティと監視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87552"/>
            <a:ext cx="256032" cy="2560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87552"/>
            <a:ext cx="256032" cy="25603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87552"/>
            <a:ext cx="256032" cy="25603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987552"/>
            <a:ext cx="256032" cy="256032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987552"/>
            <a:ext cx="256032" cy="25603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400800" y="941832"/>
            <a:ext cx="5303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AC5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クエリ遅延、APIヒット率、リバースETLの成否、データ品質の状態をリアルタイムで監視</a:t>
            </a:r>
            <a:endParaRPr lang="en-US" sz="950" dirty="0"/>
          </a:p>
        </p:txBody>
      </p:sp>
      <p:sp>
        <p:nvSpPr>
          <p:cNvPr id="12" name="Shape 5"/>
          <p:cNvSpPr/>
          <p:nvPr/>
        </p:nvSpPr>
        <p:spPr>
          <a:xfrm>
            <a:off x="274320" y="6263640"/>
            <a:ext cx="11612880" cy="502920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57200" y="63002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横断的機能 (Governance &amp; Operations)</a:t>
            </a:r>
            <a:endParaRPr lang="en-US" sz="11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6373368"/>
            <a:ext cx="219456" cy="219456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6373368"/>
            <a:ext cx="219456" cy="219456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896" y="6373368"/>
            <a:ext cx="219456" cy="219456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257800" y="6373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メタデータ管理とカタログ</a:t>
            </a:r>
            <a:endParaRPr lang="en-US" sz="950" dirty="0"/>
          </a:p>
        </p:txBody>
      </p:sp>
      <p:sp>
        <p:nvSpPr>
          <p:cNvPr id="18" name="Text 8"/>
          <p:cNvSpPr/>
          <p:nvPr/>
        </p:nvSpPr>
        <p:spPr>
          <a:xfrm>
            <a:off x="7178040" y="6336792"/>
            <a:ext cx="4709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AC5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OpenMetadataやGlue Data Catalogを使用し、用語集・データ流通（リネージ）・所有者を可視化、データの発見性を高める</a:t>
            </a:r>
            <a:endParaRPr lang="en-US" sz="850" dirty="0"/>
          </a:p>
        </p:txBody>
      </p:sp>
      <p:sp>
        <p:nvSpPr>
          <p:cNvPr id="19" name="Shape 9"/>
          <p:cNvSpPr/>
          <p:nvPr/>
        </p:nvSpPr>
        <p:spPr>
          <a:xfrm>
            <a:off x="274320" y="1463040"/>
            <a:ext cx="2743200" cy="473659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0"/>
          <p:cNvSpPr/>
          <p:nvPr/>
        </p:nvSpPr>
        <p:spPr>
          <a:xfrm>
            <a:off x="3108960" y="1463040"/>
            <a:ext cx="3383280" cy="473659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6583680" y="1463040"/>
            <a:ext cx="2606040" cy="473659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hape 12"/>
          <p:cNvSpPr/>
          <p:nvPr/>
        </p:nvSpPr>
        <p:spPr>
          <a:xfrm>
            <a:off x="9281160" y="1463040"/>
            <a:ext cx="2606040" cy="4736592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1554480"/>
            <a:ext cx="219456" cy="219456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40080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コレクティングレイヤー</a:t>
            </a:r>
            <a:endParaRPr lang="en-US" sz="1200" dirty="0"/>
          </a:p>
        </p:txBody>
      </p:sp>
      <p:sp>
        <p:nvSpPr>
          <p:cNvPr id="25" name="Text 14"/>
          <p:cNvSpPr/>
          <p:nvPr/>
        </p:nvSpPr>
        <p:spPr>
          <a:xfrm>
            <a:off x="640080" y="17556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(データ収集)</a:t>
            </a:r>
            <a:endParaRPr lang="en-US" sz="900" dirty="0"/>
          </a:p>
        </p:txBody>
      </p:sp>
      <p:sp>
        <p:nvSpPr>
          <p:cNvPr id="26" name="Shape 15"/>
          <p:cNvSpPr/>
          <p:nvPr/>
        </p:nvSpPr>
        <p:spPr>
          <a:xfrm>
            <a:off x="411480" y="2057400"/>
            <a:ext cx="960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2112264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11480" y="24231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SaaS/API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(Salesforce等)</a:t>
            </a:r>
            <a:endParaRPr lang="en-US" sz="750" dirty="0"/>
          </a:p>
        </p:txBody>
      </p:sp>
      <p:sp>
        <p:nvSpPr>
          <p:cNvPr id="29" name="Shape 17"/>
          <p:cNvSpPr/>
          <p:nvPr/>
        </p:nvSpPr>
        <p:spPr>
          <a:xfrm>
            <a:off x="411480" y="2834640"/>
            <a:ext cx="960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" y="2889504"/>
            <a:ext cx="292608" cy="29260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411480" y="32004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RDB</a:t>
            </a:r>
            <a:endParaRPr lang="en-US" sz="750" dirty="0"/>
          </a:p>
        </p:txBody>
      </p:sp>
      <p:sp>
        <p:nvSpPr>
          <p:cNvPr id="32" name="Shape 19"/>
          <p:cNvSpPr/>
          <p:nvPr/>
        </p:nvSpPr>
        <p:spPr>
          <a:xfrm>
            <a:off x="411480" y="3611880"/>
            <a:ext cx="960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3666744"/>
            <a:ext cx="292608" cy="29260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411480" y="39776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</a:t>
            </a:r>
            <a:endParaRPr lang="en-US" sz="750" dirty="0"/>
          </a:p>
        </p:txBody>
      </p:sp>
      <p:sp>
        <p:nvSpPr>
          <p:cNvPr id="35" name="Shape 21"/>
          <p:cNvSpPr/>
          <p:nvPr/>
        </p:nvSpPr>
        <p:spPr>
          <a:xfrm>
            <a:off x="411480" y="4389120"/>
            <a:ext cx="960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9808" y="4443984"/>
            <a:ext cx="292608" cy="29260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411480" y="47548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</a:t>
            </a:r>
            <a:endParaRPr lang="en-US" sz="750" dirty="0"/>
          </a:p>
        </p:txBody>
      </p:sp>
      <p:sp>
        <p:nvSpPr>
          <p:cNvPr id="38" name="Shape 23"/>
          <p:cNvSpPr/>
          <p:nvPr/>
        </p:nvSpPr>
        <p:spPr>
          <a:xfrm>
            <a:off x="411480" y="5166360"/>
            <a:ext cx="960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808" y="5221224"/>
            <a:ext cx="292608" cy="292608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411480" y="5532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(CSV/Excel)</a:t>
            </a:r>
            <a:endParaRPr lang="en-US" sz="750" dirty="0"/>
          </a:p>
        </p:txBody>
      </p:sp>
      <p:sp>
        <p:nvSpPr>
          <p:cNvPr id="41" name="Shape 25"/>
          <p:cNvSpPr/>
          <p:nvPr/>
        </p:nvSpPr>
        <p:spPr>
          <a:xfrm>
            <a:off x="1554480" y="205740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45920" y="2231136"/>
            <a:ext cx="274320" cy="27432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1938528" y="2130552"/>
            <a:ext cx="914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マネージドELT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(Fivetran等)</a:t>
            </a:r>
            <a:endParaRPr lang="en-US" sz="750" dirty="0"/>
          </a:p>
        </p:txBody>
      </p:sp>
      <p:sp>
        <p:nvSpPr>
          <p:cNvPr id="44" name="Shape 27"/>
          <p:cNvSpPr/>
          <p:nvPr/>
        </p:nvSpPr>
        <p:spPr>
          <a:xfrm>
            <a:off x="1554480" y="283464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45920" y="3008376"/>
            <a:ext cx="274320" cy="274320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1938528" y="2907792"/>
            <a:ext cx="914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カスタムバッチ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(JDBC/Spark)</a:t>
            </a:r>
            <a:endParaRPr lang="en-US" sz="750" dirty="0"/>
          </a:p>
        </p:txBody>
      </p:sp>
      <p:sp>
        <p:nvSpPr>
          <p:cNvPr id="47" name="Shape 29"/>
          <p:cNvSpPr/>
          <p:nvPr/>
        </p:nvSpPr>
        <p:spPr>
          <a:xfrm>
            <a:off x="1554480" y="361188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45920" y="3785616"/>
            <a:ext cx="274320" cy="274320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1938528" y="3685032"/>
            <a:ext cx="914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(Debezium等)</a:t>
            </a:r>
            <a:endParaRPr lang="en-US" sz="750" dirty="0"/>
          </a:p>
        </p:txBody>
      </p:sp>
      <p:sp>
        <p:nvSpPr>
          <p:cNvPr id="50" name="Shape 31"/>
          <p:cNvSpPr/>
          <p:nvPr/>
        </p:nvSpPr>
        <p:spPr>
          <a:xfrm>
            <a:off x="1554480" y="43891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45920" y="4562856"/>
            <a:ext cx="274320" cy="274320"/>
          </a:xfrm>
          <a:prstGeom prst="rect">
            <a:avLst/>
          </a:prstGeom>
        </p:spPr>
      </p:pic>
      <p:sp>
        <p:nvSpPr>
          <p:cNvPr id="52" name="Text 32"/>
          <p:cNvSpPr/>
          <p:nvPr/>
        </p:nvSpPr>
        <p:spPr>
          <a:xfrm>
            <a:off x="1938528" y="4462272"/>
            <a:ext cx="914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ログ/イベント収集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(Fluentd等)</a:t>
            </a:r>
            <a:endParaRPr lang="en-US" sz="750" dirty="0"/>
          </a:p>
        </p:txBody>
      </p:sp>
      <p:sp>
        <p:nvSpPr>
          <p:cNvPr id="53" name="Text 33"/>
          <p:cNvSpPr/>
          <p:nvPr/>
        </p:nvSpPr>
        <p:spPr>
          <a:xfrm>
            <a:off x="365760" y="5532120"/>
            <a:ext cx="2560320" cy="621792"/>
          </a:xfrm>
          <a:prstGeom prst="rect">
            <a:avLst/>
          </a:prstGeom>
          <a:solidFill>
            <a:srgbClr val="EEF2F6"/>
          </a:solidFill>
          <a:ln w="6350">
            <a:solidFill>
              <a:srgbClr val="B0BAC5"/>
            </a:solidFill>
          </a:ln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収集時の設計留意点: 大量データの分割転送 (Chunking)、並列転送、差分転送 (Incremental Load)、および同じ行を複数回流しても結果が同じになる「べき等性」を確保する。</a:t>
            </a:r>
            <a:endParaRPr lang="en-US" sz="650" dirty="0"/>
          </a:p>
        </p:txBody>
      </p:sp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00400" y="1554480"/>
            <a:ext cx="219456" cy="219456"/>
          </a:xfrm>
          <a:prstGeom prst="rect">
            <a:avLst/>
          </a:prstGeom>
        </p:spPr>
      </p:pic>
      <p:sp>
        <p:nvSpPr>
          <p:cNvPr id="55" name="Text 34"/>
          <p:cNvSpPr/>
          <p:nvPr/>
        </p:nvSpPr>
        <p:spPr>
          <a:xfrm>
            <a:off x="3474720" y="1527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ストレージ&amp;プロセシングレイヤー</a:t>
            </a:r>
            <a:endParaRPr lang="en-US" sz="1200" dirty="0"/>
          </a:p>
        </p:txBody>
      </p:sp>
      <p:sp>
        <p:nvSpPr>
          <p:cNvPr id="56" name="Text 35"/>
          <p:cNvSpPr/>
          <p:nvPr/>
        </p:nvSpPr>
        <p:spPr>
          <a:xfrm>
            <a:off x="3474720" y="1755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(保存と加工)</a:t>
            </a:r>
            <a:endParaRPr lang="en-US" sz="900" dirty="0"/>
          </a:p>
        </p:txBody>
      </p:sp>
      <p:sp>
        <p:nvSpPr>
          <p:cNvPr id="57" name="Text 36"/>
          <p:cNvSpPr/>
          <p:nvPr/>
        </p:nvSpPr>
        <p:spPr>
          <a:xfrm>
            <a:off x="320040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メダリオンアーキテクチャ</a:t>
            </a:r>
            <a:endParaRPr lang="en-US" sz="1050" dirty="0"/>
          </a:p>
        </p:txBody>
      </p:sp>
      <p:sp>
        <p:nvSpPr>
          <p:cNvPr id="58" name="Shape 37"/>
          <p:cNvSpPr/>
          <p:nvPr/>
        </p:nvSpPr>
        <p:spPr>
          <a:xfrm>
            <a:off x="3246120" y="228600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37560" y="2368296"/>
            <a:ext cx="274320" cy="274320"/>
          </a:xfrm>
          <a:prstGeom prst="rect">
            <a:avLst/>
          </a:prstGeom>
        </p:spPr>
      </p:pic>
      <p:sp>
        <p:nvSpPr>
          <p:cNvPr id="60" name="Text 38"/>
          <p:cNvSpPr/>
          <p:nvPr/>
        </p:nvSpPr>
        <p:spPr>
          <a:xfrm>
            <a:off x="3657600" y="2313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Apache Icebergによるテーブル管理 (S3上のファイル群)</a:t>
            </a:r>
            <a:endParaRPr lang="en-US" sz="950" dirty="0"/>
          </a:p>
        </p:txBody>
      </p:sp>
      <p:sp>
        <p:nvSpPr>
          <p:cNvPr id="61" name="Text 39"/>
          <p:cNvSpPr/>
          <p:nvPr/>
        </p:nvSpPr>
        <p:spPr>
          <a:xfrm>
            <a:off x="3657600" y="25237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ACIDトランザクション、タイムトラベル、スキーマ進化</a:t>
            </a:r>
            <a:endParaRPr lang="en-US" sz="800" dirty="0"/>
          </a:p>
        </p:txBody>
      </p:sp>
      <p:pic>
        <p:nvPicPr>
          <p:cNvPr id="6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99688" y="2926080"/>
            <a:ext cx="329184" cy="329184"/>
          </a:xfrm>
          <a:prstGeom prst="rect">
            <a:avLst/>
          </a:prstGeom>
        </p:spPr>
      </p:pic>
      <p:sp>
        <p:nvSpPr>
          <p:cNvPr id="63" name="Text 40"/>
          <p:cNvSpPr/>
          <p:nvPr/>
        </p:nvSpPr>
        <p:spPr>
          <a:xfrm>
            <a:off x="3246120" y="3291840"/>
            <a:ext cx="103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dbt</a:t>
            </a:r>
            <a:endParaRPr lang="en-US" sz="900" dirty="0"/>
          </a:p>
        </p:txBody>
      </p:sp>
      <p:sp>
        <p:nvSpPr>
          <p:cNvPr id="64" name="Text 41"/>
          <p:cNvSpPr/>
          <p:nvPr/>
        </p:nvSpPr>
        <p:spPr>
          <a:xfrm>
            <a:off x="3246120" y="3474720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(SQL変換)</a:t>
            </a:r>
            <a:endParaRPr lang="en-US" sz="750" dirty="0"/>
          </a:p>
        </p:txBody>
      </p:sp>
      <p:pic>
        <p:nvPicPr>
          <p:cNvPr id="6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36008" y="2926080"/>
            <a:ext cx="329184" cy="329184"/>
          </a:xfrm>
          <a:prstGeom prst="rect">
            <a:avLst/>
          </a:prstGeom>
        </p:spPr>
      </p:pic>
      <p:sp>
        <p:nvSpPr>
          <p:cNvPr id="66" name="Text 42"/>
          <p:cNvSpPr/>
          <p:nvPr/>
        </p:nvSpPr>
        <p:spPr>
          <a:xfrm>
            <a:off x="4282440" y="3291840"/>
            <a:ext cx="103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Spark</a:t>
            </a:r>
            <a:endParaRPr lang="en-US" sz="900" dirty="0"/>
          </a:p>
        </p:txBody>
      </p:sp>
      <p:sp>
        <p:nvSpPr>
          <p:cNvPr id="67" name="Text 43"/>
          <p:cNvSpPr/>
          <p:nvPr/>
        </p:nvSpPr>
        <p:spPr>
          <a:xfrm>
            <a:off x="4282440" y="3474720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(大規模バッチ)</a:t>
            </a:r>
            <a:endParaRPr lang="en-US" sz="750" dirty="0"/>
          </a:p>
        </p:txBody>
      </p:sp>
      <p:pic>
        <p:nvPicPr>
          <p:cNvPr id="6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72328" y="2926080"/>
            <a:ext cx="329184" cy="329184"/>
          </a:xfrm>
          <a:prstGeom prst="rect">
            <a:avLst/>
          </a:prstGeom>
        </p:spPr>
      </p:pic>
      <p:sp>
        <p:nvSpPr>
          <p:cNvPr id="69" name="Text 44"/>
          <p:cNvSpPr/>
          <p:nvPr/>
        </p:nvSpPr>
        <p:spPr>
          <a:xfrm>
            <a:off x="5318760" y="3291840"/>
            <a:ext cx="103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Trino</a:t>
            </a:r>
            <a:endParaRPr lang="en-US" sz="900" dirty="0"/>
          </a:p>
        </p:txBody>
      </p:sp>
      <p:sp>
        <p:nvSpPr>
          <p:cNvPr id="70" name="Text 45"/>
          <p:cNvSpPr/>
          <p:nvPr/>
        </p:nvSpPr>
        <p:spPr>
          <a:xfrm>
            <a:off x="5318760" y="3474720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(クエリ実行)</a:t>
            </a:r>
            <a:endParaRPr lang="en-US" sz="750" dirty="0"/>
          </a:p>
        </p:txBody>
      </p:sp>
      <p:sp>
        <p:nvSpPr>
          <p:cNvPr id="71" name="Shape 46"/>
          <p:cNvSpPr/>
          <p:nvPr/>
        </p:nvSpPr>
        <p:spPr>
          <a:xfrm>
            <a:off x="3246120" y="3749040"/>
            <a:ext cx="990600" cy="411480"/>
          </a:xfrm>
          <a:prstGeom prst="roundRect">
            <a:avLst>
              <a:gd name="adj" fmla="val 13333"/>
            </a:avLst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72" name="Text 47"/>
          <p:cNvSpPr/>
          <p:nvPr/>
        </p:nvSpPr>
        <p:spPr>
          <a:xfrm>
            <a:off x="3246120" y="3767328"/>
            <a:ext cx="99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</a:t>
            </a:r>
            <a:endParaRPr lang="en-US" sz="1000" dirty="0"/>
          </a:p>
        </p:txBody>
      </p:sp>
      <p:sp>
        <p:nvSpPr>
          <p:cNvPr id="73" name="Text 48"/>
          <p:cNvSpPr/>
          <p:nvPr/>
        </p:nvSpPr>
        <p:spPr>
          <a:xfrm>
            <a:off x="3246120" y="3950208"/>
            <a:ext cx="99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(生データ)</a:t>
            </a:r>
            <a:endParaRPr lang="en-US" sz="650" dirty="0"/>
          </a:p>
        </p:txBody>
      </p:sp>
      <p:sp>
        <p:nvSpPr>
          <p:cNvPr id="74" name="Shape 49"/>
          <p:cNvSpPr/>
          <p:nvPr/>
        </p:nvSpPr>
        <p:spPr>
          <a:xfrm>
            <a:off x="4305300" y="3749040"/>
            <a:ext cx="990600" cy="411480"/>
          </a:xfrm>
          <a:prstGeom prst="roundRect">
            <a:avLst>
              <a:gd name="adj" fmla="val 13333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5" name="Text 50"/>
          <p:cNvSpPr/>
          <p:nvPr/>
        </p:nvSpPr>
        <p:spPr>
          <a:xfrm>
            <a:off x="4305300" y="3767328"/>
            <a:ext cx="99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Silver</a:t>
            </a:r>
            <a:endParaRPr lang="en-US" sz="1000" dirty="0"/>
          </a:p>
        </p:txBody>
      </p:sp>
      <p:sp>
        <p:nvSpPr>
          <p:cNvPr id="76" name="Text 51"/>
          <p:cNvSpPr/>
          <p:nvPr/>
        </p:nvSpPr>
        <p:spPr>
          <a:xfrm>
            <a:off x="4305300" y="3950208"/>
            <a:ext cx="99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(整形・標準化済み)</a:t>
            </a:r>
            <a:endParaRPr lang="en-US" sz="650" dirty="0"/>
          </a:p>
        </p:txBody>
      </p:sp>
      <p:sp>
        <p:nvSpPr>
          <p:cNvPr id="77" name="Shape 52"/>
          <p:cNvSpPr/>
          <p:nvPr/>
        </p:nvSpPr>
        <p:spPr>
          <a:xfrm>
            <a:off x="5364480" y="3749040"/>
            <a:ext cx="990600" cy="411480"/>
          </a:xfrm>
          <a:prstGeom prst="roundRect">
            <a:avLst>
              <a:gd name="adj" fmla="val 13333"/>
            </a:avLst>
          </a:prstGeom>
          <a:solidFill>
            <a:srgbClr val="B89968"/>
          </a:solidFill>
          <a:ln w="12700">
            <a:solidFill>
              <a:srgbClr val="B89968"/>
            </a:solidFill>
            <a:prstDash val="solid"/>
          </a:ln>
        </p:spPr>
      </p:sp>
      <p:sp>
        <p:nvSpPr>
          <p:cNvPr id="78" name="Text 53"/>
          <p:cNvSpPr/>
          <p:nvPr/>
        </p:nvSpPr>
        <p:spPr>
          <a:xfrm>
            <a:off x="5364480" y="3767328"/>
            <a:ext cx="99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Gold</a:t>
            </a:r>
            <a:endParaRPr lang="en-US" sz="1000" dirty="0"/>
          </a:p>
        </p:txBody>
      </p:sp>
      <p:sp>
        <p:nvSpPr>
          <p:cNvPr id="79" name="Text 54"/>
          <p:cNvSpPr/>
          <p:nvPr/>
        </p:nvSpPr>
        <p:spPr>
          <a:xfrm>
            <a:off x="5364480" y="3950208"/>
            <a:ext cx="99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(ビジネスロジック適用済み)</a:t>
            </a:r>
            <a:endParaRPr lang="en-US" sz="650" dirty="0"/>
          </a:p>
        </p:txBody>
      </p:sp>
      <p:sp>
        <p:nvSpPr>
          <p:cNvPr id="80" name="Text 55"/>
          <p:cNvSpPr/>
          <p:nvPr/>
        </p:nvSpPr>
        <p:spPr>
          <a:xfrm>
            <a:off x="3246120" y="4251960"/>
            <a:ext cx="99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 データ保存: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ソースに近い生データ、CDC変更ログ</a:t>
            </a:r>
            <a:endParaRPr lang="en-US" sz="650" dirty="0"/>
          </a:p>
        </p:txBody>
      </p:sp>
      <p:sp>
        <p:nvSpPr>
          <p:cNvPr id="81" name="Text 56"/>
          <p:cNvSpPr/>
          <p:nvPr/>
        </p:nvSpPr>
        <p:spPr>
          <a:xfrm>
            <a:off x="4305300" y="4251960"/>
            <a:ext cx="99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整形・標準化: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重複排除済み、型変換済み、品質チェック済み</a:t>
            </a:r>
            <a:endParaRPr lang="en-US" sz="650" dirty="0"/>
          </a:p>
        </p:txBody>
      </p:sp>
      <p:sp>
        <p:nvSpPr>
          <p:cNvPr id="82" name="Text 57"/>
          <p:cNvSpPr/>
          <p:nvPr/>
        </p:nvSpPr>
        <p:spPr>
          <a:xfrm>
            <a:off x="5364480" y="4251960"/>
            <a:ext cx="99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業務最適化: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ビジネスロジック適用済み、集計済みマート</a:t>
            </a:r>
            <a:endParaRPr lang="en-US" sz="650" dirty="0"/>
          </a:p>
        </p:txBody>
      </p:sp>
      <p:sp>
        <p:nvSpPr>
          <p:cNvPr id="83" name="Text 58"/>
          <p:cNvSpPr/>
          <p:nvPr/>
        </p:nvSpPr>
        <p:spPr>
          <a:xfrm>
            <a:off x="3246120" y="4983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メダリオンアーキテクチャの定義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5212080"/>
          <a:ext cx="3108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14630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レイヤー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主なデータ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B6F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Bronze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Raw保存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生データ・変更ログ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Silver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整形・標準化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重複排除済み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8996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Gold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業務最適化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ロジック適用済み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75120" y="1572768"/>
            <a:ext cx="201168" cy="201168"/>
          </a:xfrm>
          <a:prstGeom prst="rect">
            <a:avLst/>
          </a:prstGeom>
        </p:spPr>
      </p:pic>
      <p:sp>
        <p:nvSpPr>
          <p:cNvPr id="86" name="Text 59"/>
          <p:cNvSpPr/>
          <p:nvPr/>
        </p:nvSpPr>
        <p:spPr>
          <a:xfrm>
            <a:off x="6903720" y="15087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アクセス&amp;セマンティック</a:t>
            </a:r>
            <a:endParaRPr lang="en-US" sz="1100" dirty="0"/>
          </a:p>
        </p:txBody>
      </p:sp>
      <p:sp>
        <p:nvSpPr>
          <p:cNvPr id="87" name="Text 60"/>
          <p:cNvSpPr/>
          <p:nvPr/>
        </p:nvSpPr>
        <p:spPr>
          <a:xfrm>
            <a:off x="6903720" y="17373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 (データの出口と定義)</a:t>
            </a:r>
            <a:endParaRPr lang="en-US" sz="850" dirty="0"/>
          </a:p>
        </p:txBody>
      </p:sp>
      <p:sp>
        <p:nvSpPr>
          <p:cNvPr id="88" name="Text 61"/>
          <p:cNvSpPr/>
          <p:nvPr/>
        </p:nvSpPr>
        <p:spPr>
          <a:xfrm>
            <a:off x="6675120" y="20116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セマンティックレイヤーによる「意味」の統一</a:t>
            </a:r>
            <a:endParaRPr lang="en-US" sz="900" dirty="0"/>
          </a:p>
        </p:txBody>
      </p:sp>
      <p:pic>
        <p:nvPicPr>
          <p:cNvPr id="8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0" y="2286000"/>
            <a:ext cx="457200" cy="457200"/>
          </a:xfrm>
          <a:prstGeom prst="rect">
            <a:avLst/>
          </a:prstGeom>
        </p:spPr>
      </p:pic>
      <p:sp>
        <p:nvSpPr>
          <p:cNvPr id="90" name="Text 62"/>
          <p:cNvSpPr/>
          <p:nvPr/>
        </p:nvSpPr>
        <p:spPr>
          <a:xfrm>
            <a:off x="6675120" y="2743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Cube.js等のヘッドレスBI</a:t>
            </a:r>
            <a:endParaRPr lang="en-US" sz="800" dirty="0"/>
          </a:p>
        </p:txBody>
      </p:sp>
      <p:sp>
        <p:nvSpPr>
          <p:cNvPr id="91" name="Text 63"/>
          <p:cNvSpPr/>
          <p:nvPr/>
        </p:nvSpPr>
        <p:spPr>
          <a:xfrm>
            <a:off x="7726680" y="2286000"/>
            <a:ext cx="1325880" cy="594360"/>
          </a:xfrm>
          <a:prstGeom prst="rect">
            <a:avLst/>
          </a:prstGeom>
          <a:solidFill>
            <a:srgbClr val="EEF2F6"/>
          </a:solidFill>
          <a:ln w="6350">
            <a:solidFill>
              <a:srgbClr val="B0BAC5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Zero SQL: ユーザーによるSQLの書き間違いを排除し、KPI定義を一元化し、指標(KPI)のずれを一元解消</a:t>
            </a:r>
            <a:endParaRPr lang="en-US" sz="700" dirty="0"/>
          </a:p>
        </p:txBody>
      </p:sp>
      <p:sp>
        <p:nvSpPr>
          <p:cNvPr id="92" name="Text 64"/>
          <p:cNvSpPr/>
          <p:nvPr/>
        </p:nvSpPr>
        <p:spPr>
          <a:xfrm>
            <a:off x="6675120" y="30632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負荷分散と高速レスポンス</a:t>
            </a:r>
            <a:endParaRPr lang="en-US" sz="900" dirty="0"/>
          </a:p>
        </p:txBody>
      </p:sp>
      <p:pic>
        <p:nvPicPr>
          <p:cNvPr id="9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6560" y="3337560"/>
            <a:ext cx="292608" cy="292608"/>
          </a:xfrm>
          <a:prstGeom prst="rect">
            <a:avLst/>
          </a:prstGeom>
        </p:spPr>
      </p:pic>
      <p:pic>
        <p:nvPicPr>
          <p:cNvPr id="9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32320" y="3337560"/>
            <a:ext cx="292608" cy="292608"/>
          </a:xfrm>
          <a:prstGeom prst="rect">
            <a:avLst/>
          </a:prstGeom>
        </p:spPr>
      </p:pic>
      <p:sp>
        <p:nvSpPr>
          <p:cNvPr id="95" name="Text 65"/>
          <p:cNvSpPr/>
          <p:nvPr/>
        </p:nvSpPr>
        <p:spPr>
          <a:xfrm>
            <a:off x="6629400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Trino/Athena等の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クエリエンジン</a:t>
            </a:r>
            <a:endParaRPr lang="en-US" sz="750" dirty="0"/>
          </a:p>
        </p:txBody>
      </p:sp>
      <p:sp>
        <p:nvSpPr>
          <p:cNvPr id="96" name="Shape 66"/>
          <p:cNvSpPr/>
          <p:nvPr/>
        </p:nvSpPr>
        <p:spPr>
          <a:xfrm>
            <a:off x="6720840" y="4023360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7" name="Text 67"/>
          <p:cNvSpPr/>
          <p:nvPr/>
        </p:nvSpPr>
        <p:spPr>
          <a:xfrm>
            <a:off x="6720840" y="4023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Materialized View</a:t>
            </a:r>
            <a:endParaRPr lang="en-US" sz="750" dirty="0"/>
          </a:p>
        </p:txBody>
      </p:sp>
      <p:sp>
        <p:nvSpPr>
          <p:cNvPr id="98" name="Shape 68"/>
          <p:cNvSpPr/>
          <p:nvPr/>
        </p:nvSpPr>
        <p:spPr>
          <a:xfrm>
            <a:off x="6720840" y="4343400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9" name="Text 69"/>
          <p:cNvSpPr/>
          <p:nvPr/>
        </p:nvSpPr>
        <p:spPr>
          <a:xfrm>
            <a:off x="6720840" y="4343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Materialized View</a:t>
            </a:r>
            <a:endParaRPr lang="en-US" sz="750" dirty="0"/>
          </a:p>
        </p:txBody>
      </p:sp>
      <p:sp>
        <p:nvSpPr>
          <p:cNvPr id="100" name="Text 70"/>
          <p:cNvSpPr/>
          <p:nvPr/>
        </p:nvSpPr>
        <p:spPr>
          <a:xfrm>
            <a:off x="7726680" y="3429000"/>
            <a:ext cx="1325880" cy="594360"/>
          </a:xfrm>
          <a:prstGeom prst="rect">
            <a:avLst/>
          </a:prstGeom>
          <a:solidFill>
            <a:srgbClr val="EEF2F6"/>
          </a:solidFill>
          <a:ln w="6350">
            <a:solidFill>
              <a:srgbClr val="B0BAC5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事前集計やキャッシュを活用し、高負荷を抑えつつ高速なレスポンスを実現</a:t>
            </a:r>
            <a:endParaRPr lang="en-US" sz="700" dirty="0"/>
          </a:p>
        </p:txBody>
      </p:sp>
      <p:sp>
        <p:nvSpPr>
          <p:cNvPr id="101" name="Text 71"/>
          <p:cNvSpPr/>
          <p:nvPr/>
        </p:nvSpPr>
        <p:spPr>
          <a:xfrm>
            <a:off x="6675120" y="4800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強固なガバナンスとアクセス制御</a:t>
            </a:r>
            <a:endParaRPr lang="en-US" sz="900" dirty="0"/>
          </a:p>
        </p:txBody>
      </p:sp>
      <p:sp>
        <p:nvSpPr>
          <p:cNvPr id="102" name="Text 72"/>
          <p:cNvSpPr/>
          <p:nvPr/>
        </p:nvSpPr>
        <p:spPr>
          <a:xfrm>
            <a:off x="6675120" y="4983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(AWS Lake Formation)</a:t>
            </a:r>
            <a:endParaRPr lang="en-US" sz="750" dirty="0"/>
          </a:p>
        </p:txBody>
      </p:sp>
      <p:pic>
        <p:nvPicPr>
          <p:cNvPr id="10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03720" y="5257800"/>
            <a:ext cx="457200" cy="457200"/>
          </a:xfrm>
          <a:prstGeom prst="rect">
            <a:avLst/>
          </a:prstGeom>
        </p:spPr>
      </p:pic>
      <p:sp>
        <p:nvSpPr>
          <p:cNvPr id="104" name="Text 73"/>
          <p:cNvSpPr/>
          <p:nvPr/>
        </p:nvSpPr>
        <p:spPr>
          <a:xfrm>
            <a:off x="6629400" y="5760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アクセス制御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(AWS Lake Formation)</a:t>
            </a:r>
            <a:endParaRPr lang="en-US" sz="750" dirty="0"/>
          </a:p>
        </p:txBody>
      </p:sp>
      <p:sp>
        <p:nvSpPr>
          <p:cNvPr id="105" name="Text 74"/>
          <p:cNvSpPr/>
          <p:nvPr/>
        </p:nvSpPr>
        <p:spPr>
          <a:xfrm>
            <a:off x="7726680" y="5303520"/>
            <a:ext cx="1325880" cy="777240"/>
          </a:xfrm>
          <a:prstGeom prst="rect">
            <a:avLst/>
          </a:prstGeom>
          <a:solidFill>
            <a:srgbClr val="EEF2F6"/>
          </a:solidFill>
          <a:ln w="6350">
            <a:solidFill>
              <a:srgbClr val="B0BAC5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「鍵」として配置し、ユーザー属性に応じた行・列レベルの細かなアクセス制御機構 (ABAC) を適用</a:t>
            </a:r>
            <a:endParaRPr lang="en-US" sz="700" dirty="0"/>
          </a:p>
        </p:txBody>
      </p:sp>
      <p:sp>
        <p:nvSpPr>
          <p:cNvPr id="106" name="Text 75"/>
          <p:cNvSpPr/>
          <p:nvPr/>
        </p:nvSpPr>
        <p:spPr>
          <a:xfrm>
            <a:off x="9418320" y="1527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データ活用</a:t>
            </a:r>
            <a:endParaRPr lang="en-US" sz="1200" dirty="0"/>
          </a:p>
        </p:txBody>
      </p:sp>
      <p:sp>
        <p:nvSpPr>
          <p:cNvPr id="107" name="Text 76"/>
          <p:cNvSpPr/>
          <p:nvPr/>
        </p:nvSpPr>
        <p:spPr>
          <a:xfrm>
            <a:off x="9418320" y="17556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(Consumption Interfaces)</a:t>
            </a:r>
            <a:endParaRPr lang="en-US" sz="850" dirty="0"/>
          </a:p>
        </p:txBody>
      </p:sp>
      <p:sp>
        <p:nvSpPr>
          <p:cNvPr id="108" name="Shape 77"/>
          <p:cNvSpPr/>
          <p:nvPr/>
        </p:nvSpPr>
        <p:spPr>
          <a:xfrm>
            <a:off x="9372600" y="2103120"/>
            <a:ext cx="2423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0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64040" y="2286000"/>
            <a:ext cx="365760" cy="365760"/>
          </a:xfrm>
          <a:prstGeom prst="rect">
            <a:avLst/>
          </a:prstGeom>
        </p:spPr>
      </p:pic>
      <p:sp>
        <p:nvSpPr>
          <p:cNvPr id="110" name="Text 78"/>
          <p:cNvSpPr/>
          <p:nvPr/>
        </p:nvSpPr>
        <p:spPr>
          <a:xfrm>
            <a:off x="9921240" y="21945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BIツールでの可視化</a:t>
            </a:r>
            <a:endParaRPr lang="en-US" sz="900" dirty="0"/>
          </a:p>
        </p:txBody>
      </p:sp>
      <p:sp>
        <p:nvSpPr>
          <p:cNvPr id="111" name="Text 79"/>
          <p:cNvSpPr/>
          <p:nvPr/>
        </p:nvSpPr>
        <p:spPr>
          <a:xfrm>
            <a:off x="9921240" y="24505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(Metabase/Tableau等)</a:t>
            </a:r>
            <a:endParaRPr lang="en-US" sz="750" dirty="0"/>
          </a:p>
        </p:txBody>
      </p:sp>
      <p:sp>
        <p:nvSpPr>
          <p:cNvPr id="112" name="Shape 80"/>
          <p:cNvSpPr/>
          <p:nvPr/>
        </p:nvSpPr>
        <p:spPr>
          <a:xfrm>
            <a:off x="9372600" y="2971800"/>
            <a:ext cx="2423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1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464040" y="3154680"/>
            <a:ext cx="365760" cy="365760"/>
          </a:xfrm>
          <a:prstGeom prst="rect">
            <a:avLst/>
          </a:prstGeom>
        </p:spPr>
      </p:pic>
      <p:sp>
        <p:nvSpPr>
          <p:cNvPr id="114" name="Text 81"/>
          <p:cNvSpPr/>
          <p:nvPr/>
        </p:nvSpPr>
        <p:spPr>
          <a:xfrm>
            <a:off x="9921240" y="3063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データサイエンティスト向け</a:t>
            </a:r>
            <a:endParaRPr lang="en-US" sz="900" dirty="0"/>
          </a:p>
        </p:txBody>
      </p:sp>
      <p:sp>
        <p:nvSpPr>
          <p:cNvPr id="115" name="Text 82"/>
          <p:cNvSpPr/>
          <p:nvPr/>
        </p:nvSpPr>
        <p:spPr>
          <a:xfrm>
            <a:off x="9921240" y="33192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Notebook環境</a:t>
            </a:r>
            <a:endParaRPr lang="en-US" sz="750" dirty="0"/>
          </a:p>
        </p:txBody>
      </p:sp>
      <p:sp>
        <p:nvSpPr>
          <p:cNvPr id="116" name="Shape 83"/>
          <p:cNvSpPr/>
          <p:nvPr/>
        </p:nvSpPr>
        <p:spPr>
          <a:xfrm>
            <a:off x="9372600" y="3840480"/>
            <a:ext cx="2423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17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464040" y="4023360"/>
            <a:ext cx="365760" cy="365760"/>
          </a:xfrm>
          <a:prstGeom prst="rect">
            <a:avLst/>
          </a:prstGeom>
        </p:spPr>
      </p:pic>
      <p:sp>
        <p:nvSpPr>
          <p:cNvPr id="118" name="Text 84"/>
          <p:cNvSpPr/>
          <p:nvPr/>
        </p:nvSpPr>
        <p:spPr>
          <a:xfrm>
            <a:off x="9921240" y="3931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アプリ連携用の</a:t>
            </a:r>
            <a:endParaRPr lang="en-US" sz="900" dirty="0"/>
          </a:p>
        </p:txBody>
      </p:sp>
      <p:sp>
        <p:nvSpPr>
          <p:cNvPr id="119" name="Text 85"/>
          <p:cNvSpPr/>
          <p:nvPr/>
        </p:nvSpPr>
        <p:spPr>
          <a:xfrm>
            <a:off x="9921240" y="4187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API/GraphQL</a:t>
            </a:r>
            <a:endParaRPr lang="en-US" sz="750" dirty="0"/>
          </a:p>
        </p:txBody>
      </p:sp>
      <p:sp>
        <p:nvSpPr>
          <p:cNvPr id="120" name="Text 86"/>
          <p:cNvSpPr/>
          <p:nvPr/>
        </p:nvSpPr>
        <p:spPr>
          <a:xfrm>
            <a:off x="9372600" y="4709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リバースETL vs API連携</a:t>
            </a:r>
            <a:endParaRPr lang="en-US" sz="900" dirty="0"/>
          </a:p>
        </p:txBody>
      </p:sp>
      <p:sp>
        <p:nvSpPr>
          <p:cNvPr id="121" name="Shape 87"/>
          <p:cNvSpPr/>
          <p:nvPr/>
        </p:nvSpPr>
        <p:spPr>
          <a:xfrm>
            <a:off x="9372600" y="4965192"/>
            <a:ext cx="11658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2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809226" y="5038344"/>
            <a:ext cx="292608" cy="292608"/>
          </a:xfrm>
          <a:prstGeom prst="rect">
            <a:avLst/>
          </a:prstGeom>
        </p:spPr>
      </p:pic>
      <p:sp>
        <p:nvSpPr>
          <p:cNvPr id="123" name="Text 88"/>
          <p:cNvSpPr/>
          <p:nvPr/>
        </p:nvSpPr>
        <p:spPr>
          <a:xfrm>
            <a:off x="9372600" y="5349240"/>
            <a:ext cx="11658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Push型</a:t>
            </a:r>
            <a:endParaRPr lang="en-US" sz="850" dirty="0"/>
          </a:p>
        </p:txBody>
      </p:sp>
      <p:sp>
        <p:nvSpPr>
          <p:cNvPr id="124" name="Text 89"/>
          <p:cNvSpPr/>
          <p:nvPr/>
        </p:nvSpPr>
        <p:spPr>
          <a:xfrm>
            <a:off x="9372600" y="5513832"/>
            <a:ext cx="11658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(リバースETL)</a:t>
            </a:r>
            <a:endParaRPr lang="en-US" sz="700" dirty="0"/>
          </a:p>
        </p:txBody>
      </p:sp>
      <p:sp>
        <p:nvSpPr>
          <p:cNvPr id="125" name="Text 90"/>
          <p:cNvSpPr/>
          <p:nvPr/>
        </p:nvSpPr>
        <p:spPr>
          <a:xfrm>
            <a:off x="9372600" y="5678424"/>
            <a:ext cx="116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業務システムへ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データを書き戻す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(バッチ等)</a:t>
            </a:r>
            <a:endParaRPr lang="en-US" sz="650" dirty="0"/>
          </a:p>
        </p:txBody>
      </p:sp>
      <p:sp>
        <p:nvSpPr>
          <p:cNvPr id="126" name="Shape 91"/>
          <p:cNvSpPr/>
          <p:nvPr/>
        </p:nvSpPr>
        <p:spPr>
          <a:xfrm>
            <a:off x="10629900" y="4965192"/>
            <a:ext cx="11658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2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066526" y="5038344"/>
            <a:ext cx="292608" cy="292608"/>
          </a:xfrm>
          <a:prstGeom prst="rect">
            <a:avLst/>
          </a:prstGeom>
        </p:spPr>
      </p:pic>
      <p:sp>
        <p:nvSpPr>
          <p:cNvPr id="128" name="Text 92"/>
          <p:cNvSpPr/>
          <p:nvPr/>
        </p:nvSpPr>
        <p:spPr>
          <a:xfrm>
            <a:off x="10629900" y="5349240"/>
            <a:ext cx="11658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Pull型</a:t>
            </a:r>
            <a:endParaRPr lang="en-US" sz="850" dirty="0"/>
          </a:p>
        </p:txBody>
      </p:sp>
      <p:sp>
        <p:nvSpPr>
          <p:cNvPr id="129" name="Text 93"/>
          <p:cNvSpPr/>
          <p:nvPr/>
        </p:nvSpPr>
        <p:spPr>
          <a:xfrm>
            <a:off x="10629900" y="5513832"/>
            <a:ext cx="11658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(API連携)</a:t>
            </a:r>
            <a:endParaRPr lang="en-US" sz="700" dirty="0"/>
          </a:p>
        </p:txBody>
      </p:sp>
      <p:sp>
        <p:nvSpPr>
          <p:cNvPr id="130" name="Text 94"/>
          <p:cNvSpPr/>
          <p:nvPr/>
        </p:nvSpPr>
        <p:spPr>
          <a:xfrm>
            <a:off x="10629900" y="5678424"/>
            <a:ext cx="1165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必要な時にデータを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取りに来る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(リアルタイム)</a:t>
            </a:r>
            <a:endParaRPr lang="en-US" sz="650" dirty="0"/>
          </a:p>
        </p:txBody>
      </p:sp>
      <p:pic>
        <p:nvPicPr>
          <p:cNvPr id="131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515600" y="5349240"/>
            <a:ext cx="146304" cy="146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モダン・データレイクハウス・アーキテクチャ全体設計図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20624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収集から活用までのエンドツーエンド・フロー（実装ツール詳細）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1612880" cy="713232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13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Monitoring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CloudWatch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435608" y="1051560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132588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DATADOG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185416" y="1051560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132588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Prometheus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935224" y="1051560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132588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Grafana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685032" y="1051560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32588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OpenTelemetry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434840" y="1051560"/>
            <a:ext cx="274320" cy="2743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32588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Monte Carlo</a:t>
            </a:r>
            <a:endParaRPr lang="en-US" sz="6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106424"/>
            <a:ext cx="201168" cy="201168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106424"/>
            <a:ext cx="201168" cy="201168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106424"/>
            <a:ext cx="201168" cy="201168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06424"/>
            <a:ext cx="201168" cy="201168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06424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0" y="850392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AC5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取込件数 / ジョブ成功・失敗 / CDC lag / Kafka lag / Query latency / API hit rate / BI response / Cache hit rate / Reverse ETL成否 / Storage cost / Alert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274320" y="5989320"/>
            <a:ext cx="11612880" cy="822960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57200" y="602589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横断的機能 (Governance &amp; Operations)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626364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1792" y="6245352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Metadata / Lineage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621792" y="6428232"/>
            <a:ext cx="1569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 / OpenMetadata / Glue Catalog</a:t>
            </a:r>
            <a:endParaRPr lang="en-US" sz="63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5520" y="626364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511552" y="6245352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Access Control</a:t>
            </a:r>
            <a:endParaRPr lang="en-US" sz="750" dirty="0"/>
          </a:p>
        </p:txBody>
      </p:sp>
      <p:sp>
        <p:nvSpPr>
          <p:cNvPr id="31" name="Text 22"/>
          <p:cNvSpPr/>
          <p:nvPr/>
        </p:nvSpPr>
        <p:spPr>
          <a:xfrm>
            <a:off x="2511552" y="6428232"/>
            <a:ext cx="1569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Lake Formation / IAM / LF-Tag / KMS</a:t>
            </a:r>
            <a:endParaRPr lang="en-US" sz="63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5280" y="6263640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01312" y="6245352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Quality</a:t>
            </a:r>
            <a:endParaRPr lang="en-US" sz="750" dirty="0"/>
          </a:p>
        </p:txBody>
      </p:sp>
      <p:sp>
        <p:nvSpPr>
          <p:cNvPr id="34" name="Text 24"/>
          <p:cNvSpPr/>
          <p:nvPr/>
        </p:nvSpPr>
        <p:spPr>
          <a:xfrm>
            <a:off x="4401312" y="6428232"/>
            <a:ext cx="1569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dbt tests / Great Expectations / Soda</a:t>
            </a:r>
            <a:endParaRPr lang="en-US" sz="63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626364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291072" y="6245352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Observability</a:t>
            </a:r>
            <a:endParaRPr lang="en-US" sz="750" dirty="0"/>
          </a:p>
        </p:txBody>
      </p:sp>
      <p:sp>
        <p:nvSpPr>
          <p:cNvPr id="37" name="Text 26"/>
          <p:cNvSpPr/>
          <p:nvPr/>
        </p:nvSpPr>
        <p:spPr>
          <a:xfrm>
            <a:off x="6291072" y="6428232"/>
            <a:ext cx="1569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Collection to utilization monitoring</a:t>
            </a:r>
            <a:endParaRPr lang="en-US" sz="63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4800" y="6263640"/>
            <a:ext cx="201168" cy="20116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180832" y="6245352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/ Audit</a:t>
            </a:r>
            <a:endParaRPr lang="en-US" sz="750" dirty="0"/>
          </a:p>
        </p:txBody>
      </p:sp>
      <p:sp>
        <p:nvSpPr>
          <p:cNvPr id="40" name="Text 28"/>
          <p:cNvSpPr/>
          <p:nvPr/>
        </p:nvSpPr>
        <p:spPr>
          <a:xfrm>
            <a:off x="8180832" y="6428232"/>
            <a:ext cx="1569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 / CloudTrail</a:t>
            </a:r>
            <a:endParaRPr lang="en-US" sz="63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4560" y="6263640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0070592" y="6245352"/>
            <a:ext cx="156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Contract / Cost</a:t>
            </a:r>
            <a:endParaRPr lang="en-US" sz="750" dirty="0"/>
          </a:p>
        </p:txBody>
      </p:sp>
      <p:sp>
        <p:nvSpPr>
          <p:cNvPr id="43" name="Text 30"/>
          <p:cNvSpPr/>
          <p:nvPr/>
        </p:nvSpPr>
        <p:spPr>
          <a:xfrm>
            <a:off x="10070592" y="6428232"/>
            <a:ext cx="1569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SLA / Budget / Optimization</a:t>
            </a:r>
            <a:endParaRPr lang="en-US" sz="630" dirty="0"/>
          </a:p>
        </p:txBody>
      </p:sp>
      <p:sp>
        <p:nvSpPr>
          <p:cNvPr id="44" name="Shape 31"/>
          <p:cNvSpPr/>
          <p:nvPr/>
        </p:nvSpPr>
        <p:spPr>
          <a:xfrm>
            <a:off x="274320" y="1572768"/>
            <a:ext cx="2743200" cy="43434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3108960" y="1572768"/>
            <a:ext cx="3383280" cy="43434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6583680" y="1572768"/>
            <a:ext cx="2606040" cy="43434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9281160" y="1572768"/>
            <a:ext cx="2606040" cy="43434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1664208"/>
            <a:ext cx="219456" cy="219456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40080" y="16184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コレクティングレイヤー</a:t>
            </a:r>
            <a:endParaRPr lang="en-US" sz="1100" dirty="0"/>
          </a:p>
        </p:txBody>
      </p:sp>
      <p:sp>
        <p:nvSpPr>
          <p:cNvPr id="50" name="Text 36"/>
          <p:cNvSpPr/>
          <p:nvPr/>
        </p:nvSpPr>
        <p:spPr>
          <a:xfrm>
            <a:off x="64008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(データ収集)</a:t>
            </a:r>
            <a:endParaRPr lang="en-US" sz="850" dirty="0"/>
          </a:p>
        </p:txBody>
      </p:sp>
      <p:sp>
        <p:nvSpPr>
          <p:cNvPr id="51" name="Shape 37"/>
          <p:cNvSpPr/>
          <p:nvPr/>
        </p:nvSpPr>
        <p:spPr>
          <a:xfrm>
            <a:off x="365760" y="2121408"/>
            <a:ext cx="868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2157984"/>
            <a:ext cx="219456" cy="219456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36576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SaaS/API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(Salesforce等)</a:t>
            </a:r>
            <a:endParaRPr lang="en-US" sz="630" dirty="0"/>
          </a:p>
        </p:txBody>
      </p:sp>
      <p:sp>
        <p:nvSpPr>
          <p:cNvPr id="54" name="Shape 39"/>
          <p:cNvSpPr/>
          <p:nvPr/>
        </p:nvSpPr>
        <p:spPr>
          <a:xfrm>
            <a:off x="365760" y="2715768"/>
            <a:ext cx="868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" y="2752344"/>
            <a:ext cx="219456" cy="219456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365760" y="2971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RDB</a:t>
            </a:r>
            <a:endParaRPr lang="en-US" sz="630" dirty="0"/>
          </a:p>
        </p:txBody>
      </p:sp>
      <p:sp>
        <p:nvSpPr>
          <p:cNvPr id="57" name="Shape 41"/>
          <p:cNvSpPr/>
          <p:nvPr/>
        </p:nvSpPr>
        <p:spPr>
          <a:xfrm>
            <a:off x="365760" y="3310128"/>
            <a:ext cx="868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368" y="3346704"/>
            <a:ext cx="219456" cy="219456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365760" y="3566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</a:t>
            </a:r>
            <a:endParaRPr lang="en-US" sz="630" dirty="0"/>
          </a:p>
        </p:txBody>
      </p:sp>
      <p:sp>
        <p:nvSpPr>
          <p:cNvPr id="60" name="Shape 43"/>
          <p:cNvSpPr/>
          <p:nvPr/>
        </p:nvSpPr>
        <p:spPr>
          <a:xfrm>
            <a:off x="365760" y="3904488"/>
            <a:ext cx="868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368" y="3941064"/>
            <a:ext cx="219456" cy="219456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365760" y="41605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</a:t>
            </a:r>
            <a:endParaRPr lang="en-US" sz="630" dirty="0"/>
          </a:p>
        </p:txBody>
      </p:sp>
      <p:sp>
        <p:nvSpPr>
          <p:cNvPr id="63" name="Shape 45"/>
          <p:cNvSpPr/>
          <p:nvPr/>
        </p:nvSpPr>
        <p:spPr>
          <a:xfrm>
            <a:off x="365760" y="4498848"/>
            <a:ext cx="868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368" y="4535424"/>
            <a:ext cx="219456" cy="219456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365760" y="4754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(CSV/Excel)</a:t>
            </a:r>
            <a:endParaRPr lang="en-US" sz="630" dirty="0"/>
          </a:p>
        </p:txBody>
      </p:sp>
      <p:sp>
        <p:nvSpPr>
          <p:cNvPr id="66" name="Shape 47"/>
          <p:cNvSpPr/>
          <p:nvPr/>
        </p:nvSpPr>
        <p:spPr>
          <a:xfrm>
            <a:off x="1371600" y="212140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44752" y="2249424"/>
            <a:ext cx="237744" cy="237744"/>
          </a:xfrm>
          <a:prstGeom prst="rect">
            <a:avLst/>
          </a:prstGeom>
        </p:spPr>
      </p:pic>
      <p:sp>
        <p:nvSpPr>
          <p:cNvPr id="68" name="Text 48"/>
          <p:cNvSpPr/>
          <p:nvPr/>
        </p:nvSpPr>
        <p:spPr>
          <a:xfrm>
            <a:off x="1719072" y="2167128"/>
            <a:ext cx="98755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マネージドELT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(Fivetran等)</a:t>
            </a:r>
            <a:endParaRPr lang="en-US" sz="700" dirty="0"/>
          </a:p>
        </p:txBody>
      </p:sp>
      <p:sp>
        <p:nvSpPr>
          <p:cNvPr id="69" name="Shape 49"/>
          <p:cNvSpPr/>
          <p:nvPr/>
        </p:nvSpPr>
        <p:spPr>
          <a:xfrm>
            <a:off x="1371600" y="271576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7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44752" y="2843784"/>
            <a:ext cx="237744" cy="237744"/>
          </a:xfrm>
          <a:prstGeom prst="rect">
            <a:avLst/>
          </a:prstGeom>
        </p:spPr>
      </p:pic>
      <p:sp>
        <p:nvSpPr>
          <p:cNvPr id="71" name="Text 50"/>
          <p:cNvSpPr/>
          <p:nvPr/>
        </p:nvSpPr>
        <p:spPr>
          <a:xfrm>
            <a:off x="1719072" y="2761488"/>
            <a:ext cx="98755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カスタムバッチ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(JDBC/Spark)</a:t>
            </a:r>
            <a:endParaRPr lang="en-US" sz="700" dirty="0"/>
          </a:p>
        </p:txBody>
      </p:sp>
      <p:sp>
        <p:nvSpPr>
          <p:cNvPr id="72" name="Shape 51"/>
          <p:cNvSpPr/>
          <p:nvPr/>
        </p:nvSpPr>
        <p:spPr>
          <a:xfrm>
            <a:off x="1371600" y="331012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7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44752" y="3438144"/>
            <a:ext cx="237744" cy="237744"/>
          </a:xfrm>
          <a:prstGeom prst="rect">
            <a:avLst/>
          </a:prstGeom>
        </p:spPr>
      </p:pic>
      <p:sp>
        <p:nvSpPr>
          <p:cNvPr id="74" name="Text 52"/>
          <p:cNvSpPr/>
          <p:nvPr/>
        </p:nvSpPr>
        <p:spPr>
          <a:xfrm>
            <a:off x="1719072" y="3355848"/>
            <a:ext cx="98755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CDC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(Debezium等)</a:t>
            </a:r>
            <a:endParaRPr lang="en-US" sz="700" dirty="0"/>
          </a:p>
        </p:txBody>
      </p:sp>
      <p:sp>
        <p:nvSpPr>
          <p:cNvPr id="75" name="Shape 53"/>
          <p:cNvSpPr/>
          <p:nvPr/>
        </p:nvSpPr>
        <p:spPr>
          <a:xfrm>
            <a:off x="1371600" y="390448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7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44752" y="4032504"/>
            <a:ext cx="237744" cy="237744"/>
          </a:xfrm>
          <a:prstGeom prst="rect">
            <a:avLst/>
          </a:prstGeom>
        </p:spPr>
      </p:pic>
      <p:sp>
        <p:nvSpPr>
          <p:cNvPr id="77" name="Text 54"/>
          <p:cNvSpPr/>
          <p:nvPr/>
        </p:nvSpPr>
        <p:spPr>
          <a:xfrm>
            <a:off x="1719072" y="3950208"/>
            <a:ext cx="98755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ログ/イベント収集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(Fluentd等)</a:t>
            </a:r>
            <a:endParaRPr lang="en-US" sz="700" dirty="0"/>
          </a:p>
        </p:txBody>
      </p:sp>
      <p:sp>
        <p:nvSpPr>
          <p:cNvPr id="78" name="Text 55"/>
          <p:cNvSpPr/>
          <p:nvPr/>
        </p:nvSpPr>
        <p:spPr>
          <a:xfrm>
            <a:off x="365760" y="5276088"/>
            <a:ext cx="2560320" cy="201168"/>
          </a:xfrm>
          <a:prstGeom prst="rect">
            <a:avLst/>
          </a:prstGeom>
          <a:solidFill>
            <a:srgbClr val="EEF2F6"/>
          </a:solidFill>
          <a:ln w="6350">
            <a:solidFill>
              <a:srgbClr val="B0BAC5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Output: Landing Zone / Bronze Raw</a:t>
            </a:r>
            <a:endParaRPr lang="en-US" sz="750" dirty="0"/>
          </a:p>
        </p:txBody>
      </p:sp>
      <p:sp>
        <p:nvSpPr>
          <p:cNvPr id="79" name="Text 56"/>
          <p:cNvSpPr/>
          <p:nvPr/>
        </p:nvSpPr>
        <p:spPr>
          <a:xfrm>
            <a:off x="365760" y="5504688"/>
            <a:ext cx="2560320" cy="384048"/>
          </a:xfrm>
          <a:prstGeom prst="rect">
            <a:avLst/>
          </a:prstGeom>
          <a:solidFill>
            <a:srgbClr val="EEF2F6"/>
          </a:solidFill>
          <a:ln w="6350">
            <a:solidFill>
              <a:srgbClr val="B0BAC5"/>
            </a:solidFill>
          </a:ln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58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Glue Catalog: Operational Catalog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DataHub / OpenMetadata: Governance Catalog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OpenLineage / Marquez: Lineage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Iceberg Metadata: Snapshot / Manifest / Schema</a:t>
            </a:r>
            <a:endParaRPr lang="en-US" sz="580" dirty="0"/>
          </a:p>
        </p:txBody>
      </p:sp>
      <p:pic>
        <p:nvPicPr>
          <p:cNvPr id="8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00400" y="1682496"/>
            <a:ext cx="201168" cy="201168"/>
          </a:xfrm>
          <a:prstGeom prst="rect">
            <a:avLst/>
          </a:prstGeom>
        </p:spPr>
      </p:pic>
      <p:sp>
        <p:nvSpPr>
          <p:cNvPr id="81" name="Text 57"/>
          <p:cNvSpPr/>
          <p:nvPr/>
        </p:nvSpPr>
        <p:spPr>
          <a:xfrm>
            <a:off x="3429000" y="16367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ストレージ&amp;プロセシングレイヤー (保存と加工)</a:t>
            </a:r>
            <a:endParaRPr lang="en-US" sz="950" dirty="0"/>
          </a:p>
        </p:txBody>
      </p:sp>
      <p:sp>
        <p:nvSpPr>
          <p:cNvPr id="82" name="Text 58"/>
          <p:cNvSpPr/>
          <p:nvPr/>
        </p:nvSpPr>
        <p:spPr>
          <a:xfrm>
            <a:off x="3200400" y="1938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メダリオンアーキテクチャ</a:t>
            </a:r>
            <a:endParaRPr lang="en-US" sz="1000" dirty="0"/>
          </a:p>
        </p:txBody>
      </p:sp>
      <p:sp>
        <p:nvSpPr>
          <p:cNvPr id="83" name="Shape 59"/>
          <p:cNvSpPr/>
          <p:nvPr/>
        </p:nvSpPr>
        <p:spPr>
          <a:xfrm>
            <a:off x="3246120" y="2167128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8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37560" y="2286000"/>
            <a:ext cx="256032" cy="256032"/>
          </a:xfrm>
          <a:prstGeom prst="rect">
            <a:avLst/>
          </a:prstGeom>
        </p:spPr>
      </p:pic>
      <p:sp>
        <p:nvSpPr>
          <p:cNvPr id="85" name="Text 60"/>
          <p:cNvSpPr/>
          <p:nvPr/>
        </p:nvSpPr>
        <p:spPr>
          <a:xfrm>
            <a:off x="3657600" y="21945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Processing Layer: dbt / Spark / Trino</a:t>
            </a:r>
            <a:endParaRPr lang="en-US" sz="850" dirty="0"/>
          </a:p>
        </p:txBody>
      </p:sp>
      <p:sp>
        <p:nvSpPr>
          <p:cNvPr id="86" name="Text 61"/>
          <p:cNvSpPr/>
          <p:nvPr/>
        </p:nvSpPr>
        <p:spPr>
          <a:xfrm>
            <a:off x="3657600" y="23957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Bronze→Silver, Silver→Gold, Quality checks, CDC MERGE</a:t>
            </a:r>
            <a:endParaRPr lang="en-US" sz="750" dirty="0"/>
          </a:p>
        </p:txBody>
      </p:sp>
      <p:pic>
        <p:nvPicPr>
          <p:cNvPr id="8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17976" y="2807208"/>
            <a:ext cx="292608" cy="292608"/>
          </a:xfrm>
          <a:prstGeom prst="rect">
            <a:avLst/>
          </a:prstGeom>
        </p:spPr>
      </p:pic>
      <p:sp>
        <p:nvSpPr>
          <p:cNvPr id="88" name="Text 62"/>
          <p:cNvSpPr/>
          <p:nvPr/>
        </p:nvSpPr>
        <p:spPr>
          <a:xfrm>
            <a:off x="3246120" y="3118104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dbt</a:t>
            </a:r>
            <a:endParaRPr lang="en-US" sz="850" dirty="0"/>
          </a:p>
        </p:txBody>
      </p:sp>
      <p:sp>
        <p:nvSpPr>
          <p:cNvPr id="89" name="Text 63"/>
          <p:cNvSpPr/>
          <p:nvPr/>
        </p:nvSpPr>
        <p:spPr>
          <a:xfrm>
            <a:off x="3246120" y="3282696"/>
            <a:ext cx="103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(SQL変換)</a:t>
            </a:r>
            <a:endParaRPr lang="en-US" sz="700" dirty="0"/>
          </a:p>
        </p:txBody>
      </p:sp>
      <p:pic>
        <p:nvPicPr>
          <p:cNvPr id="9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54296" y="2807208"/>
            <a:ext cx="292608" cy="292608"/>
          </a:xfrm>
          <a:prstGeom prst="rect">
            <a:avLst/>
          </a:prstGeom>
        </p:spPr>
      </p:pic>
      <p:sp>
        <p:nvSpPr>
          <p:cNvPr id="91" name="Text 64"/>
          <p:cNvSpPr/>
          <p:nvPr/>
        </p:nvSpPr>
        <p:spPr>
          <a:xfrm>
            <a:off x="4282440" y="3118104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Spark</a:t>
            </a:r>
            <a:endParaRPr lang="en-US" sz="850" dirty="0"/>
          </a:p>
        </p:txBody>
      </p:sp>
      <p:sp>
        <p:nvSpPr>
          <p:cNvPr id="92" name="Text 65"/>
          <p:cNvSpPr/>
          <p:nvPr/>
        </p:nvSpPr>
        <p:spPr>
          <a:xfrm>
            <a:off x="4282440" y="3282696"/>
            <a:ext cx="103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(大規模バッチ)</a:t>
            </a:r>
            <a:endParaRPr lang="en-US" sz="700" dirty="0"/>
          </a:p>
        </p:txBody>
      </p:sp>
      <p:pic>
        <p:nvPicPr>
          <p:cNvPr id="9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90616" y="2807208"/>
            <a:ext cx="292608" cy="292608"/>
          </a:xfrm>
          <a:prstGeom prst="rect">
            <a:avLst/>
          </a:prstGeom>
        </p:spPr>
      </p:pic>
      <p:sp>
        <p:nvSpPr>
          <p:cNvPr id="94" name="Text 66"/>
          <p:cNvSpPr/>
          <p:nvPr/>
        </p:nvSpPr>
        <p:spPr>
          <a:xfrm>
            <a:off x="5318760" y="3118104"/>
            <a:ext cx="103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Trino</a:t>
            </a:r>
            <a:endParaRPr lang="en-US" sz="850" dirty="0"/>
          </a:p>
        </p:txBody>
      </p:sp>
      <p:sp>
        <p:nvSpPr>
          <p:cNvPr id="95" name="Text 67"/>
          <p:cNvSpPr/>
          <p:nvPr/>
        </p:nvSpPr>
        <p:spPr>
          <a:xfrm>
            <a:off x="5318760" y="3282696"/>
            <a:ext cx="103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(クエリ実行)</a:t>
            </a:r>
            <a:endParaRPr lang="en-US" sz="700" dirty="0"/>
          </a:p>
        </p:txBody>
      </p:sp>
      <p:sp>
        <p:nvSpPr>
          <p:cNvPr id="96" name="Shape 68"/>
          <p:cNvSpPr/>
          <p:nvPr/>
        </p:nvSpPr>
        <p:spPr>
          <a:xfrm>
            <a:off x="3246120" y="3566160"/>
            <a:ext cx="990600" cy="384048"/>
          </a:xfrm>
          <a:prstGeom prst="roundRect">
            <a:avLst>
              <a:gd name="adj" fmla="val 14286"/>
            </a:avLst>
          </a:prstGeom>
          <a:solidFill>
            <a:srgbClr val="8B6F47"/>
          </a:solidFill>
          <a:ln w="12700">
            <a:solidFill>
              <a:srgbClr val="8B6F47"/>
            </a:solidFill>
            <a:prstDash val="solid"/>
          </a:ln>
        </p:spPr>
      </p:sp>
      <p:sp>
        <p:nvSpPr>
          <p:cNvPr id="97" name="Text 69"/>
          <p:cNvSpPr/>
          <p:nvPr/>
        </p:nvSpPr>
        <p:spPr>
          <a:xfrm>
            <a:off x="3246120" y="3584448"/>
            <a:ext cx="99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Bronze</a:t>
            </a:r>
            <a:endParaRPr lang="en-US" sz="950" dirty="0"/>
          </a:p>
        </p:txBody>
      </p:sp>
      <p:sp>
        <p:nvSpPr>
          <p:cNvPr id="98" name="Text 70"/>
          <p:cNvSpPr/>
          <p:nvPr/>
        </p:nvSpPr>
        <p:spPr>
          <a:xfrm>
            <a:off x="3246120" y="3749040"/>
            <a:ext cx="99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(生データ)</a:t>
            </a:r>
            <a:endParaRPr lang="en-US" sz="600" dirty="0"/>
          </a:p>
        </p:txBody>
      </p:sp>
      <p:sp>
        <p:nvSpPr>
          <p:cNvPr id="99" name="Shape 71"/>
          <p:cNvSpPr/>
          <p:nvPr/>
        </p:nvSpPr>
        <p:spPr>
          <a:xfrm>
            <a:off x="4305300" y="3566160"/>
            <a:ext cx="990600" cy="384048"/>
          </a:xfrm>
          <a:prstGeom prst="roundRect">
            <a:avLst>
              <a:gd name="adj" fmla="val 14286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0" name="Text 72"/>
          <p:cNvSpPr/>
          <p:nvPr/>
        </p:nvSpPr>
        <p:spPr>
          <a:xfrm>
            <a:off x="4305300" y="3584448"/>
            <a:ext cx="99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Silver</a:t>
            </a:r>
            <a:endParaRPr lang="en-US" sz="950" dirty="0"/>
          </a:p>
        </p:txBody>
      </p:sp>
      <p:sp>
        <p:nvSpPr>
          <p:cNvPr id="101" name="Text 73"/>
          <p:cNvSpPr/>
          <p:nvPr/>
        </p:nvSpPr>
        <p:spPr>
          <a:xfrm>
            <a:off x="4305300" y="3749040"/>
            <a:ext cx="99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(整形・標準化済み)</a:t>
            </a:r>
            <a:endParaRPr lang="en-US" sz="600" dirty="0"/>
          </a:p>
        </p:txBody>
      </p:sp>
      <p:sp>
        <p:nvSpPr>
          <p:cNvPr id="102" name="Shape 74"/>
          <p:cNvSpPr/>
          <p:nvPr/>
        </p:nvSpPr>
        <p:spPr>
          <a:xfrm>
            <a:off x="5364480" y="3566160"/>
            <a:ext cx="990600" cy="384048"/>
          </a:xfrm>
          <a:prstGeom prst="roundRect">
            <a:avLst>
              <a:gd name="adj" fmla="val 14286"/>
            </a:avLst>
          </a:prstGeom>
          <a:solidFill>
            <a:srgbClr val="B89968"/>
          </a:solidFill>
          <a:ln w="12700">
            <a:solidFill>
              <a:srgbClr val="B89968"/>
            </a:solidFill>
            <a:prstDash val="solid"/>
          </a:ln>
        </p:spPr>
      </p:sp>
      <p:sp>
        <p:nvSpPr>
          <p:cNvPr id="103" name="Text 75"/>
          <p:cNvSpPr/>
          <p:nvPr/>
        </p:nvSpPr>
        <p:spPr>
          <a:xfrm>
            <a:off x="5364480" y="3584448"/>
            <a:ext cx="99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Gold</a:t>
            </a:r>
            <a:endParaRPr lang="en-US" sz="950" dirty="0"/>
          </a:p>
        </p:txBody>
      </p:sp>
      <p:sp>
        <p:nvSpPr>
          <p:cNvPr id="104" name="Text 76"/>
          <p:cNvSpPr/>
          <p:nvPr/>
        </p:nvSpPr>
        <p:spPr>
          <a:xfrm>
            <a:off x="5364480" y="3749040"/>
            <a:ext cx="99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(ビジネスロジック適用済み)</a:t>
            </a:r>
            <a:endParaRPr lang="en-US" sz="600" dirty="0"/>
          </a:p>
        </p:txBody>
      </p:sp>
      <p:sp>
        <p:nvSpPr>
          <p:cNvPr id="105" name="Text 77"/>
          <p:cNvSpPr/>
          <p:nvPr/>
        </p:nvSpPr>
        <p:spPr>
          <a:xfrm>
            <a:off x="3246120" y="4023360"/>
            <a:ext cx="99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 データ保存: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ソースに近い生データ、CDC変更ログ</a:t>
            </a:r>
            <a:endParaRPr lang="en-US" sz="600" dirty="0"/>
          </a:p>
        </p:txBody>
      </p:sp>
      <p:sp>
        <p:nvSpPr>
          <p:cNvPr id="106" name="Text 78"/>
          <p:cNvSpPr/>
          <p:nvPr/>
        </p:nvSpPr>
        <p:spPr>
          <a:xfrm>
            <a:off x="4305300" y="4023360"/>
            <a:ext cx="99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整形・標準化: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重複排除済み、型変換済み、品質チェック済み</a:t>
            </a:r>
            <a:endParaRPr lang="en-US" sz="600" dirty="0"/>
          </a:p>
        </p:txBody>
      </p:sp>
      <p:sp>
        <p:nvSpPr>
          <p:cNvPr id="107" name="Text 79"/>
          <p:cNvSpPr/>
          <p:nvPr/>
        </p:nvSpPr>
        <p:spPr>
          <a:xfrm>
            <a:off x="5364480" y="4023360"/>
            <a:ext cx="99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業務最適化: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ビジネスロジック適用済み、集計済みマート</a:t>
            </a:r>
            <a:endParaRPr lang="en-US" sz="600" dirty="0"/>
          </a:p>
        </p:txBody>
      </p:sp>
      <p:sp>
        <p:nvSpPr>
          <p:cNvPr id="108" name="Text 80"/>
          <p:cNvSpPr/>
          <p:nvPr/>
        </p:nvSpPr>
        <p:spPr>
          <a:xfrm>
            <a:off x="3246120" y="46817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メダリオンアーキテクチャの定義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4901184"/>
          <a:ext cx="3108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146304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レイヤー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主なデータ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B6F4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Bronze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Raw保存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生データ・変更ログ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CA3A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Silver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整形・標準化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重複排除済み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B8996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Gold</a:t>
                      </a:r>
                      <a:endParaRPr lang="en-US" sz="7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業務最適化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4B5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ロジック適用済み</a:t>
                      </a:r>
                      <a:endParaRPr lang="en-US" sz="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0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75120" y="1682496"/>
            <a:ext cx="201168" cy="201168"/>
          </a:xfrm>
          <a:prstGeom prst="rect">
            <a:avLst/>
          </a:prstGeom>
        </p:spPr>
      </p:pic>
      <p:sp>
        <p:nvSpPr>
          <p:cNvPr id="111" name="Text 81"/>
          <p:cNvSpPr/>
          <p:nvPr/>
        </p:nvSpPr>
        <p:spPr>
          <a:xfrm>
            <a:off x="6903720" y="16184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アクセス&amp;セマンティック</a:t>
            </a:r>
            <a:endParaRPr lang="en-US" sz="1050" dirty="0"/>
          </a:p>
        </p:txBody>
      </p:sp>
      <p:sp>
        <p:nvSpPr>
          <p:cNvPr id="112" name="Text 82"/>
          <p:cNvSpPr/>
          <p:nvPr/>
        </p:nvSpPr>
        <p:spPr>
          <a:xfrm>
            <a:off x="6903720" y="18470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 (データの出口と定義)</a:t>
            </a:r>
            <a:endParaRPr lang="en-US" sz="800" dirty="0"/>
          </a:p>
        </p:txBody>
      </p:sp>
      <p:sp>
        <p:nvSpPr>
          <p:cNvPr id="113" name="Text 83"/>
          <p:cNvSpPr/>
          <p:nvPr/>
        </p:nvSpPr>
        <p:spPr>
          <a:xfrm>
            <a:off x="6675120" y="21214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セマンティックレイヤーによる「意味」の統一</a:t>
            </a:r>
            <a:endParaRPr lang="en-US" sz="900" dirty="0"/>
          </a:p>
        </p:txBody>
      </p:sp>
      <p:pic>
        <p:nvPicPr>
          <p:cNvPr id="11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0" y="2377440"/>
            <a:ext cx="411480" cy="411480"/>
          </a:xfrm>
          <a:prstGeom prst="rect">
            <a:avLst/>
          </a:prstGeom>
        </p:spPr>
      </p:pic>
      <p:sp>
        <p:nvSpPr>
          <p:cNvPr id="115" name="Text 84"/>
          <p:cNvSpPr/>
          <p:nvPr/>
        </p:nvSpPr>
        <p:spPr>
          <a:xfrm>
            <a:off x="662940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Cube.js等のヘッドレスBI</a:t>
            </a:r>
            <a:endParaRPr lang="en-US" sz="750" dirty="0"/>
          </a:p>
        </p:txBody>
      </p:sp>
      <p:sp>
        <p:nvSpPr>
          <p:cNvPr id="116" name="Text 85"/>
          <p:cNvSpPr/>
          <p:nvPr/>
        </p:nvSpPr>
        <p:spPr>
          <a:xfrm>
            <a:off x="7680960" y="2350008"/>
            <a:ext cx="1417320" cy="685800"/>
          </a:xfrm>
          <a:prstGeom prst="rect">
            <a:avLst/>
          </a:prstGeom>
          <a:solidFill>
            <a:srgbClr val="EEF2F6"/>
          </a:solidFill>
          <a:ln w="6350">
            <a:solidFill>
              <a:srgbClr val="B0BAC5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Low / Zero SQL、一貫ユーザー / KPI / 指標、API+BI共通アクセス、Analyze / OS: Governed SQL / Notebook</a:t>
            </a:r>
            <a:endParaRPr lang="en-US" sz="700" dirty="0"/>
          </a:p>
        </p:txBody>
      </p:sp>
      <p:sp>
        <p:nvSpPr>
          <p:cNvPr id="117" name="Shape 86"/>
          <p:cNvSpPr/>
          <p:nvPr/>
        </p:nvSpPr>
        <p:spPr>
          <a:xfrm>
            <a:off x="6675120" y="3172968"/>
            <a:ext cx="24231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8" name="Text 87"/>
          <p:cNvSpPr/>
          <p:nvPr/>
        </p:nvSpPr>
        <p:spPr>
          <a:xfrm>
            <a:off x="6720840" y="32186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Pre-aggregated / Materialized Datasets</a:t>
            </a:r>
            <a:endParaRPr lang="en-US" sz="850" dirty="0"/>
          </a:p>
        </p:txBody>
      </p:sp>
      <p:sp>
        <p:nvSpPr>
          <p:cNvPr id="119" name="Text 88"/>
          <p:cNvSpPr/>
          <p:nvPr/>
        </p:nvSpPr>
        <p:spPr>
          <a:xfrm>
            <a:off x="6720840" y="3447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Gold Aggregates, Materialized Views, Semantic Cache</a:t>
            </a:r>
            <a:endParaRPr lang="en-US" sz="700" dirty="0"/>
          </a:p>
        </p:txBody>
      </p:sp>
      <p:sp>
        <p:nvSpPr>
          <p:cNvPr id="120" name="Text 89"/>
          <p:cNvSpPr/>
          <p:nvPr/>
        </p:nvSpPr>
        <p:spPr>
          <a:xfrm>
            <a:off x="6675120" y="40416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負荷分散と高速レスポンス</a:t>
            </a:r>
            <a:endParaRPr lang="en-US" sz="900" dirty="0"/>
          </a:p>
        </p:txBody>
      </p:sp>
      <p:sp>
        <p:nvSpPr>
          <p:cNvPr id="121" name="Text 90"/>
          <p:cNvSpPr/>
          <p:nvPr/>
        </p:nvSpPr>
        <p:spPr>
          <a:xfrm>
            <a:off x="6675120" y="42428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(Trino/Athena等のクエリエンジン)</a:t>
            </a:r>
            <a:endParaRPr lang="en-US" sz="700" dirty="0"/>
          </a:p>
        </p:txBody>
      </p:sp>
      <p:pic>
        <p:nvPicPr>
          <p:cNvPr id="12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22108" y="4498848"/>
            <a:ext cx="329184" cy="329184"/>
          </a:xfrm>
          <a:prstGeom prst="rect">
            <a:avLst/>
          </a:prstGeom>
        </p:spPr>
      </p:pic>
      <p:sp>
        <p:nvSpPr>
          <p:cNvPr id="123" name="Text 91"/>
          <p:cNvSpPr/>
          <p:nvPr/>
        </p:nvSpPr>
        <p:spPr>
          <a:xfrm>
            <a:off x="6675120" y="4864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Trino クエリエンジン (クエリ実行 / Federation)</a:t>
            </a:r>
            <a:endParaRPr lang="en-US" sz="750" dirty="0"/>
          </a:p>
        </p:txBody>
      </p:sp>
      <p:sp>
        <p:nvSpPr>
          <p:cNvPr id="124" name="Text 92"/>
          <p:cNvSpPr/>
          <p:nvPr/>
        </p:nvSpPr>
        <p:spPr>
          <a:xfrm>
            <a:off x="6675120" y="5394960"/>
            <a:ext cx="2423160" cy="365760"/>
          </a:xfrm>
          <a:prstGeom prst="rect">
            <a:avLst/>
          </a:prstGeom>
          <a:solidFill>
            <a:srgbClr val="EEF2F6"/>
          </a:solidFill>
          <a:ln w="6350">
            <a:solidFill>
              <a:srgbClr val="B0BAC5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Access Control enforced by Lake Formation / IAM</a:t>
            </a:r>
            <a:endParaRPr lang="en-US" sz="700" dirty="0"/>
          </a:p>
        </p:txBody>
      </p:sp>
      <p:sp>
        <p:nvSpPr>
          <p:cNvPr id="125" name="Text 93"/>
          <p:cNvSpPr/>
          <p:nvPr/>
        </p:nvSpPr>
        <p:spPr>
          <a:xfrm>
            <a:off x="9418320" y="16367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データ活用・連携インターフェース</a:t>
            </a:r>
            <a:endParaRPr lang="en-US" sz="1000" dirty="0"/>
          </a:p>
        </p:txBody>
      </p:sp>
      <p:sp>
        <p:nvSpPr>
          <p:cNvPr id="126" name="Text 94"/>
          <p:cNvSpPr/>
          <p:nvPr/>
        </p:nvSpPr>
        <p:spPr>
          <a:xfrm>
            <a:off x="9418320" y="18653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(Consumption &amp; Delivery Interfaces)</a:t>
            </a:r>
            <a:endParaRPr lang="en-US" sz="750" dirty="0"/>
          </a:p>
        </p:txBody>
      </p:sp>
      <p:sp>
        <p:nvSpPr>
          <p:cNvPr id="127" name="Shape 95"/>
          <p:cNvSpPr/>
          <p:nvPr/>
        </p:nvSpPr>
        <p:spPr>
          <a:xfrm>
            <a:off x="9372600" y="2167128"/>
            <a:ext cx="2423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2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464040" y="2295144"/>
            <a:ext cx="292608" cy="292608"/>
          </a:xfrm>
          <a:prstGeom prst="rect">
            <a:avLst/>
          </a:prstGeom>
        </p:spPr>
      </p:pic>
      <p:sp>
        <p:nvSpPr>
          <p:cNvPr id="129" name="Text 96"/>
          <p:cNvSpPr/>
          <p:nvPr/>
        </p:nvSpPr>
        <p:spPr>
          <a:xfrm>
            <a:off x="9829800" y="22402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BIツールでの可視化</a:t>
            </a:r>
            <a:endParaRPr lang="en-US" sz="850" dirty="0"/>
          </a:p>
        </p:txBody>
      </p:sp>
      <p:sp>
        <p:nvSpPr>
          <p:cNvPr id="130" name="Text 97"/>
          <p:cNvSpPr/>
          <p:nvPr/>
        </p:nvSpPr>
        <p:spPr>
          <a:xfrm>
            <a:off x="9829800" y="24597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(Metabase/Tableau等)</a:t>
            </a:r>
            <a:endParaRPr lang="en-US" sz="700" dirty="0"/>
          </a:p>
        </p:txBody>
      </p:sp>
      <p:sp>
        <p:nvSpPr>
          <p:cNvPr id="131" name="Shape 98"/>
          <p:cNvSpPr/>
          <p:nvPr/>
        </p:nvSpPr>
        <p:spPr>
          <a:xfrm>
            <a:off x="9372600" y="2807208"/>
            <a:ext cx="2423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464040" y="2935224"/>
            <a:ext cx="292608" cy="292608"/>
          </a:xfrm>
          <a:prstGeom prst="rect">
            <a:avLst/>
          </a:prstGeom>
        </p:spPr>
      </p:pic>
      <p:sp>
        <p:nvSpPr>
          <p:cNvPr id="133" name="Text 99"/>
          <p:cNvSpPr/>
          <p:nvPr/>
        </p:nvSpPr>
        <p:spPr>
          <a:xfrm>
            <a:off x="982980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データサイエンティスト向け</a:t>
            </a:r>
            <a:endParaRPr lang="en-US" sz="850" dirty="0"/>
          </a:p>
        </p:txBody>
      </p:sp>
      <p:sp>
        <p:nvSpPr>
          <p:cNvPr id="134" name="Text 100"/>
          <p:cNvSpPr/>
          <p:nvPr/>
        </p:nvSpPr>
        <p:spPr>
          <a:xfrm>
            <a:off x="9829800" y="3099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Notebook環境</a:t>
            </a:r>
            <a:endParaRPr lang="en-US" sz="700" dirty="0"/>
          </a:p>
        </p:txBody>
      </p:sp>
      <p:sp>
        <p:nvSpPr>
          <p:cNvPr id="135" name="Shape 101"/>
          <p:cNvSpPr/>
          <p:nvPr/>
        </p:nvSpPr>
        <p:spPr>
          <a:xfrm>
            <a:off x="9372600" y="3447288"/>
            <a:ext cx="2423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3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64040" y="3575304"/>
            <a:ext cx="292608" cy="292608"/>
          </a:xfrm>
          <a:prstGeom prst="rect">
            <a:avLst/>
          </a:prstGeom>
        </p:spPr>
      </p:pic>
      <p:sp>
        <p:nvSpPr>
          <p:cNvPr id="137" name="Text 102"/>
          <p:cNvSpPr/>
          <p:nvPr/>
        </p:nvSpPr>
        <p:spPr>
          <a:xfrm>
            <a:off x="9829800" y="3520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アプリ連携用の</a:t>
            </a:r>
            <a:endParaRPr lang="en-US" sz="850" dirty="0"/>
          </a:p>
        </p:txBody>
      </p:sp>
      <p:sp>
        <p:nvSpPr>
          <p:cNvPr id="138" name="Text 103"/>
          <p:cNvSpPr/>
          <p:nvPr/>
        </p:nvSpPr>
        <p:spPr>
          <a:xfrm>
            <a:off x="9829800" y="373989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API/GraphQL</a:t>
            </a:r>
            <a:endParaRPr lang="en-US" sz="700" dirty="0"/>
          </a:p>
        </p:txBody>
      </p:sp>
      <p:sp>
        <p:nvSpPr>
          <p:cNvPr id="139" name="Text 104"/>
          <p:cNvSpPr/>
          <p:nvPr/>
        </p:nvSpPr>
        <p:spPr>
          <a:xfrm>
            <a:off x="9372600" y="41788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リバースETL vs API連携</a:t>
            </a:r>
            <a:endParaRPr lang="en-US" sz="900" dirty="0"/>
          </a:p>
        </p:txBody>
      </p:sp>
      <p:sp>
        <p:nvSpPr>
          <p:cNvPr id="140" name="Shape 105"/>
          <p:cNvSpPr/>
          <p:nvPr/>
        </p:nvSpPr>
        <p:spPr>
          <a:xfrm>
            <a:off x="9372600" y="4434840"/>
            <a:ext cx="11658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4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09226" y="4489704"/>
            <a:ext cx="292608" cy="292608"/>
          </a:xfrm>
          <a:prstGeom prst="rect">
            <a:avLst/>
          </a:prstGeom>
        </p:spPr>
      </p:pic>
      <p:sp>
        <p:nvSpPr>
          <p:cNvPr id="142" name="Text 106"/>
          <p:cNvSpPr/>
          <p:nvPr/>
        </p:nvSpPr>
        <p:spPr>
          <a:xfrm>
            <a:off x="9372600" y="4800600"/>
            <a:ext cx="11658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Push型</a:t>
            </a:r>
            <a:endParaRPr lang="en-US" sz="850" dirty="0"/>
          </a:p>
        </p:txBody>
      </p:sp>
      <p:sp>
        <p:nvSpPr>
          <p:cNvPr id="143" name="Text 107"/>
          <p:cNvSpPr/>
          <p:nvPr/>
        </p:nvSpPr>
        <p:spPr>
          <a:xfrm>
            <a:off x="9372600" y="4965192"/>
            <a:ext cx="11658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(Reverse ETL)</a:t>
            </a:r>
            <a:endParaRPr lang="en-US" sz="700" dirty="0"/>
          </a:p>
        </p:txBody>
      </p:sp>
      <p:sp>
        <p:nvSpPr>
          <p:cNvPr id="144" name="Text 108"/>
          <p:cNvSpPr/>
          <p:nvPr/>
        </p:nvSpPr>
        <p:spPr>
          <a:xfrm>
            <a:off x="9372600" y="5129784"/>
            <a:ext cx="1165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業務システムへ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データを書き戻す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(バッチ等)</a:t>
            </a:r>
            <a:endParaRPr lang="en-US" sz="650" dirty="0"/>
          </a:p>
        </p:txBody>
      </p:sp>
      <p:sp>
        <p:nvSpPr>
          <p:cNvPr id="145" name="Shape 109"/>
          <p:cNvSpPr/>
          <p:nvPr/>
        </p:nvSpPr>
        <p:spPr>
          <a:xfrm>
            <a:off x="10629900" y="4434840"/>
            <a:ext cx="11658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pic>
        <p:nvPicPr>
          <p:cNvPr id="14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066526" y="4489704"/>
            <a:ext cx="292608" cy="292608"/>
          </a:xfrm>
          <a:prstGeom prst="rect">
            <a:avLst/>
          </a:prstGeom>
        </p:spPr>
      </p:pic>
      <p:sp>
        <p:nvSpPr>
          <p:cNvPr id="147" name="Text 110"/>
          <p:cNvSpPr/>
          <p:nvPr/>
        </p:nvSpPr>
        <p:spPr>
          <a:xfrm>
            <a:off x="10629900" y="4800600"/>
            <a:ext cx="11658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Pull型</a:t>
            </a:r>
            <a:endParaRPr lang="en-US" sz="850" dirty="0"/>
          </a:p>
        </p:txBody>
      </p:sp>
      <p:sp>
        <p:nvSpPr>
          <p:cNvPr id="148" name="Text 111"/>
          <p:cNvSpPr/>
          <p:nvPr/>
        </p:nvSpPr>
        <p:spPr>
          <a:xfrm>
            <a:off x="10629900" y="4965192"/>
            <a:ext cx="11658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(API型)</a:t>
            </a:r>
            <a:endParaRPr lang="en-US" sz="700" dirty="0"/>
          </a:p>
        </p:txBody>
      </p:sp>
      <p:sp>
        <p:nvSpPr>
          <p:cNvPr id="149" name="Text 112"/>
          <p:cNvSpPr/>
          <p:nvPr/>
        </p:nvSpPr>
        <p:spPr>
          <a:xfrm>
            <a:off x="10629900" y="5129784"/>
            <a:ext cx="1165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必要な時にデータを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取りに来る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(リアルタイム)</a:t>
            </a:r>
            <a:endParaRPr lang="en-US" sz="650" dirty="0"/>
          </a:p>
        </p:txBody>
      </p:sp>
      <p:pic>
        <p:nvPicPr>
          <p:cNvPr id="15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515600" y="4800600"/>
            <a:ext cx="146304" cy="146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モダン・データレイクハウス・アーキテクチャ</dc:title>
  <dc:subject>PptxGenJS Presentation</dc:subject>
  <dc:creator>PptxGenJS</dc:creator>
  <cp:lastModifiedBy>PptxGenJS</cp:lastModifiedBy>
  <cp:revision>1</cp:revision>
  <dcterms:created xsi:type="dcterms:W3CDTF">2026-05-13T04:06:47Z</dcterms:created>
  <dcterms:modified xsi:type="dcterms:W3CDTF">2026-05-13T04:06:47Z</dcterms:modified>
</cp:coreProperties>
</file>