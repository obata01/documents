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457200"/>
            <a:ext cx="13716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0" y="548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セルフサービス型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データ統合基盤 アーキテクチャ設計書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77240" y="3657600"/>
            <a:ext cx="137160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840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セマンティックレイヤー × メタデータ管理 × ガバナンスを統合した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「裏側は高度に管理／表側は直感的に活用」を実現するモダンデータアーキテクチャ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5120640"/>
            <a:ext cx="1353312" cy="320040"/>
          </a:xfrm>
          <a:prstGeom prst="rect">
            <a:avLst/>
          </a:prstGeom>
          <a:solidFill>
            <a:srgbClr val="111A40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12064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67712" y="5120640"/>
            <a:ext cx="1901952" cy="320040"/>
          </a:xfrm>
          <a:prstGeom prst="rect">
            <a:avLst/>
          </a:prstGeom>
          <a:solidFill>
            <a:srgbClr val="111A40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12" y="512064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Iceberg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06824" y="5120640"/>
            <a:ext cx="914400" cy="320040"/>
          </a:xfrm>
          <a:prstGeom prst="rect">
            <a:avLst/>
          </a:prstGeom>
          <a:solidFill>
            <a:srgbClr val="111A40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06824" y="5120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58384" y="5120640"/>
            <a:ext cx="914400" cy="320040"/>
          </a:xfrm>
          <a:prstGeom prst="rect">
            <a:avLst/>
          </a:prstGeom>
          <a:solidFill>
            <a:srgbClr val="111A40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8384" y="5120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9944" y="5120640"/>
            <a:ext cx="914400" cy="320040"/>
          </a:xfrm>
          <a:prstGeom prst="rect">
            <a:avLst/>
          </a:prstGeom>
          <a:solidFill>
            <a:srgbClr val="111A40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9944" y="5120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61504" y="5120640"/>
            <a:ext cx="1133856" cy="320040"/>
          </a:xfrm>
          <a:prstGeom prst="rect">
            <a:avLst/>
          </a:prstGeom>
          <a:solidFill>
            <a:srgbClr val="111A40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61504" y="5120640"/>
            <a:ext cx="1133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732520" y="5120640"/>
            <a:ext cx="1901952" cy="320040"/>
          </a:xfrm>
          <a:prstGeom prst="rect">
            <a:avLst/>
          </a:prstGeom>
          <a:solidFill>
            <a:srgbClr val="111A40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32520" y="512064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Formation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Team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6126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/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目次・本資料の構成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本設計書では、セルフサービス型データ活用を実現する4層アーキテクチャと、各層を支える具体的なツールスタックを整理する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1430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73152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10424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課題認識：なぜセマンティック基盤が必要か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130759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属人化したSQL、サイレントエラー、不確実性に起因するデータ活用の阻害要因を整理する。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515600" y="100584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627632"/>
            <a:ext cx="11430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627632"/>
            <a:ext cx="73152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62763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16642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アーキテクチャ全体像（4層モデル）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1929384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セマンティック層／メタデータ層／アクセス・UX層／インフラ層の俯瞰図とその役割。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515600" y="162763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249424"/>
            <a:ext cx="11430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249424"/>
            <a:ext cx="73152" cy="56692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249424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80160" y="2286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メタデータ層の横断参照とデータフロー（全体構想）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2551176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2が他の全レイヤーから参照される横断構造と、ユーザー→L3→L1→L4の正しい経路。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515600" y="224942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871216"/>
            <a:ext cx="11430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871216"/>
            <a:ext cx="73152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871216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280160" y="2907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1：セマンティックレイヤー（階層的View）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80160" y="3172968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dbtによるAnalytics Base View・Aggregated Viewの構築方針と、Cube（ヘッドレスBI）の併用論。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515600" y="287121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P.6–7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493008"/>
            <a:ext cx="11430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493008"/>
            <a:ext cx="73152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493008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280160" y="35295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2：メタデータ管理層（DataHub）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80160" y="379476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ビジネスメタデータ／技術メタデータの統合、リネージ自動可視化、dbt連携によるSSoT化。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515600" y="349300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P.8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4114800"/>
            <a:ext cx="11430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14800"/>
            <a:ext cx="73152" cy="566928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11480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280160" y="4151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3：アクセス・ユーザビリティ層（サンドボックス／権限）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280160" y="441655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Trino + Lake Formationによる「自由と統制」を両立する分析環境の設計。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515600" y="411480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P.9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4736592"/>
            <a:ext cx="11430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736592"/>
            <a:ext cx="73152" cy="566928"/>
          </a:xfrm>
          <a:prstGeom prst="rect">
            <a:avLst/>
          </a:prstGeom>
          <a:solidFill>
            <a:srgbClr val="6D4C7A"/>
          </a:solidFill>
          <a:ln w="12700">
            <a:solidFill>
              <a:srgbClr val="6D4C7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473659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4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1280160" y="4773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4：技術スタック統合マッピング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280160" y="5038344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ストレージ／フォーマット／クエリ／カタログ／BIまでのエンドツーエンド技術構成。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515600" y="473659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5760" y="5358384"/>
            <a:ext cx="11430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" y="5358384"/>
            <a:ext cx="73152" cy="566928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5358384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1280160" y="5394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データ処理フローとQuery Federation対応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280160" y="5660136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物理統合／論理統合のいずれにおいても共通する「Viewを介したアクセス」の原則。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0515600" y="535838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P.11–12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65760" y="5980176"/>
            <a:ext cx="11430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5760" y="5980176"/>
            <a:ext cx="73152" cy="566928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" y="5980176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1280160" y="60167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実現される効果・期待されるアウトカム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280160" y="6281928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ロジカルSSoT、Zero SQL、ガバナンス、コスト最適化の4軸での効果まとめ。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10515600" y="598017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P.13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74320" y="6629400"/>
            <a:ext cx="1161288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目次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589520" y="66568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 /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課題認識：なぜセマンティック基盤が必要か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「データはあるのに、誰も同じ数字に辿り着けない」── セルフサービスを阻む4つの構造的課題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56235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73152" cy="2331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6128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属人的なSQLによる解釈の揺れ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554480"/>
            <a:ext cx="516636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45920"/>
            <a:ext cx="5257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「売上」の定義が部門ごとに異なる（税込／税抜、キャンセル含む／含まない）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同じKPIでもアナリストごとに違うSQLを書き、結果が一致しない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JOIN条件やフィルタの差異が「数字が合わない」を恒常化させる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051560"/>
            <a:ext cx="56235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051560"/>
            <a:ext cx="73152" cy="233172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16128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サイレントエラー（計算破壊）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1554480"/>
            <a:ext cx="516636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645920"/>
            <a:ext cx="5257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BIツール上で誤ったJOINを行い、明細が重複しても誰も気付かない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事前集計をスキップして粒度の異なるテーブルを直接結合する事故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ダッシュボードの数値が「それらしく見える」ことが最大のリスク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56235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520440"/>
            <a:ext cx="73152" cy="2331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63016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コンテキスト（意味・由来）の喪失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023360"/>
            <a:ext cx="516636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114800"/>
            <a:ext cx="5257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テーブルやカラムの「正しい意味」がドキュメントに散逸している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リネージ（データの出所と流れ）が追えず、信頼できるか判断不能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問い合わせ → 担当者待ち → 利用断念のループが日常化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3520440"/>
            <a:ext cx="56235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3520440"/>
            <a:ext cx="73152" cy="2331720"/>
          </a:xfrm>
          <a:prstGeom prst="rect">
            <a:avLst/>
          </a:prstGeom>
          <a:solidFill>
            <a:srgbClr val="6D4C7A"/>
          </a:solidFill>
          <a:ln w="12700">
            <a:solidFill>
              <a:srgbClr val="6D4C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63016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ガバナンスと自由のトレードオフ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0" y="4023360"/>
            <a:ext cx="516636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114800"/>
            <a:ext cx="5257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PII・機密データの保護のため、結果として全員に「触らせない」運用に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サンドボックスがないため、試行錯誤が本番環境で行われリスク化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「守るために何も使えない」状態が、データ駆動文化を停滞させる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5989320"/>
            <a:ext cx="114300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59893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本基盤の解決方針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│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ユーザーと生データの間に「セマンティック層（dbt View）」と「メタデータ層（DataHub）」を必ず挟み、不確実性を排除する。さらに「権限制御＋サンドボックス」で自由と統制を両立する。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6629400"/>
            <a:ext cx="1161288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課題認識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589520" y="66568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 /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アーキテクチャ全体像：4層モデル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上位層ほどユーザーに近く、下位層ほど物理データに近い。各層は独立して進化可能・各層間は明示的なインターフェースで疎結合とする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194560" cy="5349240"/>
          </a:xfrm>
          <a:prstGeom prst="rect">
            <a:avLst/>
          </a:prstGeom>
          <a:solidFill>
            <a:srgbClr val="111A4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CONSUMERS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1965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ビジネスユーザー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（営業／企画／経営層）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データアナリスト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（自由分析・仮説検証）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BIツール / ダッシュボード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（Metabase, Superset 等）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外部API利用者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（プロダクト埋め込み）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5400000">
            <a:off x="2606040" y="3383280"/>
            <a:ext cx="320040" cy="640080"/>
          </a:xfrm>
          <a:prstGeom prst="rtTriangl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1051560"/>
            <a:ext cx="8686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1051560"/>
            <a:ext cx="118872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097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08960" y="14173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セマンティック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3484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セマンティックレイヤー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34840" y="1508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ユーザー向け「意味の翻訳層」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34840" y="1783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SQLでも正しい数字に辿り着ける論理View・メトリクス定義を提供する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0" y="1188720"/>
            <a:ext cx="2971800" cy="1005840"/>
          </a:xfrm>
          <a:prstGeom prst="rect">
            <a:avLst/>
          </a:prstGeom>
          <a:solidFill>
            <a:srgbClr val="F7F8FB"/>
          </a:solidFill>
          <a:ln w="6350">
            <a:solidFill>
              <a:srgbClr val="D6DB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0" y="125272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主要ツール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78240" y="149047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dbt（階層的View）／Cube（ヘッドレスBI）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08960" y="2377440"/>
            <a:ext cx="8686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08960" y="2377440"/>
            <a:ext cx="118872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2423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08960" y="274320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メタデータ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34840" y="2468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メタデータ管理層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34840" y="2834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意味・状態・系統の集約層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34840" y="3108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用語集、説明、タグ、リネージを集約し「このデータは何か」を即答できる状態に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686800" y="2514600"/>
            <a:ext cx="2971800" cy="1005840"/>
          </a:xfrm>
          <a:prstGeom prst="rect">
            <a:avLst/>
          </a:prstGeom>
          <a:solidFill>
            <a:srgbClr val="F7F8FB"/>
          </a:solidFill>
          <a:ln w="6350">
            <a:solidFill>
              <a:srgbClr val="D6DB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0" y="25786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主要ツール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778240" y="281635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DataHub（カタログ／リネージ／dbt連携）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08960" y="3703320"/>
            <a:ext cx="8686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08960" y="3703320"/>
            <a:ext cx="1188720" cy="128016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3749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108960" y="406908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アクセス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434840" y="3794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アクセス・ユーザビリティ層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34840" y="4160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安全な探索とセルフサービス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434840" y="44348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権限制御（行・列レベル）／サンドボックス／統合ポータルで「迷わず安全」を実現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686800" y="3840480"/>
            <a:ext cx="2971800" cy="1005840"/>
          </a:xfrm>
          <a:prstGeom prst="rect">
            <a:avLst/>
          </a:prstGeom>
          <a:solidFill>
            <a:srgbClr val="F7F8FB"/>
          </a:solidFill>
          <a:ln w="6350">
            <a:solidFill>
              <a:srgbClr val="D6DB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78240" y="390448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主要ツール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778240" y="414223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Lake Formation / Trino Workgroup / S3ライフサイクル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108960" y="5029200"/>
            <a:ext cx="8686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08960" y="5029200"/>
            <a:ext cx="1188720" cy="1280160"/>
          </a:xfrm>
          <a:prstGeom prst="rect">
            <a:avLst/>
          </a:prstGeom>
          <a:solidFill>
            <a:srgbClr val="6D4C7A"/>
          </a:solidFill>
          <a:ln w="12700">
            <a:solidFill>
              <a:srgbClr val="6D4C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0" y="5074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108960" y="539496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データ基盤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434840" y="5120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データ基盤・物理層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434840" y="5486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スケーラブルなデータ格納・実行基盤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434840" y="57607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オープンテーブルフォーマットによりベンダーロックを回避しつつ、高速分散クエリを実現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686800" y="5166360"/>
            <a:ext cx="2971800" cy="1005840"/>
          </a:xfrm>
          <a:prstGeom prst="rect">
            <a:avLst/>
          </a:prstGeom>
          <a:solidFill>
            <a:srgbClr val="F7F8FB"/>
          </a:solidFill>
          <a:ln w="6350">
            <a:solidFill>
              <a:srgbClr val="D6DB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778240" y="523036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主要ツール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778240" y="546811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/ Apache Iceberg / Trino / AWS Glue Data Catalog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65760" y="6309360"/>
            <a:ext cx="11430000" cy="29260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630936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設計原則：① 各層は疎結合（インターフェース＝SQL/API） ② 上位層のみがユーザーに公開される ③ 各層に対応するSME（Subject Matter Expert）を明確に定義する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6629400"/>
            <a:ext cx="1161288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アーキテクチャ全体像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589520" y="66568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 /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2-2. 全体構想図：縦のクエリフローと2つの横断レイヤー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ユーザーが触るのはセマンティック層（L1）。L1は基盤層（L4）にクエリを発行する。L2（メタデータ）とL3（アクセス制御）は両方ともL1・L4に並走する横断レイヤー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138160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【全体構想図】 縦フロー（クエリ実行経路）＋ 2つの横断レイヤー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786384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1600200"/>
            <a:ext cx="4663440" cy="594360"/>
          </a:xfrm>
          <a:prstGeom prst="rect">
            <a:avLst/>
          </a:prstGeom>
          <a:solidFill>
            <a:srgbClr val="111A40"/>
          </a:solidFill>
          <a:ln w="12700">
            <a:solidFill>
              <a:srgbClr val="111A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16459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エンドユーザー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94560" y="1911096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BIツール ／ アナリスト ／ 外部API利用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97680" y="2267712"/>
            <a:ext cx="274320" cy="201168"/>
          </a:xfrm>
          <a:prstGeom prst="downArrow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2677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クエリ発行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03120" y="2560320"/>
            <a:ext cx="46634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2560320"/>
            <a:ext cx="46634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0280" y="25603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1：セマンティックレイヤー（ユーザー接点）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40280" y="3035808"/>
            <a:ext cx="2125980" cy="804672"/>
          </a:xfrm>
          <a:prstGeom prst="rect">
            <a:avLst/>
          </a:prstGeom>
          <a:solidFill>
            <a:srgbClr val="F7F8FB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3081528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3355848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階層的View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（基盤View → 集計View）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03420" y="3035808"/>
            <a:ext cx="2125980" cy="804672"/>
          </a:xfrm>
          <a:prstGeom prst="rect">
            <a:avLst/>
          </a:prstGeom>
          <a:solidFill>
            <a:srgbClr val="F7F8FB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03420" y="3081528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49140" y="3355848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ヘッドレスBI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メトリクス集中管理・API化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97680" y="4005072"/>
            <a:ext cx="274320" cy="201168"/>
          </a:xfrm>
          <a:prstGeom prst="downArrow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4005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物理読み取り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103120" y="4297680"/>
            <a:ext cx="46634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D4C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03120" y="4297680"/>
            <a:ext cx="4663440" cy="347472"/>
          </a:xfrm>
          <a:prstGeom prst="rect">
            <a:avLst/>
          </a:prstGeom>
          <a:solidFill>
            <a:srgbClr val="6D4C7A"/>
          </a:solidFill>
          <a:ln w="12700">
            <a:solidFill>
              <a:srgbClr val="6D4C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40280" y="42976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4：基盤コンポーネント（Storage / Compute）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377440" y="4800600"/>
            <a:ext cx="1280160" cy="749808"/>
          </a:xfrm>
          <a:prstGeom prst="rect">
            <a:avLst/>
          </a:prstGeom>
          <a:solidFill>
            <a:srgbClr val="F7F8FB"/>
          </a:solidFill>
          <a:ln w="9525">
            <a:solidFill>
              <a:srgbClr val="6D4C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77440" y="48554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77440" y="51846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オブジェクトストア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62172" y="5093208"/>
            <a:ext cx="128016" cy="164592"/>
          </a:xfrm>
          <a:prstGeom prst="rightArrow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94760" y="4800600"/>
            <a:ext cx="1280160" cy="749808"/>
          </a:xfrm>
          <a:prstGeom prst="rect">
            <a:avLst/>
          </a:prstGeom>
          <a:solidFill>
            <a:srgbClr val="F7F8FB"/>
          </a:solidFill>
          <a:ln w="9525">
            <a:solidFill>
              <a:srgbClr val="6D4C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94760" y="48554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94760" y="51846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テーブルフォーマット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079492" y="5093208"/>
            <a:ext cx="128016" cy="164592"/>
          </a:xfrm>
          <a:prstGeom prst="rightArrow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12080" y="4800600"/>
            <a:ext cx="1280160" cy="749808"/>
          </a:xfrm>
          <a:prstGeom prst="rect">
            <a:avLst/>
          </a:prstGeom>
          <a:solidFill>
            <a:srgbClr val="F7F8FB"/>
          </a:solidFill>
          <a:ln w="9525">
            <a:solidFill>
              <a:srgbClr val="6D4C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48554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51846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クエリエンジン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48640" y="2560320"/>
            <a:ext cx="1371600" cy="310896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26700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29260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アクセス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制御層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31520" y="3657600"/>
            <a:ext cx="100584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37307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Formation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48640" y="4005072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行・列レベル</a:t>
            </a:r>
            <a:endParaRPr lang="en-US" sz="8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ABAC判定</a:t>
            </a:r>
            <a:endParaRPr lang="en-US" sz="8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PIIマスク</a:t>
            </a:r>
            <a:endParaRPr lang="en-US" sz="8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監査ログ</a:t>
            </a:r>
            <a:endParaRPr lang="en-US" sz="8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サンドボックス</a:t>
            </a:r>
            <a:endParaRPr lang="en-US" sz="8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ポータル/FAQ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903720" y="2560320"/>
            <a:ext cx="1417320" cy="3108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03720" y="267004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03720" y="29260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メタデータ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管理層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7086600" y="3657600"/>
            <a:ext cx="105156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03720" y="37307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903720" y="4005072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リネージ</a:t>
            </a:r>
            <a:endParaRPr lang="en-US" sz="8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用語集</a:t>
            </a:r>
            <a:endParaRPr lang="en-US" sz="8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オーナー</a:t>
            </a:r>
            <a:endParaRPr lang="en-US" sz="8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鮮度SLA</a:t>
            </a:r>
            <a:endParaRPr lang="en-US" sz="8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テスト結果</a:t>
            </a:r>
            <a:endParaRPr lang="en-US" sz="8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PIIタグ定義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938528" y="3246120"/>
            <a:ext cx="146304" cy="0"/>
          </a:xfrm>
          <a:prstGeom prst="line">
            <a:avLst/>
          </a:prstGeom>
          <a:noFill/>
          <a:ln w="19050">
            <a:solidFill>
              <a:srgbClr val="2C6E49"/>
            </a:solidFill>
            <a:prstDash val="dash"/>
            <a:headEnd type="triangl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6784848" y="3246120"/>
            <a:ext cx="100584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dash"/>
            <a:headEnd type="triangl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1938528" y="4983480"/>
            <a:ext cx="146304" cy="0"/>
          </a:xfrm>
          <a:prstGeom prst="line">
            <a:avLst/>
          </a:prstGeom>
          <a:noFill/>
          <a:ln w="19050">
            <a:solidFill>
              <a:srgbClr val="2C6E49"/>
            </a:solidFill>
            <a:prstDash val="dash"/>
            <a:headEnd type="triangl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6784848" y="4983480"/>
            <a:ext cx="100584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dash"/>
            <a:headEnd type="triangl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548640" y="6080760"/>
            <a:ext cx="7772400" cy="320040"/>
          </a:xfrm>
          <a:prstGeom prst="rect">
            <a:avLst/>
          </a:prstGeom>
          <a:solidFill>
            <a:srgbClr val="F7F8FB"/>
          </a:solidFill>
          <a:ln w="6350">
            <a:solidFill>
              <a:srgbClr val="D6DBE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" y="60807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</a:t>
            </a:r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縦のクエリフロー（ユーザー → L1 → L4）</a:t>
            </a:r>
            <a:pPr indent="0" marL="0">
              <a:buNone/>
            </a:pPr>
            <a:r>
              <a:rPr lang="en-US" sz="10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⇔ </a:t>
            </a:r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L3が横から権限制御</a:t>
            </a:r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⇔ </a:t>
            </a:r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L2が横からメタデータ供給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641080" y="1005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正しい4層モデルの読み方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8641080" y="1417320"/>
            <a:ext cx="3246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641080" y="1417320"/>
            <a:ext cx="73152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778240" y="150876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縦フロー：ユーザー → L1 → L4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778240" y="1856232"/>
            <a:ext cx="2971800" cy="0"/>
          </a:xfrm>
          <a:prstGeom prst="line">
            <a:avLst/>
          </a:prstGeom>
          <a:noFill/>
          <a:ln w="6350">
            <a:solidFill>
              <a:srgbClr val="D6DBE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823960" y="19202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ユーザーが直接触るのはL1（dbt View / Cube API）。L1の定義がL4の物理データにクエリを発行する。L1とL4の2段が「クエリ実行経路」。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8641080" y="2898648"/>
            <a:ext cx="3246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641080" y="2898648"/>
            <a:ext cx="73152" cy="14173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778240" y="29900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横断 ①：Layer 3（アクセス制御）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778240" y="3337560"/>
            <a:ext cx="2971800" cy="0"/>
          </a:xfrm>
          <a:prstGeom prst="line">
            <a:avLst/>
          </a:prstGeom>
          <a:noFill/>
          <a:ln w="6350">
            <a:solidFill>
              <a:srgbClr val="D6DBE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823960" y="340156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L3は縦フローの1段ではなく、L1へのアクセスとL4の読み取りを横から統制する。クエリ実行時にLake Formationが介入し、行・列レベルで認可判定する。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641080" y="4379976"/>
            <a:ext cx="3246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41080" y="4379976"/>
            <a:ext cx="73152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778240" y="447141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横断 ②：Layer 2（メタデータ）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778240" y="4818888"/>
            <a:ext cx="2971800" cy="0"/>
          </a:xfrm>
          <a:prstGeom prst="line">
            <a:avLst/>
          </a:prstGeom>
          <a:noFill/>
          <a:ln w="6350">
            <a:solidFill>
              <a:srgbClr val="D6DBE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823960" y="4882896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L2もまた横断レイヤー。L1のView定義・テスト結果、L4のテーブル定義・鮮度をDataHubに集約し、ユーザー・L3・L1・L4の全てに供給する。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8641080" y="5943600"/>
            <a:ext cx="324612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778240" y="59893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本質：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縦は「クエリの流れ」、横は「ガードレールと文脈の供給」。レイヤーを積層図で描く慣習が、この構造を見えにくくしている。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274320" y="6629400"/>
            <a:ext cx="1161288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全体構想図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7589520" y="66568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 /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Layer 1：セマンティックレイヤー（階層的View設計）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生データを直接見せず、用途別に「意味付け済みの仮想テーブル（View）」を被せる。dbtで定義・テスト・バージョン管理する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3-1. 階層的Viewアーキテクチャ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64008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08760"/>
            <a:ext cx="73152" cy="868680"/>
          </a:xfrm>
          <a:prstGeom prst="rect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45920"/>
            <a:ext cx="411480" cy="411480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158191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0：物理データ（生データ／ステージング）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85623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Iceberg に格納された生のソースデータ。ユーザーアクセス禁止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210312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raw.orders / raw.users / raw.products（システム単位の生テーブル）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64008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468880"/>
            <a:ext cx="73152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60604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254203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1：Analytics Base View（基盤View）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81635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明細粒度。ドメイン知識・計算ロジックを強制的に組み込んだ「正しい明細」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51560" y="30632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analytics.fct_order_lines（売上＝単価×個数＋税−割引、キャンセル除外済）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520440"/>
            <a:ext cx="64008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520440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51560" y="359359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2：Aggregated View（集計View）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386791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日次／月次／部門別など、ダッシュボードで直接使える集計済データ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41148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analytics.agg_daily_sales_by_store（日×店舗×売上カテゴリで事前集計）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572000"/>
            <a:ext cx="64008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572000"/>
            <a:ext cx="73152" cy="86868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709160"/>
            <a:ext cx="411480" cy="411480"/>
          </a:xfrm>
          <a:prstGeom prst="ellips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51560" y="464515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3：BIツール／API利用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51560" y="491947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ユーザーはStage 1–2のみアクセス可。Stage 0には絶対に触らせない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51560" y="516636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Metabase / Superset / Tableau / Cube REST API / GraphQL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49808" y="2340864"/>
            <a:ext cx="274320" cy="164592"/>
          </a:xfrm>
          <a:prstGeom prst="downArrow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" y="3392424"/>
            <a:ext cx="274320" cy="164592"/>
          </a:xfrm>
          <a:prstGeom prst="downArrow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" y="4443984"/>
            <a:ext cx="274320" cy="164592"/>
          </a:xfrm>
          <a:prstGeom prst="downArrow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1051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3-2. 設計上のキーポイント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949440" y="1508760"/>
            <a:ext cx="48463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49440" y="1508760"/>
            <a:ext cx="73152" cy="1188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408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498080" y="1600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ユーザーには Stage 1–2 のみ公開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498080" y="19202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FormationでStage 0は完全に遮断。BIツール／ユーザーロールには Stage 1–2 への SELECT のみ付与する。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49440" y="2752344"/>
            <a:ext cx="48463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49440" y="2752344"/>
            <a:ext cx="73152" cy="1188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40880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7498080" y="284378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全Viewは dbt でコード管理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498080" y="316382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SQLはGit管理し、PR レビュー・テスト（NOT NULL／UNIQUE／参照整合性）を必須化。誤った定義の混入を構造的に防ぐ。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949440" y="3995928"/>
            <a:ext cx="48463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949440" y="3995928"/>
            <a:ext cx="73152" cy="1188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4088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7498080" y="40873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ドメイン知識は基盤Viewで一元化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498080" y="440740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「売上」「アクティブユーザー」等の組織共通定義は基盤Viewに固定。下流では再定義しない（再定義検出のテストも実装）。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949440" y="5239512"/>
            <a:ext cx="48463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49440" y="5239512"/>
            <a:ext cx="73152" cy="1188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40880" y="5330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7498080" y="5330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Cube（ヘッドレスBI）の併用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498080" y="565099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BIツールが異なってもメトリクス定義を一意に保つため、dbt の上に Cube を被せて API化することで Zero SQL を実現する。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74320" y="6629400"/>
            <a:ext cx="1161288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Layer 1：セマンティックレイヤー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589520" y="66568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 /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Layer 1：セマンティックレイヤー（基盤View vs 集計View の具体例）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「同じ売上を見ても粒度・用途が違う」── 二段階のViewで責務を明確に分離する設計思想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571500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73152" cy="5212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51560"/>
            <a:ext cx="5715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51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Base View（基盤View）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最も細かい粒度（明細レベル）。ただしビジネスルールはコードに焼き付け済み。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役割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25856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「会社として正しい売上の明細」を一意に提供する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ドメイン知識（税込／割引／キャンセル除外）を内包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解釈の揺れを排除する「組織のルール」のコード化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154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SQL例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5486400" cy="1737360"/>
          </a:xfrm>
          <a:prstGeom prst="rect">
            <a:avLst/>
          </a:prstGeom>
          <a:solidFill>
            <a:srgbClr val="111A40"/>
          </a:solidFill>
          <a:ln w="12700">
            <a:solidFill>
              <a:srgbClr val="111A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474720"/>
            <a:ext cx="5257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FCB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analytics.fct_order_lines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o.order_id,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o.order_date,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o.product_id,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(o.unit_price * o.qty - o.discount)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 (1 + t.tax_rate) AS sales_amt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raw.orders o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raw.tax t ON o.region = t.region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o.status != 'cancelled'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5257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利用シーン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51383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自由分析・特定顧客の深掘り・アドホック調査。アナリストやデータサイエンティストが「正しい明細」を起点に再集計する場合に利用。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0" y="1051560"/>
            <a:ext cx="553212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051560"/>
            <a:ext cx="73152" cy="5212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1051560"/>
            <a:ext cx="55321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0515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Aggregated View（集計View）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46520" y="1645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基盤Viewを起点に、日次・月次・部門別等で事前集計したダッシュボード直結のデータ。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46520" y="2011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役割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2258568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BIで「JOINもGROUP BYも不要」な状態で提供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重複カウント等のサイレントエラーを構造的に防止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ダッシュボードの表示速度の最適化にも寄与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3154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SQL例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46520" y="3429000"/>
            <a:ext cx="5303520" cy="1737360"/>
          </a:xfrm>
          <a:prstGeom prst="rect">
            <a:avLst/>
          </a:prstGeom>
          <a:solidFill>
            <a:srgbClr val="111A40"/>
          </a:solidFill>
          <a:ln w="12700">
            <a:solidFill>
              <a:srgbClr val="111A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474720"/>
            <a:ext cx="5074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FCB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analytics.agg_daily_sales_by_store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order_date,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store_id,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SUM(sales_amt) AS daily_sales,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COUNT(DISTINCT order_id) AS orders,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COUNT(DISTINCT user_id) AS uu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analytics.fct_order_lines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1, 2, 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5257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利用シーン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5513832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経営ダッシュボード／日次・月次レポート／部門KPIモニタリング。基本的に全てのBIダッシュボードはこの層に接続する。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6355080"/>
            <a:ext cx="11430000" cy="2286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3550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基盤View ＝「正しさの源泉」 ／ 集計View ＝「使いやすさの提供」。両者を分離することで、定義変更時の影響範囲を局所化できる。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6629400"/>
            <a:ext cx="1161288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Layer 1：基盤View / 集計View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589520" y="66568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 /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Layer 2：メタデータ管理層（DataHub × dbt 連携）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「このデータは何か／いつ更新／信じてよいか」── データに関する全ての文脈をDataHubに集約しSSoT化する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4-1. DataHubに集約される3種のメタデータ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3703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17320"/>
            <a:ext cx="73152" cy="2331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17320"/>
            <a:ext cx="3703320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173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ビジネスメタデータ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69164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意味・定義・オーナーシップ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011680"/>
            <a:ext cx="3337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ビジネス用語集（売上、ARR、MAU等の定義）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テーブル／カラムの日本語説明（dbt yaml由来）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オーナー・SME（責任者）の明示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タグ（PII／機密区分／公開可否）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0" y="1417320"/>
            <a:ext cx="3703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1417320"/>
            <a:ext cx="73152" cy="2331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1417320"/>
            <a:ext cx="37033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14173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技術メタデータ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0" y="169164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スキーマ・ロケーション・形式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34840" y="2011680"/>
            <a:ext cx="3337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テーブル／カラム定義、データ型、制約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格納先（S3パス、Icebergスナップショット）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クエリエンジン（Trino接続情報）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テスト結果（dbt test の合否履歴）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0" y="1417320"/>
            <a:ext cx="3703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1417320"/>
            <a:ext cx="73152" cy="23317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1417320"/>
            <a:ext cx="3703320" cy="5029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14173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運用メタデータ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0" y="169164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更新時刻・系統・利用状況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75320" y="2011680"/>
            <a:ext cx="3337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リネージ（dbtから自動取り込み）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最終更新日時、ジョブ実行履歴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クエリ利用統計（Trinoログ由来）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鮮度SLA（Freshness）の合否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93192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4-2. dbt → DataHub 連携によるドキュメントの自動同期フロー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65760" y="4434840"/>
            <a:ext cx="21031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434840"/>
            <a:ext cx="731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526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dbtプロジェクト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50292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model定義／schema.yml にカラム説明・テスト・メタ情報を記述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 rot="5400000">
            <a:off x="2487168" y="5029200"/>
            <a:ext cx="182880" cy="182880"/>
          </a:xfrm>
          <a:prstGeom prst="rtTriangle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97480" y="4434840"/>
            <a:ext cx="21031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97480" y="4434840"/>
            <a:ext cx="731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88920" y="4526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 run / test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834640" y="50292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View・Tableの生成。manifest.json・catalog.json を自動出力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 rot="5400000">
            <a:off x="4818888" y="5029200"/>
            <a:ext cx="182880" cy="182880"/>
          </a:xfrm>
          <a:prstGeom prst="rtTriangle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0" y="4434840"/>
            <a:ext cx="21031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0" y="4434840"/>
            <a:ext cx="73152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4526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DataHub Ingestion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66360" y="50292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artifacts と Trino のスキーマを読み取り、エンティティ化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 rot="5400000">
            <a:off x="7150608" y="5029200"/>
            <a:ext cx="182880" cy="182880"/>
          </a:xfrm>
          <a:prstGeom prst="rtTriangle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60920" y="4434840"/>
            <a:ext cx="21031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60920" y="4434840"/>
            <a:ext cx="73152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52360" y="4526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DataHub UI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498080" y="50292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テーブル説明／オーナー／リネージ／テスト結果を統合表示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 rot="5400000">
            <a:off x="9482328" y="5029200"/>
            <a:ext cx="182880" cy="182880"/>
          </a:xfrm>
          <a:prstGeom prst="rtTriangle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92640" y="4434840"/>
            <a:ext cx="21031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692640" y="4434840"/>
            <a:ext cx="73152" cy="137160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784080" y="4526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ユーザー利用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829800" y="50292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BI利用前にDataHubで意味と信頼性を確認 → セルフサービス成立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65760" y="5989320"/>
            <a:ext cx="11430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5989320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DataHub × dbt の連携効果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ドキュメントのSSoT化（dbt yamlを書けばDataHubに自動反映）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② リネージの自動可視化（クエリフェデレーション環境でも依存先を網羅）  ③ テスト結果と鮮度をDataHubで一元監視 → ユーザーは「信頼性付きカタログ」を参照できる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74320" y="6629400"/>
            <a:ext cx="1161288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Layer 2：メタデータ管理層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589520" y="66568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 /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Layer 3：アクセス・ユーザビリティ層（権限制御・サンドボックス）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サンドボックスは「専用ツール」ではなく、S3 + Trino + Lake Formation を組み合わせて『安全な分析専用領域』として構成する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5-1. サンドボックスは「3つの既存コンポーネントの組み合わせ」で実現する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370332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17320"/>
            <a:ext cx="73152" cy="260604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17320"/>
            <a:ext cx="3703320" cy="64008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ストレージ層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7190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S3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21031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サンドボックス専用バケット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423160"/>
            <a:ext cx="3337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本番領域とは別バケット／別プレフィックス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S3ライフサイクルルールで一定期間後（例：30日）に自動削除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コスト無秩序拡大を物理的に防止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0" y="1417320"/>
            <a:ext cx="370332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1417320"/>
            <a:ext cx="73152" cy="2606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1417320"/>
            <a:ext cx="370332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14630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クエリ実行層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17190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Trino / Athena Workgroup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89120" y="21031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計算リソースの論理分離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34840" y="2423160"/>
            <a:ext cx="3337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サンドボックス専用ワークグループでCPU上限を設定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CTAS（Create Table As Select）でユーザー自身がテーブル作成可能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重いクエリが本番ダッシュボードに波及しない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46720" y="1417320"/>
            <a:ext cx="370332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1417320"/>
            <a:ext cx="73152" cy="26060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1417320"/>
            <a:ext cx="3703320" cy="6400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14630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権限制御層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17190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Lake Formation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0" y="21031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属性ベースアクセス制御（ABAC）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75320" y="2423160"/>
            <a:ext cx="3337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本番View：SELECTのみ／生データ：完全遮断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サンドボックス領域：CREATE / WRITE / DROP 全権限付与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PIIタグ付きカラムは行・列レベルで自動マスク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2062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5-2. サンドボックス構成のアーキテクチャ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57200" y="4937760"/>
            <a:ext cx="1097280" cy="10972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937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アナリスト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データサイエンティスト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920240" y="4617720"/>
            <a:ext cx="1828800" cy="822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20240" y="4617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Formation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（権限制御）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920240" y="5532120"/>
            <a:ext cx="18288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20240" y="5532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（Sandbox WG）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 rot="5400000">
            <a:off x="1600200" y="5349240"/>
            <a:ext cx="228600" cy="274320"/>
          </a:xfrm>
          <a:prstGeom prst="rtTriangle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0" y="4617720"/>
            <a:ext cx="34747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0" y="4663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 S3 + Iceberg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14800" y="49560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基盤View / 集計View（SELECT のみ）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0" y="5532120"/>
            <a:ext cx="34747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2C6E49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4114800" y="5577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S3 Bucket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0" y="58521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CTAS許可 / 30日後 自動削除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 rot="5400000">
            <a:off x="3794760" y="4892040"/>
            <a:ext cx="228600" cy="274320"/>
          </a:xfrm>
          <a:prstGeom prst="rtTriangle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5400000">
            <a:off x="3794760" y="5806440"/>
            <a:ext cx="228600" cy="274320"/>
          </a:xfrm>
          <a:prstGeom prst="rtTriangle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72400" y="4617720"/>
            <a:ext cx="4023360" cy="1737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09560" y="46817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運用ルール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955280" y="498348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本番データへの書き込み権限は付与しない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サンドボックスではユーザー名スキーマで分離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カラムはタグ経由で自動マスク（ABAC）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ライフサイクルにより放置データを定期削除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6629400"/>
            <a:ext cx="1161288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Layer 3：アクセス・サンドボックス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589520" y="66568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 /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Layer 4：技術スタック統合マッピング（End-to-End）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ストレージからBIまで、各機能を担う具体的なOSS／マネージドサービスを一覧化する。代替候補と採用理由も併記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11430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レイヤー / 機能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1051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採用ツール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051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0" y="1051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代替候補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332720" y="10515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採用理由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554480"/>
            <a:ext cx="11430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554480"/>
            <a:ext cx="73152" cy="502920"/>
          </a:xfrm>
          <a:prstGeom prst="rect">
            <a:avLst/>
          </a:prstGeom>
          <a:solidFill>
            <a:srgbClr val="6D4C7A"/>
          </a:solidFill>
          <a:ln w="12700">
            <a:solidFill>
              <a:srgbClr val="6D4C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554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4：ストレージ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97480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1554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データの実体保存。安価・耐久性高・他サービス連携豊富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732520" y="1554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/ ADLS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378440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AWSスタック整合性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057400"/>
            <a:ext cx="11430000" cy="502920"/>
          </a:xfrm>
          <a:prstGeom prst="rect">
            <a:avLst/>
          </a:prstGeom>
          <a:solidFill>
            <a:srgbClr val="F7F8FB"/>
          </a:solidFill>
          <a:ln w="6350">
            <a:solidFill>
              <a:srgbClr val="D6DB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057400"/>
            <a:ext cx="73152" cy="502920"/>
          </a:xfrm>
          <a:prstGeom prst="rect">
            <a:avLst/>
          </a:prstGeom>
          <a:solidFill>
            <a:srgbClr val="6D4C7A"/>
          </a:solidFill>
          <a:ln w="12700">
            <a:solidFill>
              <a:srgbClr val="6D4C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057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4：テーブル形式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97480" y="2057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Iceberg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2057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ACID／スキーマ進化／タイムトラベル／パーティション進化を提供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732520" y="2057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/ Hudi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37844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ベンダー中立・成熟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560320"/>
            <a:ext cx="11430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560320"/>
            <a:ext cx="73152" cy="502920"/>
          </a:xfrm>
          <a:prstGeom prst="rect">
            <a:avLst/>
          </a:prstGeom>
          <a:solidFill>
            <a:srgbClr val="6D4C7A"/>
          </a:solidFill>
          <a:ln w="12700">
            <a:solidFill>
              <a:srgbClr val="6D4C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560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4：メタストア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97480" y="2560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 Catalog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25603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テーブル定義の管理。Iceberg REST Catalog も併用可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732520" y="2560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Catalog / Hive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378440" y="2560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マネージド運用負荷小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063240"/>
            <a:ext cx="11430000" cy="502920"/>
          </a:xfrm>
          <a:prstGeom prst="rect">
            <a:avLst/>
          </a:prstGeom>
          <a:solidFill>
            <a:srgbClr val="F7F8FB"/>
          </a:solidFill>
          <a:ln w="6350">
            <a:solidFill>
              <a:srgbClr val="D6DB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063240"/>
            <a:ext cx="73152" cy="502920"/>
          </a:xfrm>
          <a:prstGeom prst="rect">
            <a:avLst/>
          </a:prstGeom>
          <a:solidFill>
            <a:srgbClr val="6D4C7A"/>
          </a:solidFill>
          <a:ln w="12700">
            <a:solidFill>
              <a:srgbClr val="6D4C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4：クエリエンジン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97480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0600" y="3063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高速分散クエリ／Federation／多データソース統合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732520" y="3063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/ Presto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378440" y="3063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OSS・拡張性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3566160"/>
            <a:ext cx="11430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3566160"/>
            <a:ext cx="731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3566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1：データ変換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697480" y="3566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00600" y="35661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階層的View定義／テスト／バージョン管理（SQL as Code）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732520" y="3566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SQLMesh / Dataform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378440" y="3566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業界標準・コミュニティ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4069080"/>
            <a:ext cx="11430000" cy="502920"/>
          </a:xfrm>
          <a:prstGeom prst="rect">
            <a:avLst/>
          </a:prstGeom>
          <a:solidFill>
            <a:srgbClr val="F7F8FB"/>
          </a:solidFill>
          <a:ln w="6350">
            <a:solidFill>
              <a:srgbClr val="D6DB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" y="4069080"/>
            <a:ext cx="731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069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1：セマンティック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697480" y="4069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Cube（ヘッドレスBI）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00600" y="4069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メトリクス・次元の集中管理／API（REST/GraphQL/SQL）化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732520" y="4069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Lightdash / MetricFlow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378440" y="4069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SQL実現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65760" y="4572000"/>
            <a:ext cx="11430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5760" y="4572000"/>
            <a:ext cx="73152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2：メタデータ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697480" y="4572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800600" y="45720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ビジネス・技術・運用メタデータの統合カタログ／リネージ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732520" y="4572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OpenMetadata / Marquez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0378440" y="4572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dbt連携と検索性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65760" y="5074920"/>
            <a:ext cx="11430000" cy="502920"/>
          </a:xfrm>
          <a:prstGeom prst="rect">
            <a:avLst/>
          </a:prstGeom>
          <a:solidFill>
            <a:srgbClr val="F7F8FB"/>
          </a:solidFill>
          <a:ln w="6350">
            <a:solidFill>
              <a:srgbClr val="D6DBE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65760" y="5074920"/>
            <a:ext cx="73152" cy="5029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" y="5074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3：権限制御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2697480" y="5074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Lake Formation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800600" y="5074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行・列・タグレベルの細粒度ABAC／PII保護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732520" y="5074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Ranger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0378440" y="5074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S3/Glue統合済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5577840"/>
            <a:ext cx="11430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E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65760" y="5577840"/>
            <a:ext cx="73152" cy="5029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2920" y="5577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3：BI / 可視化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2697480" y="5577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Metabase / Superset / Tableau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800600" y="5577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セルフサービスダッシュボード／集計View直接利用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8732520" y="5577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/ Hex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10378440" y="5577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用途別に選択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365760" y="6263640"/>
            <a:ext cx="11430000" cy="320040"/>
          </a:xfrm>
          <a:prstGeom prst="rect">
            <a:avLst/>
          </a:prstGeom>
          <a:solidFill>
            <a:srgbClr val="6D4C7A"/>
          </a:solidFill>
          <a:ln w="12700">
            <a:solidFill>
              <a:srgbClr val="6D4C7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構成原則：Open Table Format（Iceberg）採用によりベンダーロックを回避。クエリエンジンとカタログを分離することで、将来的なエンジン切り替えにも対応可能なアーキテクチャとする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74320" y="6629400"/>
            <a:ext cx="1161288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技術スタック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7589520" y="66568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 /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データ処理フロー：生データからユーザー利用まで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→ Store → Transform → Catalog → Consume の5ステップに整理し、各ステップでの責務と利用ツールを明確化する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19456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2194560" cy="777240"/>
          </a:xfrm>
          <a:prstGeom prst="rect">
            <a:avLst/>
          </a:prstGeom>
          <a:solidFill>
            <a:srgbClr val="6D4C7A"/>
          </a:solidFill>
          <a:ln w="12700">
            <a:solidFill>
              <a:srgbClr val="6D4C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247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344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Ingest（取込）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1965960"/>
            <a:ext cx="772668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6D4C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65960"/>
            <a:ext cx="772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DMS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348740" y="1965960"/>
            <a:ext cx="850392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6D4C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48740" y="1965960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Fivetran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2313432"/>
            <a:ext cx="772668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6D4C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13432"/>
            <a:ext cx="772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Airbyte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2660904"/>
            <a:ext cx="1472184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6D4C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60904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 Firehose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333756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業務システム（RDS／SaaS／ログ）からS3への取込。CDC（変更データキャプチャ）とバッチを使い分け。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rot="5400000">
            <a:off x="2564892" y="3108960"/>
            <a:ext cx="109728" cy="274320"/>
          </a:xfrm>
          <a:prstGeom prst="rtTriangl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79192" y="1051560"/>
            <a:ext cx="219456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79192" y="1051560"/>
            <a:ext cx="2194560" cy="777240"/>
          </a:xfrm>
          <a:prstGeom prst="rect">
            <a:avLst/>
          </a:prstGeom>
          <a:solidFill>
            <a:srgbClr val="6D4C7A"/>
          </a:solidFill>
          <a:ln w="12700">
            <a:solidFill>
              <a:srgbClr val="6D4C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70632" y="11247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70632" y="1344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Store（蓄積）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816352" y="1965960"/>
            <a:ext cx="928116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6D4C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16352" y="1965960"/>
            <a:ext cx="928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816352" y="2313432"/>
            <a:ext cx="1316736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6D4C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16352" y="231343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Iceberg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816352" y="2660904"/>
            <a:ext cx="1161288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6D4C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16352" y="2660904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Catalog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816352" y="333756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raw／staging層としてS3上のIcebergテーブルに格納。スキーマ進化／タイムトラベル可。ユーザー直接アクセス禁止。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 rot="5400000">
            <a:off x="4878324" y="3108960"/>
            <a:ext cx="109728" cy="274320"/>
          </a:xfrm>
          <a:prstGeom prst="rtTriangl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92624" y="1051560"/>
            <a:ext cx="219456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92624" y="1051560"/>
            <a:ext cx="219456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84064" y="11247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84064" y="1344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Transform（変換）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129784" y="1965960"/>
            <a:ext cx="461772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9784" y="1965960"/>
            <a:ext cx="461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664708" y="1965960"/>
            <a:ext cx="617220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4708" y="1965960"/>
            <a:ext cx="617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Trino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129784" y="2313432"/>
            <a:ext cx="1316736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9784" y="231343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129784" y="333756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dbtで Analytics Base View → Aggregated View を構築。PR・テストを通った定義のみが本番に反映される。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 rot="5400000">
            <a:off x="7191756" y="3108960"/>
            <a:ext cx="109728" cy="274320"/>
          </a:xfrm>
          <a:prstGeom prst="rtTriangl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06056" y="1051560"/>
            <a:ext cx="219456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06056" y="1051560"/>
            <a:ext cx="219456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97496" y="11247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397496" y="1344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Catalog（カタログ化）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7443216" y="1965960"/>
            <a:ext cx="772668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43216" y="1965960"/>
            <a:ext cx="772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43216" y="2313432"/>
            <a:ext cx="1239012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43216" y="2313432"/>
            <a:ext cx="12390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artifacts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443216" y="2660904"/>
            <a:ext cx="1239012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43216" y="2660904"/>
            <a:ext cx="12390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Trino lineage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443216" y="333756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dbtのmanifestとTrinoのクエリ履歴をDataHubに取り込み、意味・系統・テスト結果を統合カタログ化。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 rot="5400000">
            <a:off x="9505188" y="3108960"/>
            <a:ext cx="109728" cy="274320"/>
          </a:xfrm>
          <a:prstGeom prst="rtTriangl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619488" y="1051560"/>
            <a:ext cx="219456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619488" y="1051560"/>
            <a:ext cx="2194560" cy="77724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710928" y="11247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710928" y="1344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Consume（活用）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9756648" y="1965960"/>
            <a:ext cx="850392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2C6E4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756648" y="1965960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Metabase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0680192" y="1965960"/>
            <a:ext cx="850392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2C6E4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680192" y="1965960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Superset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9756648" y="2313432"/>
            <a:ext cx="772668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2C6E4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756648" y="2313432"/>
            <a:ext cx="772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10602468" y="2313432"/>
            <a:ext cx="850392" cy="274320"/>
          </a:xfrm>
          <a:prstGeom prst="rect">
            <a:avLst/>
          </a:prstGeom>
          <a:solidFill>
            <a:srgbClr val="F7F8FB"/>
          </a:solidFill>
          <a:ln w="6350">
            <a:solidFill>
              <a:srgbClr val="2C6E4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602468" y="2313432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 API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9756648" y="333756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ユーザーはDataHubで意味確認 → BIで集計Viewを利用。サンドボックスでは基盤Viewを起点に自由分析。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65760" y="5623560"/>
            <a:ext cx="11430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2920" y="56875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による横断的リネージの可視化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raw.orders（生データ）</a:t>
            </a:r>
            <a:pPr indent="0" marL="0">
              <a:buNone/>
            </a:pPr>
            <a:r>
              <a:rPr lang="en-US" sz="1100" b="1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analytics.fct_order_lines（基盤View）</a:t>
            </a:r>
            <a:pPr indent="0" marL="0">
              <a:buNone/>
            </a:pPr>
            <a:r>
              <a:rPr lang="en-US" sz="1100" b="1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analytics.agg_daily_sales（集計View）</a:t>
            </a:r>
            <a:pPr indent="0" marL="0">
              <a:buNone/>
            </a:pPr>
            <a:r>
              <a:rPr lang="en-US" sz="1100" b="1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売上ダッシュボード（Metabase）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502920" y="632764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dbtが書き込んだmanifestとTrinoのクエリ履歴により、上記の依存関係はDataHub上で自動生成される。テーブル名・カラム名のクリックで上流／下流をシームレスに辿れる。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274320" y="6629400"/>
            <a:ext cx="1161288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データ処理フロー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589520" y="66568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 /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Query Federation（論理統合）への対応方針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物理的にデータをコピーしないFederationでも、設計思想は同一 ── 「ユーザーには必ずViewを介して提供する」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8-1. 物理統合（ETL）と論理統合（Federation）の比較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57150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17320"/>
            <a:ext cx="73152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物理統合（ETL／ELT）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Iceberg にデータを集約し、dbt で変換する従来型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9456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クエリ性能が安定（事前計算済み）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ソースシステムに負荷をかけない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履歴データの保持・タイムトラベル可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データの鮮度はバッチ間隔に依存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ストレージコスト・パイプライン管理工数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55321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417320"/>
            <a:ext cx="73152" cy="2286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508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論理統合（Query Federation）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18288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Trinoが各データソースに直接クエリを投げて結合する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46520" y="219456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データ移動不要・鮮度が高い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多様なソース横断分析が容易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パイプライン管理工数が低い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ソースシステム（RDS等）へ負荷波及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クエリ性能が変動／JOIN認知負荷大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88620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8-2. いずれの場合も、ユーザーにはdbtで作成したViewのみを公開する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" y="4297680"/>
            <a:ext cx="1280160" cy="640080"/>
          </a:xfrm>
          <a:prstGeom prst="rect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2976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（マスタ）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5120640"/>
            <a:ext cx="1280160" cy="640080"/>
          </a:xfrm>
          <a:prstGeom prst="rect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51206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（ログ）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5943600"/>
            <a:ext cx="1280160" cy="640080"/>
          </a:xfrm>
          <a:prstGeom prst="rect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5943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（CRM）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57400" y="4937760"/>
            <a:ext cx="210312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57400" y="49377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Trino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Federation Engine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664208" y="4617720"/>
            <a:ext cx="393192" cy="960120"/>
          </a:xfrm>
          <a:prstGeom prst="line">
            <a:avLst/>
          </a:prstGeom>
          <a:noFill/>
          <a:ln w="15240">
            <a:solidFill>
              <a:srgbClr val="5A637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664208" y="5440680"/>
            <a:ext cx="393192" cy="137160"/>
          </a:xfrm>
          <a:prstGeom prst="line">
            <a:avLst/>
          </a:prstGeom>
          <a:noFill/>
          <a:ln w="15240">
            <a:solidFill>
              <a:srgbClr val="5A637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664208" y="6263640"/>
            <a:ext cx="393192" cy="-685800"/>
          </a:xfrm>
          <a:prstGeom prst="line">
            <a:avLst/>
          </a:prstGeom>
          <a:noFill/>
          <a:ln w="15240">
            <a:solidFill>
              <a:srgbClr val="5A637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389120" y="4937760"/>
            <a:ext cx="219456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0" y="49377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 論理View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（基盤・集計）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 rot="5400000">
            <a:off x="4187952" y="5486400"/>
            <a:ext cx="182880" cy="228600"/>
          </a:xfrm>
          <a:prstGeom prst="rtTriangl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12280" y="4937760"/>
            <a:ext cx="1828800" cy="128016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49377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BIツール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ユーザー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 rot="5400000">
            <a:off x="6611112" y="5486400"/>
            <a:ext cx="182880" cy="228600"/>
          </a:xfrm>
          <a:prstGeom prst="rtTriangl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06840" y="4297680"/>
            <a:ext cx="278892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Federation時の重要対策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44000" y="4645152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頻繁参照Viewはマテリアライズ化（dbtでView→Tableに切替）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ソース負荷監視（Trino metrics）を必須化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ユーザーは生ソースに直接接続禁止（必ずdbt View経由）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DataHubでFederationリネージを自動可視化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6629400"/>
            <a:ext cx="1161288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Query Federation 対応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589520" y="66568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 /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実現される効果と期待されるアウトカム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本アーキテクチャによって達成される4つの主要アウトカム ── ガバナンスと自由を同時に実現する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56692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73152" cy="2468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554480" y="11612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ロジカルSSoT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15544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全KPIの定義が dbt View に集中管理される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BIツールが何であれ、参照先は同じViewに統一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「数字が部署で違う」が構造的に発生しない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2834640"/>
            <a:ext cx="5212080" cy="594360"/>
          </a:xfrm>
          <a:prstGeom prst="rect">
            <a:avLst/>
          </a:prstGeom>
          <a:solidFill>
            <a:srgbClr val="F7F8FB"/>
          </a:solidFill>
          <a:ln w="6350">
            <a:solidFill>
              <a:srgbClr val="D6DB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8529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定義の重複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30632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indent="0" marL="0">
              <a:buNone/>
            </a:pPr>
            <a:r>
              <a:rPr lang="en-US" sz="1300" b="1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   </a:t>
            </a:r>
            <a:pPr indent="0" marL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051560"/>
            <a:ext cx="56692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051560"/>
            <a:ext cx="73152" cy="2468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1430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7360920" y="11612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SQL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60920" y="15544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誰でも安全に正しい数字に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19202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 + 集計View により、SQL記述不要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ビジネスユーザーがGUIだけで自律的に分析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アナリストへの問い合わせ依存を大幅削減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0" y="2834640"/>
            <a:ext cx="5212080" cy="594360"/>
          </a:xfrm>
          <a:prstGeom prst="rect">
            <a:avLst/>
          </a:prstGeom>
          <a:solidFill>
            <a:srgbClr val="F7F8FB"/>
          </a:solidFill>
          <a:ln w="6350">
            <a:solidFill>
              <a:srgbClr val="D6DB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8529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アドホック問い合わせ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92240" y="30632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indent="0" marL="0">
              <a:buNone/>
            </a:pPr>
            <a:r>
              <a:rPr lang="en-US" sz="1300" b="1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150件/月</a:t>
            </a:r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   </a:t>
            </a:r>
            <a:pPr indent="0" marL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30件/月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56692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657600"/>
            <a:ext cx="73152" cy="2468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7490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1554480" y="37673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ガバナンス強化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554480" y="41605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PII保護・監査対応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45262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Formation で行・列レベルの細粒度制御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のリネージで全データの由来を追跡可能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監査ログがクエリエンジン・カタログ両面で取得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4360" y="5440680"/>
            <a:ext cx="5212080" cy="594360"/>
          </a:xfrm>
          <a:prstGeom prst="rect">
            <a:avLst/>
          </a:prstGeom>
          <a:solidFill>
            <a:srgbClr val="F7F8FB"/>
          </a:solidFill>
          <a:ln w="6350">
            <a:solidFill>
              <a:srgbClr val="D6DB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45896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監査対応工数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" y="56692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indent="0" marL="0">
              <a:buNone/>
            </a:pPr>
            <a:r>
              <a:rPr lang="en-US" sz="1300" b="1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週20h</a:t>
            </a:r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   </a:t>
            </a:r>
            <a:pPr indent="0" marL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週3h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3657600"/>
            <a:ext cx="56692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2200" y="3657600"/>
            <a:ext cx="73152" cy="246888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37490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400" dirty="0"/>
          </a:p>
        </p:txBody>
      </p:sp>
      <p:sp>
        <p:nvSpPr>
          <p:cNvPr id="36" name="Text 34"/>
          <p:cNvSpPr/>
          <p:nvPr/>
        </p:nvSpPr>
        <p:spPr>
          <a:xfrm>
            <a:off x="7360920" y="37673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コスト最適化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360920" y="41605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計算・ストレージの効率化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45262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集計Viewのマテリアライズ化でクエリコスト削減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サンドボックスのライフサイクル削除で無秩序蓄積を防止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のパーティション進化でフルスキャン回避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00800" y="5440680"/>
            <a:ext cx="5212080" cy="594360"/>
          </a:xfrm>
          <a:prstGeom prst="rect">
            <a:avLst/>
          </a:prstGeom>
          <a:solidFill>
            <a:srgbClr val="F7F8FB"/>
          </a:solidFill>
          <a:ln w="6350">
            <a:solidFill>
              <a:srgbClr val="D6DB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545896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月次クエリコスト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92240" y="56692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indent="0" marL="0">
              <a:buNone/>
            </a:pPr>
            <a:r>
              <a:rPr lang="en-US" sz="1300" b="1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pPr indent="0" marL="0">
              <a:buNone/>
            </a:pPr>
            <a:r>
              <a:rPr lang="en-US" sz="13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   </a:t>
            </a:r>
            <a:pPr indent="0" marL="0">
              <a:buNone/>
            </a:pPr>
            <a:r>
              <a:rPr lang="en-US" sz="11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pPr indent="0" marL="0">
              <a:buNone/>
            </a:pPr>
            <a:r>
              <a:rPr lang="en-US" sz="16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結論：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「裏側ではセマンティック層・メタデータ層・権限制御で高度にガバナンスされ、表側ではユーザーがGUIとカタログを通じて直感的かつ安全にデータを活用できる」── これがセルフサービス型データ基盤の到達点である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74320" y="6629400"/>
            <a:ext cx="1161288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効果・まとめ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589520" y="66568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 / 2026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1005840" cy="29260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45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初期検討時の全体構想図（参考・破棄案）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1161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【注意】本図はアクセス経路を「ユーザー → L3 → L1 → L4」と縦に積層して描いた初期版。本資料P.5（修正版）で示したとおり、実際の縦のクエリフローは「ユーザー → L1 → L4」であり、L3はL2と同じく横断レイヤー。本ページは検討経緯の記録として残す参考資料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138160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3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【初期版・破棄案】 自律的データ活用基盤の4層アーキテクチャ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786384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600200"/>
            <a:ext cx="6035040" cy="594360"/>
          </a:xfrm>
          <a:prstGeom prst="rect">
            <a:avLst/>
          </a:prstGeom>
          <a:solidFill>
            <a:srgbClr val="111A40"/>
          </a:solidFill>
          <a:ln w="12700">
            <a:solidFill>
              <a:srgbClr val="111A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60020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エンドユーザー（ビジネスユーザー／アナリスト／BIツール） ── GUIによるセルフサービス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2240280"/>
            <a:ext cx="274320" cy="182880"/>
          </a:xfrm>
          <a:prstGeom prst="downArrow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487168"/>
            <a:ext cx="60350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C6E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487168"/>
            <a:ext cx="6035040" cy="32004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48716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3：データアクセス・ユーザビリティ層（安全な探索／統制）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944368"/>
            <a:ext cx="1828800" cy="777240"/>
          </a:xfrm>
          <a:prstGeom prst="rect">
            <a:avLst/>
          </a:prstGeom>
          <a:solidFill>
            <a:srgbClr val="F7F8FB"/>
          </a:solidFill>
          <a:ln w="9525">
            <a:solidFill>
              <a:srgbClr val="2C6E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990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サンドボックス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26440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CTAS許可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30日後自動削除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28900" y="2944368"/>
            <a:ext cx="1828800" cy="777240"/>
          </a:xfrm>
          <a:prstGeom prst="rect">
            <a:avLst/>
          </a:prstGeom>
          <a:solidFill>
            <a:srgbClr val="F7F8FB"/>
          </a:solidFill>
          <a:ln w="9525">
            <a:solidFill>
              <a:srgbClr val="2C6E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28900" y="2990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アクセス制御 (ABAC)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74620" y="326440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Formation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行・列レベル制御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26280" y="2944368"/>
            <a:ext cx="1828800" cy="777240"/>
          </a:xfrm>
          <a:prstGeom prst="rect">
            <a:avLst/>
          </a:prstGeom>
          <a:solidFill>
            <a:srgbClr val="F7F8FB"/>
          </a:solidFill>
          <a:ln w="9525">
            <a:solidFill>
              <a:srgbClr val="2C6E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2990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ナビゲーション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326440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統合ポータル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FAQ・問い合わせ窓口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74720" y="3858768"/>
            <a:ext cx="274320" cy="182880"/>
          </a:xfrm>
          <a:prstGeom prst="downArrow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4105656"/>
            <a:ext cx="6035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4105656"/>
            <a:ext cx="60350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10565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1：セマンティックレイヤー(翻訳・不確実性排除）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447141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dbt：階層的View（基盤View → 集計View） ／ Cube：ヘッドレスBIによるメトリクス集中管理・API化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0" y="5020056"/>
            <a:ext cx="274320" cy="182880"/>
          </a:xfrm>
          <a:prstGeom prst="downArrow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5266944"/>
            <a:ext cx="60350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6D4C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5266944"/>
            <a:ext cx="6035040" cy="320040"/>
          </a:xfrm>
          <a:prstGeom prst="rect">
            <a:avLst/>
          </a:prstGeom>
          <a:solidFill>
            <a:srgbClr val="6D4C7A"/>
          </a:solidFill>
          <a:ln w="12700">
            <a:solidFill>
              <a:srgbClr val="6D4C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26694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4：基盤コンポーネント（Storage / Compute）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257300" y="5769864"/>
            <a:ext cx="1417320" cy="594360"/>
          </a:xfrm>
          <a:prstGeom prst="rect">
            <a:avLst/>
          </a:prstGeom>
          <a:solidFill>
            <a:srgbClr val="F7F8FB"/>
          </a:solidFill>
          <a:ln w="9525">
            <a:solidFill>
              <a:srgbClr val="6D4C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57300" y="57972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57300" y="60807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オブジェクトストア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697480" y="5984748"/>
            <a:ext cx="182880" cy="164592"/>
          </a:xfrm>
          <a:prstGeom prst="rightArrow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03220" y="5769864"/>
            <a:ext cx="1417320" cy="594360"/>
          </a:xfrm>
          <a:prstGeom prst="rect">
            <a:avLst/>
          </a:prstGeom>
          <a:solidFill>
            <a:srgbClr val="F7F8FB"/>
          </a:solidFill>
          <a:ln w="9525">
            <a:solidFill>
              <a:srgbClr val="6D4C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03220" y="57972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Iceberg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903220" y="60807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テーブルフォーマット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343400" y="5984748"/>
            <a:ext cx="182880" cy="164592"/>
          </a:xfrm>
          <a:prstGeom prst="rightArrow">
            <a:avLst/>
          </a:prstGeom>
          <a:solidFill>
            <a:srgbClr val="5A6378"/>
          </a:solidFill>
          <a:ln w="12700">
            <a:solidFill>
              <a:srgbClr val="5A637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49140" y="5769864"/>
            <a:ext cx="1417320" cy="594360"/>
          </a:xfrm>
          <a:prstGeom prst="rect">
            <a:avLst/>
          </a:prstGeom>
          <a:solidFill>
            <a:srgbClr val="F7F8FB"/>
          </a:solidFill>
          <a:ln w="9525">
            <a:solidFill>
              <a:srgbClr val="6D4C7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49140" y="57972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49140" y="60807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クエリエンジン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720840" y="1600200"/>
            <a:ext cx="1600200" cy="4901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20840" y="1737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720840" y="20116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メタデータ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管理層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949440" y="2880360"/>
            <a:ext cx="114300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20840" y="2971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720840" y="329184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リネージ</a:t>
            </a:r>
            <a:endParaRPr lang="en-US" sz="9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用語集</a:t>
            </a:r>
            <a:endParaRPr lang="en-US" sz="9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オーナー</a:t>
            </a:r>
            <a:endParaRPr lang="en-US" sz="9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鮮度SLA</a:t>
            </a:r>
            <a:endParaRPr lang="en-US" sz="9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テスト結果</a:t>
            </a:r>
            <a:endParaRPr lang="en-US" sz="9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PIIタグ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647688" y="3150108"/>
            <a:ext cx="54864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dash"/>
            <a:headEnd type="triangl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6647688" y="4539996"/>
            <a:ext cx="54864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dash"/>
            <a:headEnd type="triangl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6647688" y="5884164"/>
            <a:ext cx="54864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dash"/>
            <a:headEnd type="triangl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594360" y="6080760"/>
            <a:ext cx="7680960" cy="320040"/>
          </a:xfrm>
          <a:prstGeom prst="rect">
            <a:avLst/>
          </a:prstGeom>
          <a:solidFill>
            <a:srgbClr val="F7F8FB"/>
          </a:solidFill>
          <a:ln w="6350">
            <a:solidFill>
              <a:srgbClr val="D6DBE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" y="60807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</a:t>
            </a:r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アクセス経路（ユーザー → L3 → L1 → L4）※この縦積層は破棄</a:t>
            </a:r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⇔ </a:t>
            </a:r>
            <a:pPr indent="0" marL="0">
              <a:buNone/>
            </a:pPr>
            <a:r>
              <a:rPr lang="en-US" sz="100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メタデータ参照（L2は横断レイヤー）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641080" y="1005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各レイヤーから参照されるメタデータ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8641080" y="1417320"/>
            <a:ext cx="32461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641080" y="1417320"/>
            <a:ext cx="731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778240" y="14904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1（セマンティック層）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778240" y="1801368"/>
            <a:ext cx="2971800" cy="0"/>
          </a:xfrm>
          <a:prstGeom prst="line">
            <a:avLst/>
          </a:prstGeom>
          <a:noFill/>
          <a:ln w="6350">
            <a:solidFill>
              <a:srgbClr val="D6DBE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823960" y="18745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View定義・カラム説明（dbt yaml）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テスト結果／鮮度SLA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リネージ（上流テーブル依存）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8641080" y="2834640"/>
            <a:ext cx="32461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641080" y="2834640"/>
            <a:ext cx="73152" cy="137160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778240" y="29077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3（アクセス層）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778240" y="3218688"/>
            <a:ext cx="2971800" cy="0"/>
          </a:xfrm>
          <a:prstGeom prst="line">
            <a:avLst/>
          </a:prstGeom>
          <a:noFill/>
          <a:ln w="6350">
            <a:solidFill>
              <a:srgbClr val="D6DB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823960" y="32918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PII・機密タグ（ABAC判定用）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オーナー・所属組織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利用統計（アクセス頻度）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641080" y="4251960"/>
            <a:ext cx="32461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41080" y="4251960"/>
            <a:ext cx="73152" cy="1371600"/>
          </a:xfrm>
          <a:prstGeom prst="rect">
            <a:avLst/>
          </a:prstGeom>
          <a:solidFill>
            <a:srgbClr val="6D4C7A"/>
          </a:solidFill>
          <a:ln w="12700">
            <a:solidFill>
              <a:srgbClr val="6D4C7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778240" y="432511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4（基盤層）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8778240" y="4636008"/>
            <a:ext cx="2971800" cy="0"/>
          </a:xfrm>
          <a:prstGeom prst="line">
            <a:avLst/>
          </a:prstGeom>
          <a:noFill/>
          <a:ln w="6350">
            <a:solidFill>
              <a:srgbClr val="D6DBE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823960" y="47091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テーブル定義／物理ロケーション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Icebergスナップショット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50" dirty="0">
                <a:solidFill>
                  <a:srgbClr val="2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ジョブ実行履歴／鮮度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8641080" y="5715000"/>
            <a:ext cx="324612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778240" y="576072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メタデータ層の本質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8778240" y="59893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L2は「縦のフロー上のいち通過点」ではなく、全レイヤーに並走しメタデータを供給する横断軸。リネージはL4→L1→L3→ユーザーまで貫通する。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274320" y="6629400"/>
            <a:ext cx="11612880" cy="0"/>
          </a:xfrm>
          <a:prstGeom prst="line">
            <a:avLst/>
          </a:prstGeom>
          <a:noFill/>
          <a:ln w="9525">
            <a:solidFill>
              <a:srgbClr val="D6DBE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Appendix：初期検討時の参考図（本資料の正式構成には含まない）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7589520" y="66568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 /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セルフサービス型データ統合基盤 アーキテクチャ設計書</dc:title>
  <dc:subject>PptxGenJS Presentation</dc:subject>
  <dc:creator>Data Platform Team</dc:creator>
  <cp:lastModifiedBy>Data Platform Team</cp:lastModifiedBy>
  <cp:revision>1</cp:revision>
  <dcterms:created xsi:type="dcterms:W3CDTF">2026-05-12T10:16:08Z</dcterms:created>
  <dcterms:modified xsi:type="dcterms:W3CDTF">2026-05-12T10:16:08Z</dcterms:modified>
</cp:coreProperties>
</file>