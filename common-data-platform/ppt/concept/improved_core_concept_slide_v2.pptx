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0" autoAdjust="0"/>
    <p:restoredTop sz="94610"/>
  </p:normalViewPr>
  <p:slideViewPr>
    <p:cSldViewPr snapToGrid="0" snapToObjects="1">
      <p:cViewPr>
        <p:scale>
          <a:sx n="86" d="100"/>
          <a:sy n="86" d="100"/>
        </p:scale>
        <p:origin x="44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579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コアコンセプト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112014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各社データを、基盤側の標準・仕組みにより“プロダクト化できる状態”にする</a:t>
            </a:r>
            <a:endParaRPr lang="en-US" sz="1720" dirty="0"/>
          </a:p>
        </p:txBody>
      </p:sp>
      <p:sp>
        <p:nvSpPr>
          <p:cNvPr id="5" name="Text 3"/>
          <p:cNvSpPr/>
          <p:nvPr/>
        </p:nvSpPr>
        <p:spPr>
          <a:xfrm>
            <a:off x="429768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グループ個社にデータの意味・品質判断を担ってもらいつつ、基盤側がテンプレート・自動化・共通基盤を提供し、各社負担を抑えながら安全なデータ活用を実現する。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800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00584" cy="749808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76656" y="1645920"/>
            <a:ext cx="2606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Data Product Enablement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76656" y="1883664"/>
            <a:ext cx="4251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各社データを、過度な負担なく利用可能な状態に整備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676656" y="2093976"/>
            <a:ext cx="4297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各社：意味・品質・利用条件を定義／基盤側：標準・チェック・公開プロセスを提供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4800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100584" cy="749808"/>
          </a:xfrm>
          <a:prstGeom prst="rect">
            <a:avLst/>
          </a:prstGeom>
          <a:solidFill>
            <a:srgbClr val="3159A6"/>
          </a:solidFill>
          <a:ln w="12700">
            <a:solidFill>
              <a:srgbClr val="3159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76656" y="2523744"/>
            <a:ext cx="2606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3159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Federated Governance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76656" y="2761488"/>
            <a:ext cx="4251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中央統制とグループ個社責任を両立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676656" y="2971800"/>
            <a:ext cx="4297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共通ルール・権限・セキュリティ基準は中央で定義し、運用責任は個社と分担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4800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100584" cy="749808"/>
          </a:xfrm>
          <a:prstGeom prst="rect">
            <a:avLst/>
          </a:prstGeom>
          <a:solidFill>
            <a:srgbClr val="1D6B63"/>
          </a:solidFill>
          <a:ln w="12700">
            <a:solidFill>
              <a:srgbClr val="1D6B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76656" y="3401568"/>
            <a:ext cx="2606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D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Hybrid Data Integration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76656" y="3639312"/>
            <a:ext cx="4251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論理統合を基本に、必要時のみ物理統合を併用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676656" y="3849624"/>
            <a:ext cx="4297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既存DBは Data Federation で横断参照し、性能・履歴・AI要件では物理集約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4800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00584" cy="749808"/>
          </a:xfrm>
          <a:prstGeom prst="rect">
            <a:avLst/>
          </a:prstGeom>
          <a:solidFill>
            <a:srgbClr val="A85D18"/>
          </a:solidFill>
          <a:ln w="12700">
            <a:solidFill>
              <a:srgbClr val="A85D1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76656" y="4279392"/>
            <a:ext cx="2606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A85D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Self-service &amp; AI-Ready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76656" y="4517136"/>
            <a:ext cx="4251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利用者とAIが安全に継続利用できる環境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676656" y="4727448"/>
            <a:ext cx="4297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カタログ、メタデータ、品質可視化、権限申請、監査ログを標準化・自動化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457200" y="5102352"/>
            <a:ext cx="4800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責任分界の考え方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8368" y="5532120"/>
            <a:ext cx="914400" cy="210312"/>
          </a:xfrm>
          <a:prstGeom prst="roundRect">
            <a:avLst>
              <a:gd name="adj" fmla="val 17391"/>
            </a:avLst>
          </a:prstGeom>
          <a:solidFill>
            <a:srgbClr val="3159A6"/>
          </a:solidFill>
          <a:ln w="12700">
            <a:solidFill>
              <a:srgbClr val="3159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704088" y="5550408"/>
            <a:ext cx="82296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グループ個社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673352" y="5522976"/>
            <a:ext cx="3337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データの意味・品質基準・利用可否・オーナー判断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58368" y="5779008"/>
            <a:ext cx="914400" cy="210312"/>
          </a:xfrm>
          <a:prstGeom prst="roundRect">
            <a:avLst>
              <a:gd name="adj" fmla="val 17391"/>
            </a:avLst>
          </a:prstGeom>
          <a:solidFill>
            <a:srgbClr val="1D6B63"/>
          </a:solidFill>
          <a:ln w="12700">
            <a:solidFill>
              <a:srgbClr val="1D6B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704088" y="5797296"/>
            <a:ext cx="82296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基盤側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673352" y="5769864"/>
            <a:ext cx="35204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標準、テンプレート、品質チェック、カタログ、自動化、アクセス制御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577840" y="1572768"/>
            <a:ext cx="617220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797296" y="1773936"/>
            <a:ext cx="4389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実現イメージ：基盤側が“プロダクト化”を支援する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89320" y="2148840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E8EEF8"/>
          </a:solidFill>
          <a:ln w="12700">
            <a:solidFill>
              <a:srgbClr val="CAD7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172200" y="2295144"/>
            <a:ext cx="5029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Federated Governance｜共通ルール・標準・セキュリティ・責任分界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89320" y="2907792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  <a:ln w="12700">
            <a:solidFill>
              <a:srgbClr val="CAD7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236208" y="3054096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159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グループ個社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6236208" y="3310128"/>
            <a:ext cx="11887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意味・品質判断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989320" y="38404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  <a:ln w="12700">
            <a:solidFill>
              <a:srgbClr val="CAD7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254496" y="3986784"/>
            <a:ext cx="1143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159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業務部門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6190488" y="4242816"/>
            <a:ext cx="1280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利用条件・改善要望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8119872" y="2788920"/>
            <a:ext cx="2057400" cy="1024128"/>
          </a:xfrm>
          <a:prstGeom prst="roundRect">
            <a:avLst>
              <a:gd name="adj" fmla="val 10714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8357616" y="2926080"/>
            <a:ext cx="157276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Product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Enablement</a:t>
            </a:r>
            <a:endParaRPr lang="en-US" sz="1280" dirty="0"/>
          </a:p>
        </p:txBody>
      </p:sp>
      <p:sp>
        <p:nvSpPr>
          <p:cNvPr id="46" name="Text 44"/>
          <p:cNvSpPr/>
          <p:nvPr/>
        </p:nvSpPr>
        <p:spPr>
          <a:xfrm>
            <a:off x="8284464" y="3429000"/>
            <a:ext cx="173736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DDE6F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標準・自動化・公開支援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8001000" y="4041648"/>
            <a:ext cx="2286000" cy="786384"/>
          </a:xfrm>
          <a:prstGeom prst="roundRect">
            <a:avLst>
              <a:gd name="adj" fmla="val 9302"/>
            </a:avLst>
          </a:prstGeom>
          <a:solidFill>
            <a:srgbClr val="E6F2EF"/>
          </a:solidFill>
          <a:ln w="12700">
            <a:solidFill>
              <a:srgbClr val="9BC8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8357616" y="4160520"/>
            <a:ext cx="15727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D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基盤側の提供物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8165592" y="4370832"/>
            <a:ext cx="195681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 / 品質チェック / メタデータ / カタログ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10561320" y="3145536"/>
            <a:ext cx="640080" cy="1115568"/>
          </a:xfrm>
          <a:prstGeom prst="roundRect">
            <a:avLst>
              <a:gd name="adj" fmla="val 11429"/>
            </a:avLst>
          </a:prstGeom>
          <a:solidFill>
            <a:srgbClr val="F3F6FB"/>
          </a:solidFill>
          <a:ln w="12700">
            <a:solidFill>
              <a:srgbClr val="CAD7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10671048" y="3355848"/>
            <a:ext cx="429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A85D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A85D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7680960" y="3300984"/>
            <a:ext cx="420624" cy="0"/>
          </a:xfrm>
          <a:prstGeom prst="line">
            <a:avLst/>
          </a:prstGeom>
          <a:noFill/>
          <a:ln w="13970">
            <a:solidFill>
              <a:srgbClr val="B7C2D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7680960" y="4224528"/>
            <a:ext cx="292608" cy="192024"/>
          </a:xfrm>
          <a:prstGeom prst="line">
            <a:avLst/>
          </a:prstGeom>
          <a:noFill/>
          <a:ln w="13970">
            <a:solidFill>
              <a:srgbClr val="B7C2D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9189720" y="3822192"/>
            <a:ext cx="0" cy="201168"/>
          </a:xfrm>
          <a:prstGeom prst="line">
            <a:avLst/>
          </a:prstGeom>
          <a:noFill/>
          <a:ln w="13970">
            <a:solidFill>
              <a:srgbClr val="B7C2D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10186416" y="3300984"/>
            <a:ext cx="347472" cy="310896"/>
          </a:xfrm>
          <a:prstGeom prst="line">
            <a:avLst/>
          </a:prstGeom>
          <a:noFill/>
          <a:ln w="13970">
            <a:solidFill>
              <a:srgbClr val="B7C2D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6217920" y="5047488"/>
            <a:ext cx="2148840" cy="512064"/>
          </a:xfrm>
          <a:prstGeom prst="chevron">
            <a:avLst/>
          </a:prstGeom>
          <a:solidFill>
            <a:srgbClr val="DDEBE9"/>
          </a:solidFill>
          <a:ln w="12700">
            <a:solidFill>
              <a:srgbClr val="9BC8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483096" y="5120640"/>
            <a:ext cx="143560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Federation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D6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論理統合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8549640" y="5047488"/>
            <a:ext cx="2331720" cy="512064"/>
          </a:xfrm>
          <a:prstGeom prst="chevron">
            <a:avLst/>
          </a:prstGeom>
          <a:solidFill>
            <a:srgbClr val="F7E9DB"/>
          </a:solidFill>
          <a:ln w="12700">
            <a:solidFill>
              <a:srgbClr val="E2B6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8823960" y="512064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A85D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Integration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A85D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必要時のみ物理集約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5989320" y="5650992"/>
            <a:ext cx="5413248" cy="256032"/>
          </a:xfrm>
          <a:prstGeom prst="roundRect">
            <a:avLst>
              <a:gd name="adj" fmla="val 21429"/>
            </a:avLst>
          </a:prstGeom>
          <a:solidFill>
            <a:srgbClr val="F2F4F7"/>
          </a:solidFill>
          <a:ln w="12700">
            <a:solidFill>
              <a:srgbClr val="E1E6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6199632" y="5705856"/>
            <a:ext cx="49834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物理統合の判断基準：性能・履歴管理・標準化・AI学習・共通分析ニーズ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457200" y="6656832"/>
            <a:ext cx="1014984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Mesh＝運営モデル / Data Federation＝論理アクセスの実装手段 / 基盤側＝各社のデータプロダクト化を省力化するイネーブラー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11384280" y="6656832"/>
            <a:ext cx="32004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ワイド画面</PresentationFormat>
  <Paragraphs>41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Arial</vt:lpstr>
      <vt:lpstr>Office Theme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コアコンセプト改善案 v2</dc:title>
  <dc:subject>Improved core concept slide v2</dc:subject>
  <dc:creator>OpenAI</dc:creator>
  <cp:lastModifiedBy>yoshimasa obata</cp:lastModifiedBy>
  <cp:revision>1</cp:revision>
  <dcterms:created xsi:type="dcterms:W3CDTF">2026-05-13T04:58:16Z</dcterms:created>
  <dcterms:modified xsi:type="dcterms:W3CDTF">2026-05-13T05:00:27Z</dcterms:modified>
</cp:coreProperties>
</file>