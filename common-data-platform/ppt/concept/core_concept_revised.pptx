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07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4E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9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Core Concept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コアコンセプト 改善案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Governance × Data as a Product × Self-service × AI-Ready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3657600" cy="0"/>
          </a:xfrm>
          <a:prstGeom prst="line">
            <a:avLst/>
          </a:prstGeom>
          <a:noFill/>
          <a:ln w="25400">
            <a:solidFill>
              <a:srgbClr val="E94E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Option A：</a:t>
            </a:r>
            <a:r>
              <a:rPr lang="en-US" sz="140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1枚に凝縮（概要説明向け）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Option B：</a:t>
            </a:r>
            <a:r>
              <a:rPr lang="en-US" sz="140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2枚に分割（提案・合意形成向け／推奨）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PERSOL HOLDINGS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改善案A：1枚に凝縮 ─ コアコンセプト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73152" cy="502920"/>
          </a:xfrm>
          <a:prstGeom prst="rect">
            <a:avLst/>
          </a:prstGeom>
          <a:solidFill>
            <a:srgbClr val="E94E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Copyright © PERSOL HOLDINGS CO., LTD. All Rights Reserved.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データオーナーが品質保証した</a:t>
            </a:r>
            <a:r>
              <a:rPr lang="en-US" sz="13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データプロダクト</a:t>
            </a: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を、</a:t>
            </a:r>
            <a:r>
              <a:rPr lang="en-US" sz="13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論理統合を主・物理統合を従</a:t>
            </a: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としたハイブリッドで、安全にセルフサービス活用する仕組み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91440" cy="201168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Domain Ownership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3317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データはドメインが持つ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697480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85800" y="278892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各事業部／個社がデータの所有権と品質責任を持つ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全社共通ルールのみ中央が定める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Persol Holdings（HD）へのデータ複製リスクを低減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577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91440" cy="201168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355080" y="1874520"/>
            <a:ext cx="365760" cy="36576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355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as a Product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3317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データは「製品」として提供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2697480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355080" y="278892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品質基準（鮮度・精度・欠損率・SLA）を定義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メタデータ・データ系譜を必須化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カタログ経由で発見・利用可能にする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813048"/>
            <a:ext cx="5577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3813048"/>
            <a:ext cx="91440" cy="201168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85800" y="3995928"/>
            <a:ext cx="365760" cy="365760"/>
          </a:xfrm>
          <a:prstGeom prst="ellipse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8580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3950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Self-service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44531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利用部門が自律的に使える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4818888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85800" y="491032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ガバナンスが自動適用されるGUI／基盤を提供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セルフサービスでの安全なアクセス・活用設計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データリテラシー教育とセットで実効性を担保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3813048"/>
            <a:ext cx="5577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6126480" y="3813048"/>
            <a:ext cx="91440" cy="201168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6355080" y="3995928"/>
            <a:ext cx="365760" cy="365760"/>
          </a:xfrm>
          <a:prstGeom prst="ellipse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35508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12280" y="3950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Federated Governance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5080" y="44531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中央はルール、実装は分散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4818888"/>
            <a:ext cx="51206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355080" y="491032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中央：ポリシー策定・カタログ・監査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ドメイン：実装・運用・品質保証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全社共通ルールと自律分散の両立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E94E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横断要件 </a:t>
            </a:r>
            <a:r>
              <a:rPr lang="en-US" sz="1100" dirty="0">
                <a:solidFill>
                  <a:srgbClr val="FFD8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│ </a:t>
            </a: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AI-Ready</a:t>
            </a: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構造化／非構造化データを統一的に扱い、AI前提のガバナンス・セキュリティルールを適用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改善案A：ハイブリッド・アーキテクチャ図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73152" cy="502920"/>
          </a:xfrm>
          <a:prstGeom prst="rect">
            <a:avLst/>
          </a:prstGeom>
          <a:solidFill>
            <a:srgbClr val="E94E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Copyright © PERSOL HOLDINGS CO., LTD. All Rights Reserved.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Mesh＝運営・責任分界の考え方 ｜ Data Federation＝論理アクセスの実装手段 ｜ 物理集約＝補完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7132320" cy="777240"/>
          </a:xfrm>
          <a:prstGeom prst="rect">
            <a:avLst/>
          </a:prstGeom>
          <a:solidFill>
            <a:srgbClr val="E8EFF9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 ／ AI・分析 ／ 業務アプリケーション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2377440"/>
            <a:ext cx="0" cy="2286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7132320" cy="91440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論理統合層（主）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セマンティック・ブリッジ／フェデレーションエンジン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データカタログ・メタデータ管理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3657600"/>
            <a:ext cx="0" cy="2286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714500" cy="77724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個社／部門DB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63140" y="3931920"/>
            <a:ext cx="1714500" cy="77724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263140" y="402336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63140" y="43434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個社／部門DB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69080" y="3931920"/>
            <a:ext cx="1714500" cy="77724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069080" y="402336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9080" y="43434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個社／部門DB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75020" y="3931920"/>
            <a:ext cx="1714500" cy="77724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875020" y="402336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75020" y="4343400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個社／部門DB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782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↑ Data Mesh：運営・責任の単位（各ドメインがオーナーシップを保持）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48072"/>
            <a:ext cx="7132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E1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94360" y="51480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物理統合（従）</a:t>
            </a: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：性能・鮮度・履歴要件で必要な場合のみ補完的に利用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63840" y="1508760"/>
            <a:ext cx="40233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80924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4本柱との対応関係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92440" y="2057400"/>
            <a:ext cx="3566160" cy="0"/>
          </a:xfrm>
          <a:prstGeom prst="line">
            <a:avLst/>
          </a:prstGeom>
          <a:noFill/>
          <a:ln w="19050">
            <a:solidFill>
              <a:srgbClr val="E94E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8138160" y="2286000"/>
            <a:ext cx="320040" cy="32004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813816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4964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Domain Ownership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496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図の下段（各Domain）に対応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38160" y="2971800"/>
            <a:ext cx="320040" cy="32004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81381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4964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as a Product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54964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カタログ・メタデータ管理に対応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3657600"/>
            <a:ext cx="320040" cy="320040"/>
          </a:xfrm>
          <a:prstGeom prst="ellipse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813816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496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Self-service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54964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図の最上段「利用層」に対応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4343400"/>
            <a:ext cx="320040" cy="320040"/>
          </a:xfrm>
          <a:prstGeom prst="ellipse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813816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4964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Federated Governance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54964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図全体を貫く運用原則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92440" y="5029200"/>
            <a:ext cx="3566160" cy="1143000"/>
          </a:xfrm>
          <a:prstGeom prst="rect">
            <a:avLst/>
          </a:prstGeom>
          <a:solidFill>
            <a:srgbClr val="E8EF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8229600" y="51206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ハイブリッドの基本原則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・既定は論理統合（複製しない）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・性能・鮮度・履歴要件があれば物理統合で補完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改善案B：コアコンセプト（責任分界は次スライド）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73152" cy="502920"/>
          </a:xfrm>
          <a:prstGeom prst="rect">
            <a:avLst/>
          </a:prstGeom>
          <a:solidFill>
            <a:srgbClr val="E94E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Copyright © PERSOL HOLDINGS CO., LTD. All Rights Reserved.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データオーナーが品質保証した</a:t>
            </a:r>
            <a:r>
              <a:rPr lang="en-US" sz="13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データプロダクト</a:t>
            </a: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を、</a:t>
            </a:r>
            <a:r>
              <a:rPr lang="en-US" sz="1300" b="1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論理統合を主・物理統合を従</a:t>
            </a: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としたハイブリッドで、安全にセルフサービス活用する仕組み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2120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987552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40080" y="1856232"/>
            <a:ext cx="365760" cy="36576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1810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Domain Ownership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08483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データはドメインが持つ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34086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各事業部／個社が所有権と品質責任を持つ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全社共通ルールのみ中央が定める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52120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73152" cy="987552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889504"/>
            <a:ext cx="365760" cy="365760"/>
          </a:xfrm>
          <a:prstGeom prst="ellipse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008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284378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as a Product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11810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データは「製品」として提供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33741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品質基準・メタデータ・SLAを定義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カタログ経由で発見・利用可能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03904"/>
            <a:ext cx="52120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803904"/>
            <a:ext cx="73152" cy="987552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3922776"/>
            <a:ext cx="365760" cy="365760"/>
          </a:xfrm>
          <a:prstGeom prst="ellipse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15568" y="387705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Self-service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415137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利用部門が自律的に使える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44074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ガバナンス自動適用のGUI／基盤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データリテラシー教育で実効性確保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837176"/>
            <a:ext cx="52120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4837176"/>
            <a:ext cx="73152" cy="987552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640080" y="4956048"/>
            <a:ext cx="365760" cy="365760"/>
          </a:xfrm>
          <a:prstGeom prst="ellipse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008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15568" y="49103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Federated Governance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15568" y="518464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中央はルール、実装は分散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54406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中央：ポリシー・カタログ・監査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ドメイン：実装・運用・品質保証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888736"/>
            <a:ext cx="5212080" cy="384048"/>
          </a:xfrm>
          <a:prstGeom prst="rect">
            <a:avLst/>
          </a:prstGeom>
          <a:solidFill>
            <a:srgbClr val="E94E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94360" y="58887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横断要件 </a:t>
            </a: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│ AI-Ready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1737360"/>
            <a:ext cx="5943600" cy="640080"/>
          </a:xfrm>
          <a:prstGeom prst="rect">
            <a:avLst/>
          </a:prstGeom>
          <a:solidFill>
            <a:srgbClr val="E8EFF9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126480" y="17373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利用層　</a:t>
            </a: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ダッシュボード／AI・分析／業務アプリ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1475720" y="1901952"/>
            <a:ext cx="292608" cy="292608"/>
          </a:xfrm>
          <a:prstGeom prst="ellipse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1147572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915400" y="24505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5943600" y="2706624"/>
            <a:ext cx="5943600" cy="822960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126480" y="2752344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論理統合層（主）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セマンティック・ブリッジ／フェデレーションエンジン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FD1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データカタログ・メタデータ管理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1475720" y="2971800"/>
            <a:ext cx="292608" cy="29260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1147572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915400" y="3602736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5943600" y="3858768"/>
            <a:ext cx="1417320" cy="77724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5943600" y="39502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43600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個社／部門DB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452360" y="3858768"/>
            <a:ext cx="1417320" cy="77724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7452360" y="39502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452360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個社／部門DB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961120" y="3858768"/>
            <a:ext cx="1417320" cy="77724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8961120" y="39502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961120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個社／部門DB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469880" y="3858768"/>
            <a:ext cx="1417320" cy="777240"/>
          </a:xfrm>
          <a:prstGeom prst="rect">
            <a:avLst/>
          </a:prstGeom>
          <a:solidFill>
            <a:srgbClr val="0B2A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10469880" y="39502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Σ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469880" y="4270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個社／部門DB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897880" y="3721608"/>
            <a:ext cx="292608" cy="292608"/>
          </a:xfrm>
          <a:prstGeom prst="ellipse">
            <a:avLst/>
          </a:prstGeom>
          <a:solidFill>
            <a:srgbClr val="1E5AA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589788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94360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Data Mesh：運営・責任の単位（ドメインがオーナーシップ保持）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943600" y="5001768"/>
            <a:ext cx="5943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E1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6080760" y="50017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4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物理統合（従）</a:t>
            </a: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：性能・鮮度・履歴要件で必要な場合のみ補完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改善案B：責任分界とデータプロダクト品質基準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73152" cy="502920"/>
          </a:xfrm>
          <a:prstGeom prst="rect">
            <a:avLst/>
          </a:prstGeom>
          <a:solidFill>
            <a:srgbClr val="E94E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Copyright © PERSOL HOLDINGS CO., LTD. All Rights Reserved.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役割分担マトリクス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5669280" cy="0"/>
          </a:xfrm>
          <a:prstGeom prst="line">
            <a:avLst/>
          </a:prstGeom>
          <a:noFill/>
          <a:ln w="19050">
            <a:solidFill>
              <a:srgbClr val="E94E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主な責任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中央データ組織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（Persol Holdings）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全社ポリシー、カタログ運営、基盤提供、監査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ドメイン・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データオーナー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自ドメインのデータ戦略・品質の最終責任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データスチュワード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品質運用、メタデータ整備、利用申請の承認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ドメイン・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データエンジニア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データプロダクトの実装・運用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基盤エンジニア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フェデレーション基盤・カタログ・セキュリティ運用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利用者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（事業部・分析・AI）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セルフサービスでの活用、利用ルール遵守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550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データプロダクト品質基準（SLA例）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55080" y="1298448"/>
            <a:ext cx="5486400" cy="0"/>
          </a:xfrm>
          <a:prstGeom prst="line">
            <a:avLst/>
          </a:prstGeom>
          <a:noFill/>
          <a:ln w="19050">
            <a:solidFill>
              <a:srgbClr val="E94E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観点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基準例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鮮度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更新頻度（日次／時次／リアルタイム）を明示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精度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欠損率◯％以下、整合性チェック合格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メタデータ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定義書・系譜・所有者・利用条件を必須記載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可用性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稼働率99.◯％、応答時間◯秒以内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セキュリティ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アクセス権限・マスキングルールの定義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3550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論理／物理統合の使い分け基準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355080" y="4544568"/>
            <a:ext cx="5486400" cy="0"/>
          </a:xfrm>
          <a:prstGeom prst="line">
            <a:avLst/>
          </a:prstGeom>
          <a:noFill/>
          <a:ln w="19050">
            <a:solidFill>
              <a:srgbClr val="E94E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617720"/>
          <a:ext cx="548640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ケース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推奨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リアルタイム性が必要・データ量小〜中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5AA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論理統合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大量データの集計・履歴分析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94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物理統合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個人情報を含む・移動リスクを下げたい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5AA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論理統合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AI/ML学習データ・特徴量ストア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94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物理統合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57200" y="4297680"/>
            <a:ext cx="56692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457200" y="4297680"/>
            <a:ext cx="91440" cy="2057400"/>
          </a:xfrm>
          <a:prstGeom prst="rect">
            <a:avLst/>
          </a:prstGeom>
          <a:solidFill>
            <a:srgbClr val="E94E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2"/>
          <p:cNvSpPr/>
          <p:nvPr/>
        </p:nvSpPr>
        <p:spPr>
          <a:xfrm>
            <a:off x="685800" y="44074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実効性を担保するための横断要件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85800" y="4773168"/>
            <a:ext cx="52120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777240" y="48463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メタデータ管理・データカタログ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発見可能性・系譜追跡を支える基盤（全社共通）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データリテラシー教育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Self-serviceの実効性は教育・コミュニティで担保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A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AI-Ready運用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AI前提のガバナンス／DevOps・MLOps／LLMOps連携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ワイド画面</PresentationFormat>
  <Paragraphs>172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データガバナンス コアコンセプト 改善案</dc:title>
  <dc:subject>PptxGenJS Presentation</dc:subject>
  <dc:creator>PptxGenJS</dc:creator>
  <cp:lastModifiedBy>yoshimasa obata</cp:lastModifiedBy>
  <cp:revision>1</cp:revision>
  <dcterms:created xsi:type="dcterms:W3CDTF">2026-05-13T04:52:18Z</dcterms:created>
  <dcterms:modified xsi:type="dcterms:W3CDTF">2026-05-13T05:01:40Z</dcterms:modified>
</cp:coreProperties>
</file>