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従来のデータ統合基盤における構造的課題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「中央集権 × 物理統合」という前提が限界に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6400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中央集権型の限界 — 権限と作業が一拠点に集中する構造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28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78308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中央チームがボトルネック化する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データ追加・定義変更・権限対応がすべて中央経由となり、事業の意思決定スピードが基盤の処理能力に律速される。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87168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4871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441448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業務文脈が引き継がれない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27157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データを“作る側”と“統合する側”が分離しており、各部門固有の業務ルールや例外運用が反映されない集計結果が生まれる。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145536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455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09981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中央チームが“窓口兼代行”化する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14400" y="33741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問い合わせ・集計依頼・BI構築まで中央に集中。本来注力すべき基盤設計・品質改善に手が回らない。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64008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849624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物理統合の限界 — データを集めて複製する前提の構造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306824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3068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26110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責任・セキュリティリスクが集中する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4400" y="453542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機密・個人情報を元システム外に複製するため、アクセス経路・保管場所・権限管理の面積が拡大し、ガバナンス負荷が増大。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4965192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965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49194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基盤の肥大化とコスト累積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4400" y="51937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全データ複製を前提とするため、ストレージ・転送・ETL・パイプラインコストが運用継続に伴い累積的に増大。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02920" y="5623560"/>
            <a:ext cx="292608" cy="292608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5623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14400" y="557784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元システムの制約を引きずる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85216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抽出困難なデータ、リアルタイム連携不可、品質不安定など、物理統合では解消できない上流側の制約が残り続ける。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中央集権型(フィジカルSSoT) 構成図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223760" y="187452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2376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23760" y="269748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2376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B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223760" y="352044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2376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Biz C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915400" y="2468880"/>
            <a:ext cx="1188720" cy="1097280"/>
          </a:xfrm>
          <a:prstGeom prst="ellipse">
            <a:avLst/>
          </a:prstGeom>
          <a:solidFill>
            <a:srgbClr val="5B7BA8"/>
          </a:solidFill>
          <a:ln w="12700">
            <a:solidFill>
              <a:srgbClr val="5B7B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915400" y="2468880"/>
            <a:ext cx="1188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Platform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744200" y="187452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744200" y="18745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A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0744200" y="269748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744200" y="2697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B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744200" y="3520440"/>
            <a:ext cx="822960" cy="457200"/>
          </a:xfrm>
          <a:prstGeom prst="rect">
            <a:avLst/>
          </a:prstGeom>
          <a:solidFill>
            <a:srgbClr val="2C4566"/>
          </a:solidFill>
          <a:ln w="12700">
            <a:solidFill>
              <a:srgbClr val="2C456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44200" y="35204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 C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8046720" y="2103120"/>
            <a:ext cx="914400" cy="9144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46720" y="2926080"/>
            <a:ext cx="914400" cy="9144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46720" y="3749040"/>
            <a:ext cx="914400" cy="-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058400" y="3017520"/>
            <a:ext cx="685800" cy="-91440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058400" y="3017520"/>
            <a:ext cx="685800" cy="-9144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058400" y="3017520"/>
            <a:ext cx="685800" cy="731520"/>
          </a:xfrm>
          <a:prstGeom prst="line">
            <a:avLst/>
          </a:prstGeom>
          <a:noFill/>
          <a:ln w="12700">
            <a:solidFill>
              <a:srgbClr val="9CA3A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6720" y="1691640"/>
            <a:ext cx="164592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4672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依頼の待ち行列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9966960" y="1691640"/>
            <a:ext cx="164592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66960" y="16916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業務文脈が欠落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12480" y="3703320"/>
            <a:ext cx="2194560" cy="256032"/>
          </a:xfrm>
          <a:prstGeom prst="rect">
            <a:avLst/>
          </a:prstGeom>
          <a:solidFill>
            <a:srgbClr val="FEE2E2"/>
          </a:solidFill>
          <a:ln w="9525">
            <a:solidFill>
              <a:srgbClr val="B91C1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412480" y="37033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肥大化・コスト・リスク集中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132320" y="4206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事業部門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641080" y="42062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中央チーム(過負荷)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652760" y="42062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これらは個別の運用課題ではなく、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「中央集権 × 物理統合」という前提から構造的に生じる問題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。次章で前提を見直した新基盤を提案する。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11704320" y="6720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課題の全体像 — 3つのレイヤーで整理する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6つの課題は、組織・技術・ガバナンスという3つの構造的負債に集約できる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11247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0594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7964" y="20665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5720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組織的負債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4008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中央集権ゆえの依存とボトルネック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82296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中央チームがボトルネック化する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77240" y="4443984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43000" y="44074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業務文脈が引き継がれない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77240" y="4828032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8280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43000" y="479145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中央チームが"窓口兼代行"化する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事業スピードが中央チームの工数に律速される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32054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32054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66928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304" y="2066544"/>
            <a:ext cx="438912" cy="43891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32054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2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432054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技術的負債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450342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物理統合ゆえの肥大化と複雑化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68630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464058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464058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500634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基盤の肥大化とコスト累積</a:t>
            </a:r>
            <a:endParaRPr lang="en-US" sz="1050" dirty="0"/>
          </a:p>
        </p:txBody>
      </p:sp>
      <p:sp>
        <p:nvSpPr>
          <p:cNvPr id="35" name="Shape 31"/>
          <p:cNvSpPr/>
          <p:nvPr/>
        </p:nvSpPr>
        <p:spPr>
          <a:xfrm>
            <a:off x="4640580" y="4443984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4640580" y="44439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5006340" y="44074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元システムの制約を引きずる</a:t>
            </a:r>
            <a:endParaRPr lang="en-US" sz="1050" dirty="0"/>
          </a:p>
        </p:txBody>
      </p:sp>
      <p:sp>
        <p:nvSpPr>
          <p:cNvPr id="38" name="Shape 34"/>
          <p:cNvSpPr/>
          <p:nvPr/>
        </p:nvSpPr>
        <p:spPr>
          <a:xfrm>
            <a:off x="450342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459486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基盤の維持コストが運用継続に伴い累積する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8183880" y="1554480"/>
            <a:ext cx="35204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8183880" y="1554480"/>
            <a:ext cx="3520440" cy="731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9532620" y="1874520"/>
            <a:ext cx="822960" cy="822960"/>
          </a:xfrm>
          <a:prstGeom prst="ellipse">
            <a:avLst/>
          </a:prstGeom>
          <a:solidFill>
            <a:srgbClr val="EFF3F8"/>
          </a:solidFill>
          <a:ln w="12700">
            <a:solidFill>
              <a:srgbClr val="EFF3F8"/>
            </a:solidFill>
            <a:prstDash val="solid"/>
          </a:ln>
        </p:spPr>
      </p:sp>
      <p:pic>
        <p:nvPicPr>
          <p:cNvPr id="4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4644" y="2066544"/>
            <a:ext cx="438912" cy="438912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8183880" y="28346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Layer 3</a:t>
            </a:r>
            <a:endParaRPr lang="en-US" sz="900" dirty="0"/>
          </a:p>
        </p:txBody>
      </p:sp>
      <p:sp>
        <p:nvSpPr>
          <p:cNvPr id="45" name="Text 40"/>
          <p:cNvSpPr/>
          <p:nvPr/>
        </p:nvSpPr>
        <p:spPr>
          <a:xfrm>
            <a:off x="8183880" y="30632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ガバナンス負債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8366760" y="34747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データ集約ゆえのリスク集中</a:t>
            </a:r>
            <a:endParaRPr lang="en-US" sz="1000" dirty="0"/>
          </a:p>
        </p:txBody>
      </p:sp>
      <p:sp>
        <p:nvSpPr>
          <p:cNvPr id="47" name="Shape 42"/>
          <p:cNvSpPr/>
          <p:nvPr/>
        </p:nvSpPr>
        <p:spPr>
          <a:xfrm>
            <a:off x="8549640" y="3886200"/>
            <a:ext cx="2788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8503920" y="4059936"/>
            <a:ext cx="256032" cy="256032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8503920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50" name="Text 45"/>
          <p:cNvSpPr/>
          <p:nvPr/>
        </p:nvSpPr>
        <p:spPr>
          <a:xfrm>
            <a:off x="8869680" y="40233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責任・セキュリティリスクが集中する</a:t>
            </a:r>
            <a:endParaRPr lang="en-US" sz="1050" dirty="0"/>
          </a:p>
        </p:txBody>
      </p:sp>
      <p:sp>
        <p:nvSpPr>
          <p:cNvPr id="51" name="Shape 46"/>
          <p:cNvSpPr/>
          <p:nvPr/>
        </p:nvSpPr>
        <p:spPr>
          <a:xfrm>
            <a:off x="8366760" y="5212080"/>
            <a:ext cx="3154680" cy="411480"/>
          </a:xfrm>
          <a:prstGeom prst="rect">
            <a:avLst/>
          </a:prstGeom>
          <a:solidFill>
            <a:srgbClr val="F9FAFB"/>
          </a:solidFill>
          <a:ln w="12700">
            <a:solidFill>
              <a:srgbClr val="F9FAFB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58200" y="521208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機密・個人情報の管理面積が拡大し続ける</a:t>
            </a:r>
            <a:endParaRPr lang="en-US" sz="950" dirty="0"/>
          </a:p>
        </p:txBody>
      </p:sp>
      <p:sp>
        <p:nvSpPr>
          <p:cNvPr id="53" name="Shape 48"/>
          <p:cNvSpPr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solidFill>
            <a:srgbClr val="F9FAFB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640080" y="6263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新基盤は</a:t>
            </a:r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「組織・技術・ガバナンスの3負債を同時に解消するアーキテクチャ」</a:t>
            </a:r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として設計する必要がある。</a:t>
            </a:r>
            <a:endParaRPr lang="en-US" sz="1200" dirty="0"/>
          </a:p>
        </p:txBody>
      </p:sp>
      <p:sp>
        <p:nvSpPr>
          <p:cNvPr id="55" name="Text 50"/>
          <p:cNvSpPr/>
          <p:nvPr/>
        </p:nvSpPr>
        <p:spPr>
          <a:xfrm>
            <a:off x="11704320" y="6720840"/>
            <a:ext cx="274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従来のデータ統合基盤における構造的課題</dc:title>
  <dc:subject>PptxGenJS Presentation</dc:subject>
  <dc:creator>PptxGenJS</dc:creator>
  <cp:lastModifiedBy>PptxGenJS</cp:lastModifiedBy>
  <cp:revision>1</cp:revision>
  <dcterms:created xsi:type="dcterms:W3CDTF">2026-05-13T04:36:13Z</dcterms:created>
  <dcterms:modified xsi:type="dcterms:W3CDTF">2026-05-13T04:36:13Z</dcterms:modified>
</cp:coreProperties>
</file>