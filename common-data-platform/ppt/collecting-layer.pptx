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0" autoAdjust="0"/>
    <p:restoredTop sz="94610"/>
  </p:normalViewPr>
  <p:slideViewPr>
    <p:cSldViewPr snapToGrid="0" snapToObjects="1">
      <p:cViewPr>
        <p:scale>
          <a:sx n="126" d="100"/>
          <a:sy n="126" d="100"/>
        </p:scale>
        <p:origin x="1356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820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【内部資料】データ分析基盤アーキテクチャ設計書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5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 — Lakehouse Foundation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データ収集層（Collecting Layer）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設計指針および参照アーキテクチャ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146304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本書は、レイクハウス型データ分析基盤における「Collecting Layer（データ収集層）」の設計指針、構成要素、横断機能、及び後続層（Storage / Processing / Serving）への接続に関する標準的考え方を整理したものである。多様なデータソースからの取り込みにおいて、安全性・再実行性・冪等性・整合性・監査性を担保することを目的とする。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029200"/>
            <a:ext cx="5486400" cy="1188720"/>
          </a:xfrm>
          <a:prstGeom prst="rect">
            <a:avLst/>
          </a:prstGeom>
          <a:solidFill>
            <a:srgbClr val="F4F2EB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40080" y="512064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データプラットフォーム企画チーム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版数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第 1.0 版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作成年月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2026年5月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データ基盤設計者・運用担当者・データ利活用部門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5029200"/>
            <a:ext cx="5486400" cy="1188720"/>
          </a:xfrm>
          <a:prstGeom prst="rect">
            <a:avLst/>
          </a:prstGeom>
          <a:solidFill>
            <a:srgbClr val="F4F2EB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400800" y="512064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目次（章立て）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全体像と位置づけ／2. データソース分類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収集方式4類型／4. バッチ収集の設計要件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CDC・Streamingの設計要件／6. ストレージ層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横断機能群／8. 方式の使い分け・まとめ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3093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927080" y="0"/>
            <a:ext cx="1234440" cy="777240"/>
          </a:xfrm>
          <a:prstGeom prst="rect">
            <a:avLst/>
          </a:prstGeom>
          <a:solidFill>
            <a:srgbClr val="061A3A"/>
          </a:solidFill>
          <a:ln w="12700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927080" y="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 01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45720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全体像と位置づけ — Collecting Layer の役割と基本フロー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438912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レイクハウス前提における収集層の目的・スコープ・後続層との関係を俯瞰する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292608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" y="1005840"/>
            <a:ext cx="4828032" cy="256032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04088" y="1005840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Collecting Layer の定義と目的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280160"/>
            <a:ext cx="5120640" cy="2468880"/>
          </a:xfrm>
          <a:prstGeom prst="rect">
            <a:avLst/>
          </a:prstGeom>
          <a:solidFill>
            <a:srgbClr val="F4F2EB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57200" y="137160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Layerとは、多様なデータソース（SaaS / RDB / アプリイベント / ログ / ファイル / IoT / 外部データ）から、データを「安全」「効率的」「再処理可能」な形式でレイクハウスの入口へ取り込む層を指す。本層は単なるデータ転送ではなく、漏れなく取り込み、安全に取り込み、再実行が可能であり、重複制御・削除/更新の反映・スキーマ変更検知・Raw保持までを含む包括的な設計対象である点に留意する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886200"/>
            <a:ext cx="292608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20040" y="38862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" y="3886200"/>
            <a:ext cx="4828032" cy="256032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04088" y="3886200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本層に求められる7つの非機能要件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4160520"/>
            <a:ext cx="51206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11480" y="4251960"/>
            <a:ext cx="164592" cy="1645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40080" y="4206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 れ な き 取 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94560" y="4206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全件性・差分整合・欠損検知の担保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4562856"/>
            <a:ext cx="164592" cy="1645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40080" y="45171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 全 性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94560" y="451713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通信/保存暗号化・最小権限・PII保護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4873752"/>
            <a:ext cx="164592" cy="1645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40080" y="4828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 実 行 性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94560" y="4828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Replayable設計、Raw保持、watermark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5184648"/>
            <a:ext cx="164592" cy="1645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640080" y="51389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冪 等 性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94560" y="51389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load_id・主キー・upsert/merge制御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5495544"/>
            <a:ext cx="164592" cy="1645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40080" y="54498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削除・更新反映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94560" y="54498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CDC・論理削除・snapshot diff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5806440"/>
            <a:ext cx="164592" cy="1645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640080" y="57607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スキーマ変更検知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94560" y="57607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Registry・Evolution方針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1480" y="6117336"/>
            <a:ext cx="164592" cy="1645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640080" y="6071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 査 性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194560" y="607161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メタカラム・lineage・実行履歴保管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760720" y="1005840"/>
            <a:ext cx="292608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5760720" y="100584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053328" y="1005840"/>
            <a:ext cx="5788152" cy="256032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6144768" y="1005840"/>
            <a:ext cx="5696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5層構造による基本データフロー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60720" y="1325880"/>
            <a:ext cx="60807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5760720" y="1325880"/>
            <a:ext cx="109728" cy="71323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5989320" y="13807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989320" y="16916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/ RDB / Event / Log / File / IoT / External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989320" y="2039112"/>
            <a:ext cx="36576" cy="164592"/>
          </a:xfrm>
          <a:prstGeom prst="rect">
            <a:avLst/>
          </a:prstGeom>
          <a:solidFill>
            <a:srgbClr val="9AA0A6"/>
          </a:solidFill>
          <a:ln w="12700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5760720" y="2203704"/>
            <a:ext cx="6080760" cy="713232"/>
          </a:xfrm>
          <a:prstGeom prst="rect">
            <a:avLst/>
          </a:prstGeom>
          <a:solidFill>
            <a:srgbClr val="FFF1F1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5760720" y="2203704"/>
            <a:ext cx="109728" cy="7132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5989320" y="2258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Collecting Layer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989320" y="256946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ELT / Custom Batch / CDC・Streaming / Log収集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989320" y="2916936"/>
            <a:ext cx="36576" cy="164592"/>
          </a:xfrm>
          <a:prstGeom prst="rect">
            <a:avLst/>
          </a:prstGeom>
          <a:solidFill>
            <a:srgbClr val="9AA0A6"/>
          </a:solidFill>
          <a:ln w="12700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Shape 52"/>
          <p:cNvSpPr/>
          <p:nvPr/>
        </p:nvSpPr>
        <p:spPr>
          <a:xfrm>
            <a:off x="5760720" y="3081528"/>
            <a:ext cx="60807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Shape 53"/>
          <p:cNvSpPr/>
          <p:nvPr/>
        </p:nvSpPr>
        <p:spPr>
          <a:xfrm>
            <a:off x="5760720" y="3081528"/>
            <a:ext cx="109728" cy="713232"/>
          </a:xfrm>
          <a:prstGeom prst="rect">
            <a:avLst/>
          </a:prstGeom>
          <a:solidFill>
            <a:srgbClr val="1E4A85"/>
          </a:solidFill>
          <a:ln w="12700">
            <a:solidFill>
              <a:srgbClr val="1E4A8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54"/>
          <p:cNvSpPr/>
          <p:nvPr/>
        </p:nvSpPr>
        <p:spPr>
          <a:xfrm>
            <a:off x="5989320" y="31363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Layer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989320" y="344728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Zone（一時着地） / Bronze（Raw・append-only）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989320" y="3794760"/>
            <a:ext cx="36576" cy="164592"/>
          </a:xfrm>
          <a:prstGeom prst="rect">
            <a:avLst/>
          </a:prstGeom>
          <a:solidFill>
            <a:srgbClr val="9AA0A6"/>
          </a:solidFill>
          <a:ln w="12700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Shape 57"/>
          <p:cNvSpPr/>
          <p:nvPr/>
        </p:nvSpPr>
        <p:spPr>
          <a:xfrm>
            <a:off x="5760720" y="3959352"/>
            <a:ext cx="60807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Shape 58"/>
          <p:cNvSpPr/>
          <p:nvPr/>
        </p:nvSpPr>
        <p:spPr>
          <a:xfrm>
            <a:off x="5760720" y="3959352"/>
            <a:ext cx="109728" cy="713232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5989320" y="40142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Processing Layer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989320" y="432511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Silver（整形・dedup・merge） / Gold（業務マート・KPI）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989320" y="4672584"/>
            <a:ext cx="36576" cy="164592"/>
          </a:xfrm>
          <a:prstGeom prst="rect">
            <a:avLst/>
          </a:prstGeom>
          <a:solidFill>
            <a:srgbClr val="9AA0A6"/>
          </a:solidFill>
          <a:ln w="12700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Shape 62"/>
          <p:cNvSpPr/>
          <p:nvPr/>
        </p:nvSpPr>
        <p:spPr>
          <a:xfrm>
            <a:off x="5760720" y="4837176"/>
            <a:ext cx="60807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Shape 63"/>
          <p:cNvSpPr/>
          <p:nvPr/>
        </p:nvSpPr>
        <p:spPr>
          <a:xfrm>
            <a:off x="5760720" y="4837176"/>
            <a:ext cx="109728" cy="713232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64"/>
          <p:cNvSpPr/>
          <p:nvPr/>
        </p:nvSpPr>
        <p:spPr>
          <a:xfrm>
            <a:off x="5989320" y="4892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Serving / Semantic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989320" y="520293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/ Headless BI / BI / Notebook / API / AI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760720" y="5806440"/>
            <a:ext cx="6080760" cy="713232"/>
          </a:xfrm>
          <a:prstGeom prst="rect">
            <a:avLst/>
          </a:prstGeom>
          <a:solidFill>
            <a:srgbClr val="F4F2EB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Text 67"/>
          <p:cNvSpPr/>
          <p:nvPr/>
        </p:nvSpPr>
        <p:spPr>
          <a:xfrm>
            <a:off x="5897880" y="5852160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［ポイント］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Collecting LayerはBronzeへの「入口」であり、Raw保持と再実行性が後続全層の品質を規定する。本層の設計品質が不十分であれば、Silver/Gold/Servingでいかに整備しても、信頼性のあるデータ提供は実現し得ない。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9525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Text 69"/>
          <p:cNvSpPr/>
          <p:nvPr/>
        </p:nvSpPr>
        <p:spPr>
          <a:xfrm>
            <a:off x="3200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データ分析基盤アーキテクチャ設計書|Collecting Layer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3550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全体像と位置づけ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927080" y="0"/>
            <a:ext cx="1234440" cy="777240"/>
          </a:xfrm>
          <a:prstGeom prst="rect">
            <a:avLst/>
          </a:prstGeom>
          <a:solidFill>
            <a:srgbClr val="061A3A"/>
          </a:solidFill>
          <a:ln w="12700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927080" y="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 02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45720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データソースの分類 — 7類型と推奨収集方式の対応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438912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ソース特性に応じた収集方式の選定がCollecting Layer設計の出発点となる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292608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20040" y="96012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" y="960120"/>
            <a:ext cx="11228832" cy="256032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04088" y="960120"/>
            <a:ext cx="11137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データソース7類型の整理（取得経路・更新特性・推奨方式）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80160"/>
          <a:ext cx="1152144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区分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代表的なデータ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更新特性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主な収集方式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代表ツール例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設計上の主な留意点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/ 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Salesforce、HubSpot、Google Ads、Stripe、Zendesk 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API経由の差分/全件、レート制限あり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ELT、API Batch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Fivetran、Airbyte、TROCCO、Stitch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APIレート制限、ページング設計、cursor管理、token rotation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RDB / 業務DB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PostgreSQL、MySQL、Oracle、SQL Server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OLTP更新が高頻度、削除も発生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JDBC Batch、CDC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Debezium、AWS DMS、Spark JDBC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DB負荷、watermark、deleteの捕捉、snapshot一貫性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Events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注文／クリック／ユーザー行動などのイベント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リアルタイム発生、順序入替・重複あり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Stream、CDC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Kafka、MSK、Kinesis、Flink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順序保証、重複排除、遅延到着、Replayable設計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/ App Logs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Nginxログ、アプリログ、エラーログ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継続的に発生、大量、非定型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Agent型ログ収集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Fluent Bit、Fluentd、Vector、OpenTelemetry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高スループット、バッファリング、欠損検知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/ SFTP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CSV、Excel、TSV、固定長ファイル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日次/月次バッチ、外部組織との連携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SFTP転送、CLI、Batch ingestion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Transfer、Glue、ECS Batch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ファイル検証、文字コード、Landing経由、命名規約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/ Device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センサデータ、機器ログ、テレメトリ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高頻度・大量・順序入替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MQTT、Streaming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Kafka、Kinesis、AWS IoT 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デバイス認証、遅延、エッジ集約、データ圧縮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パートナー提供データ、公開・購入データセット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頻度不定、フォーマット多様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import、API、SFTP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TROCCO、Fivetran、独自Batch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データ契約、品質検証、ライセンス、PII確認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20040" y="5852160"/>
            <a:ext cx="292608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/>
          <p:nvPr/>
        </p:nvSpPr>
        <p:spPr>
          <a:xfrm>
            <a:off x="320040" y="58521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" y="5852160"/>
            <a:ext cx="11228832" cy="256032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704088" y="5852160"/>
            <a:ext cx="11137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補足注記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" y="6126480"/>
            <a:ext cx="11521440" cy="502920"/>
          </a:xfrm>
          <a:prstGeom prst="rect">
            <a:avLst/>
          </a:prstGeom>
          <a:solidFill>
            <a:srgbClr val="F4F2EB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457200" y="61722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※1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「SaaS/API」と「外部データ」は重複し得るが、契約・運用主体の観点から区別する。  </a:t>
            </a: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※2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「Application Events」は本番DBへの二重書き込みを避けるためTransactional Outboxパターンの適用を推奨する。  </a:t>
            </a: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※3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全方式に共通してSchema Drift（スキーマ変動）への備えが必須。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9525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/>
          <p:nvPr/>
        </p:nvSpPr>
        <p:spPr>
          <a:xfrm>
            <a:off x="3200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データ分析基盤アーキテクチャ設計書|Collecting Layer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3550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データソース分類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927080" y="0"/>
            <a:ext cx="1234440" cy="777240"/>
          </a:xfrm>
          <a:prstGeom prst="rect">
            <a:avLst/>
          </a:prstGeom>
          <a:solidFill>
            <a:srgbClr val="061A3A"/>
          </a:solidFill>
          <a:ln w="12700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927080" y="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 03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45720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収集方式の4カテゴリ — Collecting Layer の構成要素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438912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ELT／Custom Batch／CDC・Streaming／Log・Event Collection の4類型に整理する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5646420" cy="258318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5646420" cy="41148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20040" y="960120"/>
            <a:ext cx="41148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20040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960120"/>
            <a:ext cx="5097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 ELT / コネクタ型収集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1399032"/>
            <a:ext cx="5372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役割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1581912"/>
            <a:ext cx="5372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SaaS・広告・CRM・RDB等から、設定ベースでデータを取得しBronzeへロード。コネクタの開発・運用負荷を抑制し、定型ソースを効率的に取り込む。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148840"/>
            <a:ext cx="5372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代表ツール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331720"/>
            <a:ext cx="5372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Fivetran／Airbyte／TROCCO／Stitch／Matillion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606040"/>
            <a:ext cx="5372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主な用途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788920"/>
            <a:ext cx="53721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・Salesforceの日次取得  ・HubSpotコンタクト同期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・Google Ads／Stripe／各種SaaS APIの定期同期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159252"/>
            <a:ext cx="5646420" cy="384048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57200" y="3177540"/>
            <a:ext cx="53721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［留意］ </a:t>
            </a: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スキーマ変更検知・差分取得・履歴保持の方針はツール仕様に依存する点に留意。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95060" y="960120"/>
            <a:ext cx="5646420" cy="258318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6195060" y="960120"/>
            <a:ext cx="5646420" cy="41148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6195060" y="960120"/>
            <a:ext cx="41148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195060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97980" y="960120"/>
            <a:ext cx="5097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Batch Ingestion / ネイティブ接続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32220" y="1399032"/>
            <a:ext cx="5372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役割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32220" y="1581912"/>
            <a:ext cx="5372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JDBC・REST API・SFTP・CLI・Python・Spark等を用い、独自にバッチ収集する方式。コネクタが存在しない／要件が特殊なケースに適用。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32220" y="2148840"/>
            <a:ext cx="5372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代表ツール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32220" y="2331720"/>
            <a:ext cx="5372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JDBC／REST／SFTP／AWS CLI／Python／Spark／Glue／ECS／Lambda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32220" y="2606040"/>
            <a:ext cx="5372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主な用途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32220" y="2788920"/>
            <a:ext cx="53721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・業務DBから日次差分取得  ・SFTPで届くCSVの取込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・外部APIからページング取得  ・独自仕様ファイルの取込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95060" y="3159252"/>
            <a:ext cx="5646420" cy="384048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332220" y="3177540"/>
            <a:ext cx="53721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［留意］ </a:t>
            </a: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chunking／parallelism／watermark／idempotencyを自前設計する必要あり。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3771900"/>
            <a:ext cx="5646420" cy="258318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320040" y="3771900"/>
            <a:ext cx="5646420" cy="41148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320040" y="3771900"/>
            <a:ext cx="41148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320040" y="37719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2960" y="3771900"/>
            <a:ext cx="5097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CDC / Streaming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4210812"/>
            <a:ext cx="5372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役割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393692"/>
            <a:ext cx="5372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DBの変更履歴、またはアプリイベントを継続的に取り込む。Insert／Update／Deleteを検知し、下流に変更イベントとして配信。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4960620"/>
            <a:ext cx="5372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代表ツール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5143500"/>
            <a:ext cx="5372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Kafka／MSK／Kinesis／Debezium／DMS／Confluent／Flink／GoldenGate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5417820"/>
            <a:ext cx="5372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主な用途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5600700"/>
            <a:ext cx="53721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・業務DB更新差分の継続取得  ・注文イベントのリアルタイム取得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・ユーザー行動イベント収集  ・IoTデータのストリーミング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5971032"/>
            <a:ext cx="5646420" cy="384048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457200" y="5989320"/>
            <a:ext cx="53721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［留意］ </a:t>
            </a: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順序・重複・遅延・Replayability、Bronze側のChangelog保持が要点。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95060" y="3771900"/>
            <a:ext cx="5646420" cy="258318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>
            <a:off x="6195060" y="3771900"/>
            <a:ext cx="5646420" cy="41148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6195060" y="3771900"/>
            <a:ext cx="41148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6195060" y="37719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697980" y="3771900"/>
            <a:ext cx="5097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 / Event Collection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332220" y="4210812"/>
            <a:ext cx="5372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役割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32220" y="4393692"/>
            <a:ext cx="5372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Web／App／インフラ／ユーザー行動の各種ログ・イベントをAgent経由で収集・転送。System系とProduct/Analytics系の区別を明確化。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332220" y="4960620"/>
            <a:ext cx="5372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代表ツール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32220" y="5143500"/>
            <a:ext cx="5372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Bit／Fluentd／Vector／OpenTelemetry／Logstash／Firehose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332220" y="5417820"/>
            <a:ext cx="5372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主な用途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332220" y="5600700"/>
            <a:ext cx="53721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・Nginxアクセスログ／アプリエラーログ／OS・コンテナログ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・page_view／click／purchase等の行動イベント収集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95060" y="5971032"/>
            <a:ext cx="5646420" cy="384048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 57"/>
          <p:cNvSpPr/>
          <p:nvPr/>
        </p:nvSpPr>
        <p:spPr>
          <a:xfrm>
            <a:off x="6332220" y="5989320"/>
            <a:ext cx="53721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［留意］ </a:t>
            </a: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高スループット下でのバッファリング・送達保証・欠損検知が要諦。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9525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3200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データ分析基盤アーキテクチャ設計書|Collecting Layer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3550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収集方式の4カテゴリ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927080" y="0"/>
            <a:ext cx="1234440" cy="777240"/>
          </a:xfrm>
          <a:prstGeom prst="rect">
            <a:avLst/>
          </a:prstGeom>
          <a:solidFill>
            <a:srgbClr val="061A3A"/>
          </a:solidFill>
          <a:ln w="12700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927080" y="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 04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45720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Batch Ingestion の設計要件 — 5つの設計観点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438912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Chunking／Parallelism／Filtering／Consistency／Idempotency を体系的に押さえる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292608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20040" y="96012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" y="960120"/>
            <a:ext cx="11228832" cy="256032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04088" y="960120"/>
            <a:ext cx="11137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バッチ収集における5つの設計観点（chunking / parallelism / filtering / consistency / idempotency）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280160"/>
            <a:ext cx="2157984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20040" y="1280160"/>
            <a:ext cx="2157984" cy="59436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20040" y="1316736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1536192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Chunking（分割取得）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874520"/>
            <a:ext cx="2157984" cy="365760"/>
          </a:xfrm>
          <a:prstGeom prst="rect">
            <a:avLst/>
          </a:prstGeom>
          <a:solidFill>
            <a:srgbClr val="F4F2EB"/>
          </a:solidFill>
          <a:ln w="12700">
            <a:solidFill>
              <a:srgbClr val="F4F2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11480" y="187452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取得単位の最適化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" y="233172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設計項目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9768" y="2560320"/>
            <a:ext cx="19385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offset/limit、cursor-based、key range、date range、partition range。page size／fetch size／最大件数／最大バイト数／タイムアウト時の再開位置を明示。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4297680"/>
            <a:ext cx="2157984" cy="914400"/>
          </a:xfrm>
          <a:prstGeom prst="rect">
            <a:avLst/>
          </a:prstGeom>
          <a:solidFill>
            <a:srgbClr val="FBF1F1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320040" y="4297680"/>
            <a:ext cx="73152" cy="914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84632" y="431596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留意事項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" y="4572000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大量データではoffset/limitは性能劣化。cursor／key range／updated_atを優先。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60904" y="1280160"/>
            <a:ext cx="2157984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2660904" y="1280160"/>
            <a:ext cx="2157984" cy="59436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2660904" y="1316736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06624" y="1536192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Parallelism（並列化）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60904" y="1874520"/>
            <a:ext cx="2157984" cy="365760"/>
          </a:xfrm>
          <a:prstGeom prst="rect">
            <a:avLst/>
          </a:prstGeom>
          <a:solidFill>
            <a:srgbClr val="F4F2EB"/>
          </a:solidFill>
          <a:ln w="12700">
            <a:solidFill>
              <a:srgbClr val="F4F2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2752344" y="187452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スループットと負荷の両立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70632" y="233172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設計項目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70632" y="2560320"/>
            <a:ext cx="19385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最大並列数／DB接続数／API QPS／ワーカー単位のチェックポイント／並列取得時の境界固定をパラメータ化。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60904" y="4297680"/>
            <a:ext cx="2157984" cy="914400"/>
          </a:xfrm>
          <a:prstGeom prst="rect">
            <a:avLst/>
          </a:prstGeom>
          <a:solidFill>
            <a:srgbClr val="FBF1F1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2660904" y="4297680"/>
            <a:ext cx="73152" cy="914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2825496" y="431596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留意事項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825496" y="4572000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並列化過多はソースDB・SaaS APIに過負荷。レート制限と相談のうえ調整。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01768" y="1280160"/>
            <a:ext cx="2157984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5001768" y="1280160"/>
            <a:ext cx="2157984" cy="59436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5001768" y="1316736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47488" y="1536192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Filtering / Incremental Load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01768" y="1874520"/>
            <a:ext cx="2157984" cy="365760"/>
          </a:xfrm>
          <a:prstGeom prst="rect">
            <a:avLst/>
          </a:prstGeom>
          <a:solidFill>
            <a:srgbClr val="F4F2EB"/>
          </a:solidFill>
          <a:ln w="12700">
            <a:solidFill>
              <a:srgbClr val="F4F2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5093208" y="187452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差分取得の方式選定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11496" y="233172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設計項目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111496" y="2560320"/>
            <a:ext cx="19385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updated_at／created_at／連番ID／API cursor／CDC／snapshot diff。全件取得は最小化し、増分取得を基本とする。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01768" y="4297680"/>
            <a:ext cx="2157984" cy="914400"/>
          </a:xfrm>
          <a:prstGeom prst="rect">
            <a:avLst/>
          </a:prstGeom>
          <a:solidFill>
            <a:srgbClr val="FBF1F1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5001768" y="4297680"/>
            <a:ext cx="73152" cy="914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5166360" y="431596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留意事項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166360" y="4572000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updated_at差分だけでは削除を捕捉不能。CDC・snapshot比較・論理削除フラグ併用。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342632" y="1280160"/>
            <a:ext cx="2157984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7342632" y="1280160"/>
            <a:ext cx="2157984" cy="59436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7342632" y="1316736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388352" y="1536192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Consistency（一貫性）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342632" y="1874520"/>
            <a:ext cx="2157984" cy="365760"/>
          </a:xfrm>
          <a:prstGeom prst="rect">
            <a:avLst/>
          </a:prstGeom>
          <a:solidFill>
            <a:srgbClr val="F4F2EB"/>
          </a:solidFill>
          <a:ln w="12700">
            <a:solidFill>
              <a:srgbClr val="F4F2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7434072" y="187452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取得中ブレの抑止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452360" y="233172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設計項目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452360" y="2560320"/>
            <a:ext cx="19385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isolation／repeatable read／as-of timestamp／export snapshot／watermark固定。取得基準時刻を明示的に固定。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342632" y="4297680"/>
            <a:ext cx="2157984" cy="914400"/>
          </a:xfrm>
          <a:prstGeom prst="rect">
            <a:avLst/>
          </a:prstGeom>
          <a:solidFill>
            <a:srgbClr val="FBF1F1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Shape 55"/>
          <p:cNvSpPr/>
          <p:nvPr/>
        </p:nvSpPr>
        <p:spPr>
          <a:xfrm>
            <a:off x="7342632" y="4297680"/>
            <a:ext cx="73152" cy="914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6"/>
          <p:cNvSpPr/>
          <p:nvPr/>
        </p:nvSpPr>
        <p:spPr>
          <a:xfrm>
            <a:off x="7507224" y="431596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留意事項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507224" y="4572000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READ_COMMITTEDのみでは厳密一貫性に不足。大表の分割取得時は特に注意。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683496" y="1280160"/>
            <a:ext cx="2157984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Shape 59"/>
          <p:cNvSpPr/>
          <p:nvPr/>
        </p:nvSpPr>
        <p:spPr>
          <a:xfrm>
            <a:off x="9683496" y="1280160"/>
            <a:ext cx="2157984" cy="59436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Text 60"/>
          <p:cNvSpPr/>
          <p:nvPr/>
        </p:nvSpPr>
        <p:spPr>
          <a:xfrm>
            <a:off x="9683496" y="1316736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9729216" y="1536192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Idempotency（冪等性）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9683496" y="1874520"/>
            <a:ext cx="2157984" cy="365760"/>
          </a:xfrm>
          <a:prstGeom prst="rect">
            <a:avLst/>
          </a:prstGeom>
          <a:solidFill>
            <a:srgbClr val="F4F2EB"/>
          </a:solidFill>
          <a:ln w="12700">
            <a:solidFill>
              <a:srgbClr val="F4F2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9774936" y="187452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再実行時の整合担保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9793224" y="233172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設計項目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9793224" y="2560320"/>
            <a:ext cx="19385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主キー／自然キー／source_updated_at／ingestion_timestamp／load_id／batch_id／record_hash／watermark／勝ちルール／上書き範囲を設計。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683496" y="4297680"/>
            <a:ext cx="2157984" cy="914400"/>
          </a:xfrm>
          <a:prstGeom prst="rect">
            <a:avLst/>
          </a:prstGeom>
          <a:solidFill>
            <a:srgbClr val="FBF1F1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Shape 67"/>
          <p:cNvSpPr/>
          <p:nvPr/>
        </p:nvSpPr>
        <p:spPr>
          <a:xfrm>
            <a:off x="9683496" y="4297680"/>
            <a:ext cx="73152" cy="914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Text 68"/>
          <p:cNvSpPr/>
          <p:nvPr/>
        </p:nvSpPr>
        <p:spPr>
          <a:xfrm>
            <a:off x="9848088" y="431596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留意事項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9848088" y="4572000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Bronzeはappend-only、Silverで主キー＋更新時刻によるdedup/mergeを徹底。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20040" y="5349240"/>
            <a:ext cx="292608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Text 71"/>
          <p:cNvSpPr/>
          <p:nvPr/>
        </p:nvSpPr>
        <p:spPr>
          <a:xfrm>
            <a:off x="320040" y="534924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612648" y="5349240"/>
            <a:ext cx="11228832" cy="256032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Text 73"/>
          <p:cNvSpPr/>
          <p:nvPr/>
        </p:nvSpPr>
        <p:spPr>
          <a:xfrm>
            <a:off x="704088" y="5349240"/>
            <a:ext cx="11137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レイクハウス上の典型設計指針（層別の役割分担）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320040" y="5623560"/>
            <a:ext cx="11521440" cy="960120"/>
          </a:xfrm>
          <a:prstGeom prst="rect">
            <a:avLst/>
          </a:prstGeom>
          <a:solidFill>
            <a:srgbClr val="F4F2EB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Shape 75"/>
          <p:cNvSpPr/>
          <p:nvPr/>
        </p:nvSpPr>
        <p:spPr>
          <a:xfrm>
            <a:off x="457200" y="5724144"/>
            <a:ext cx="731520" cy="201168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8" name="Text 76"/>
          <p:cNvSpPr/>
          <p:nvPr/>
        </p:nvSpPr>
        <p:spPr>
          <a:xfrm>
            <a:off x="457200" y="57241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1325880" y="568756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append-onlyでRawを保存。冪等性は『同一load_idの再投入で結果が変わらない』こと。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57200" y="6016752"/>
            <a:ext cx="731520" cy="201168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1" name="Text 79"/>
          <p:cNvSpPr/>
          <p:nvPr/>
        </p:nvSpPr>
        <p:spPr>
          <a:xfrm>
            <a:off x="457200" y="60167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1325880" y="598017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主キー＋更新時刻でdedup／merge。CDCの場合はMERGE INTOでlatest state化。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7200" y="6309360"/>
            <a:ext cx="731520" cy="201168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4" name="Text 82"/>
          <p:cNvSpPr/>
          <p:nvPr/>
        </p:nvSpPr>
        <p:spPr>
          <a:xfrm>
            <a:off x="457200" y="63093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1325880" y="627278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業務ロジック適用済データ。ファクト・ディメンション・KPI集計の信頼源とする。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9525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7" name="Text 85"/>
          <p:cNvSpPr/>
          <p:nvPr/>
        </p:nvSpPr>
        <p:spPr>
          <a:xfrm>
            <a:off x="3200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データ分析基盤アーキテクチャ設計書|Collecting Layer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63550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バッチ収集の設計要件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927080" y="0"/>
            <a:ext cx="1234440" cy="777240"/>
          </a:xfrm>
          <a:prstGeom prst="rect">
            <a:avLst/>
          </a:prstGeom>
          <a:solidFill>
            <a:srgbClr val="061A3A"/>
          </a:solidFill>
          <a:ln w="12700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927080" y="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 05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45720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CDC / Streaming の設計要件 — Replayable Design と Outbox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438912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ストリーミング特有の遅延・順序・重複・欠損を前提とし、Raw保持と再処理性を担保する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292608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20040" y="96012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" y="960120"/>
            <a:ext cx="5376672" cy="256032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04088" y="960120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Archive / Replayable Design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234440"/>
            <a:ext cx="56692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リーミングデータは遅延到着、順序入替、重複、再送、欠損が発生する。ゆえに加工前のRawイベントを必ずBronzeにappend-onlyで保存し、後から再処理（replay）できる設計を採る。consumer障害時の再読込にも対応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92608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20040" y="278892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" y="2788920"/>
            <a:ext cx="5376672" cy="256032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04088" y="2788920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Fan-out / Tee / Archive Sink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063240"/>
            <a:ext cx="56692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502920" y="3246120"/>
            <a:ext cx="1645920" cy="64008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02920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Kinesis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48840" y="3566160"/>
            <a:ext cx="274320" cy="0"/>
          </a:xfrm>
          <a:prstGeom prst="line">
            <a:avLst/>
          </a:prstGeom>
          <a:noFill/>
          <a:ln w="12700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2423160" y="3291840"/>
            <a:ext cx="18288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242316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Archive Consumer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4340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S3 / Bronze（append-only）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48840" y="3566160"/>
            <a:ext cx="274320" cy="301752"/>
          </a:xfrm>
          <a:prstGeom prst="line">
            <a:avLst/>
          </a:prstGeom>
          <a:noFill/>
          <a:ln w="12700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2423160" y="3794760"/>
            <a:ext cx="1828800" cy="365760"/>
          </a:xfrm>
          <a:prstGeom prst="rect">
            <a:avLst/>
          </a:prstGeom>
          <a:solidFill>
            <a:srgbClr val="1E4A85"/>
          </a:solidFill>
          <a:ln w="12700">
            <a:solidFill>
              <a:srgbClr val="1E4A8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242316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Processing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43400" y="3794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Flink / Consumer Apps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48840" y="3566160"/>
            <a:ext cx="274320" cy="804672"/>
          </a:xfrm>
          <a:prstGeom prst="line">
            <a:avLst/>
          </a:prstGeom>
          <a:noFill/>
          <a:ln w="12700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2423160" y="4297680"/>
            <a:ext cx="1828800" cy="365760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242316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/ Alerting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43400" y="4297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CloudWatch / Datadog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26480" y="960120"/>
            <a:ext cx="292608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6126480" y="96012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19088" y="960120"/>
            <a:ext cx="5422392" cy="256032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6510528" y="960120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Transactional Outbox Pattern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1234440"/>
            <a:ext cx="57150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6263640" y="129844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アプリケーションDBの更新とイベント発行の整合性を保つ設計。本番DB負荷回避ではなく、DB更新とイベント発行の不整合（二重書き込み問題）の防止が主目的。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2103120"/>
            <a:ext cx="2286000" cy="1325880"/>
          </a:xfrm>
          <a:prstGeom prst="rect">
            <a:avLst/>
          </a:prstGeom>
          <a:solidFill>
            <a:srgbClr val="F4F2EB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626364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55080" y="239572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《同一トランザクション》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・Business Table 更新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・Outbox Table 書込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549640" y="2743200"/>
            <a:ext cx="320040" cy="0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8915400" y="2103120"/>
            <a:ext cx="23317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8915400" y="21945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Debezium / CDC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↓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Kinesis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↓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(Changelog)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5440680"/>
            <a:ext cx="292608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320040" y="54406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12648" y="5440680"/>
            <a:ext cx="11228832" cy="256032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704088" y="5440680"/>
            <a:ext cx="11137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CDC to Lakehouse 反映戦略（Changelog → Latest State → Mart）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20040" y="5715000"/>
            <a:ext cx="115214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365760" y="5788152"/>
            <a:ext cx="2788920" cy="292608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365760" y="57881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Events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11480" y="6108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insert/update/delete + operation column + before/after image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035808" y="5788152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246120" y="5788152"/>
            <a:ext cx="2788920" cy="292608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3246120" y="57881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Changelog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291840" y="6108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append-only保存。完全な変更履歴を確保。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916168" y="5788152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126480" y="5788152"/>
            <a:ext cx="2788920" cy="292608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 57"/>
          <p:cNvSpPr/>
          <p:nvPr/>
        </p:nvSpPr>
        <p:spPr>
          <a:xfrm>
            <a:off x="6126480" y="57881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Latest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172200" y="6108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INTO による最新状態化／dedup／論理削除反映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796528" y="5788152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006840" y="5788152"/>
            <a:ext cx="2788920" cy="292608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9006840" y="57881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Data Mart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9052560" y="6108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Type2／履歴管理／業務向けマート構築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9525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64"/>
          <p:cNvSpPr/>
          <p:nvPr/>
        </p:nvSpPr>
        <p:spPr>
          <a:xfrm>
            <a:off x="3200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データ分析基盤アーキテクチャ設計書|Collecting Layer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3550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CDC / Streaming の設計要件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927080" y="0"/>
            <a:ext cx="1234440" cy="777240"/>
          </a:xfrm>
          <a:prstGeom prst="rect">
            <a:avLst/>
          </a:prstGeom>
          <a:solidFill>
            <a:srgbClr val="061A3A"/>
          </a:solidFill>
          <a:ln w="12700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927080" y="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 06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45720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Storage Layer — Landing Zone と Bronze の設計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438912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Layer の出口は Bronze。Raw保持・append-only・再処理性を原則とする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292608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20040" y="96012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" y="960120"/>
            <a:ext cx="5376672" cy="256032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04088" y="960120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 Zone（一時着地領域）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234440"/>
            <a:ext cx="56692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役割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155448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・外部から届いたファイルをまず受け取る一時領域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・検証前データ／ウイルススキャン前データの隔離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・形式チェック・文字コード判定の対象領域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51460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格納パス例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770632"/>
            <a:ext cx="5394960" cy="411480"/>
          </a:xfrm>
          <a:prstGeom prst="rect">
            <a:avLst/>
          </a:prstGeom>
          <a:solidFill>
            <a:srgbClr val="F0EEE5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02920" y="2770632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1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s3://lake/landing/&lt;source&gt;/&lt;entity&gt;/load_id=xxx/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383280"/>
            <a:ext cx="292608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320040" y="33832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" y="3383280"/>
            <a:ext cx="5376672" cy="256032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04088" y="3383280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Bronze Layer — Rawデータ保存層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657600"/>
            <a:ext cx="56692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57200" y="372160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役割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97764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・Rawデータを保存し、再処理を可能にする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・監査証跡を残し、ソース由来の変更履歴を保持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・CDCイベントをappend-only保存（Changelog化）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・以降の層で再構築可能な「原典」を維持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516636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保存形式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5422392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／ CSV ／ Avro ／ Parquet ／ Iceberg Table  （レイクハウス前提では原則 Iceberg テーブル管理）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960120"/>
            <a:ext cx="292608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6126480" y="96012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19088" y="960120"/>
            <a:ext cx="5422392" cy="256032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510528" y="960120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推奨メタカラム（監査・トレーサビリティ確保）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1234440"/>
            <a:ext cx="57150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6263640" y="1325880"/>
            <a:ext cx="5486400" cy="201168"/>
          </a:xfrm>
          <a:prstGeom prst="rect">
            <a:avLst/>
          </a:prstGeom>
          <a:solidFill>
            <a:srgbClr val="F6F4ED"/>
          </a:solidFill>
          <a:ln w="12700">
            <a:solidFill>
              <a:srgbClr val="F6F4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309360" y="1325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_source_system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183880" y="132588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ソースシステム識別子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63640" y="1540764"/>
            <a:ext cx="54864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4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6309360" y="15407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_source_database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183880" y="154076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ソースDB名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63640" y="1755648"/>
            <a:ext cx="5486400" cy="201168"/>
          </a:xfrm>
          <a:prstGeom prst="rect">
            <a:avLst/>
          </a:prstGeom>
          <a:solidFill>
            <a:srgbClr val="F6F4ED"/>
          </a:solidFill>
          <a:ln w="12700">
            <a:solidFill>
              <a:srgbClr val="F6F4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6309360" y="1755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_source_table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183880" y="175564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ソーステーブル名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63640" y="1970532"/>
            <a:ext cx="54864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4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6309360" y="19705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_source_file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183880" y="197053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ソースファイル名／パス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63640" y="2185416"/>
            <a:ext cx="5486400" cy="201168"/>
          </a:xfrm>
          <a:prstGeom prst="rect">
            <a:avLst/>
          </a:prstGeom>
          <a:solidFill>
            <a:srgbClr val="F6F4ED"/>
          </a:solidFill>
          <a:ln w="12700">
            <a:solidFill>
              <a:srgbClr val="F6F4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309360" y="21854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_ingested_at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183880" y="218541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取込時刻（基盤側のタイムスタンプ）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63640" y="2400300"/>
            <a:ext cx="54864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4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6309360" y="24003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_load_id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183880" y="240030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ロード単位識別子（冪等性キー）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63640" y="2615184"/>
            <a:ext cx="5486400" cy="201168"/>
          </a:xfrm>
          <a:prstGeom prst="rect">
            <a:avLst/>
          </a:prstGeom>
          <a:solidFill>
            <a:srgbClr val="F6F4ED"/>
          </a:solidFill>
          <a:ln w="12700">
            <a:solidFill>
              <a:srgbClr val="F6F4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6309360" y="26151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_batch_id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183880" y="261518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バッチ単位識別子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63640" y="2830068"/>
            <a:ext cx="54864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4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6309360" y="28300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_record_hash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183880" y="283006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レコードハッシュ（重複判定）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63640" y="3044952"/>
            <a:ext cx="5486400" cy="201168"/>
          </a:xfrm>
          <a:prstGeom prst="rect">
            <a:avLst/>
          </a:prstGeom>
          <a:solidFill>
            <a:srgbClr val="F6F4ED"/>
          </a:solidFill>
          <a:ln w="12700">
            <a:solidFill>
              <a:srgbClr val="F6F4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6309360" y="3044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_operation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183880" y="304495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I／U／D（CDCオペレーション種別）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263640" y="3259836"/>
            <a:ext cx="54864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4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6309360" y="32598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_source_created_at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183880" y="325983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ソース側作成時刻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263640" y="3474720"/>
            <a:ext cx="5486400" cy="201168"/>
          </a:xfrm>
          <a:prstGeom prst="rect">
            <a:avLst/>
          </a:prstGeom>
          <a:solidFill>
            <a:srgbClr val="F6F4ED"/>
          </a:solidFill>
          <a:ln w="12700">
            <a:solidFill>
              <a:srgbClr val="F6F4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6309360" y="3474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_source_updated_at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183880" y="347472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ソース側更新時刻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263640" y="3689604"/>
            <a:ext cx="54864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4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64"/>
          <p:cNvSpPr/>
          <p:nvPr/>
        </p:nvSpPr>
        <p:spPr>
          <a:xfrm>
            <a:off x="6309360" y="36896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_event_time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183880" y="368960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イベント発生時刻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263640" y="3904488"/>
            <a:ext cx="5486400" cy="201168"/>
          </a:xfrm>
          <a:prstGeom prst="rect">
            <a:avLst/>
          </a:prstGeom>
          <a:solidFill>
            <a:srgbClr val="F6F4ED"/>
          </a:solidFill>
          <a:ln w="12700">
            <a:solidFill>
              <a:srgbClr val="F6F4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Text 67"/>
          <p:cNvSpPr/>
          <p:nvPr/>
        </p:nvSpPr>
        <p:spPr>
          <a:xfrm>
            <a:off x="6309360" y="3904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_processing_time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183880" y="390448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処理時刻（基盤側）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263640" y="4119372"/>
            <a:ext cx="54864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4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70"/>
          <p:cNvSpPr/>
          <p:nvPr/>
        </p:nvSpPr>
        <p:spPr>
          <a:xfrm>
            <a:off x="6309360" y="41193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_is_deleted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183880" y="411937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論理削除フラグ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126480" y="4617720"/>
            <a:ext cx="292608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Text 73"/>
          <p:cNvSpPr/>
          <p:nvPr/>
        </p:nvSpPr>
        <p:spPr>
          <a:xfrm>
            <a:off x="6126480" y="461772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6419088" y="4617720"/>
            <a:ext cx="5422392" cy="256032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Text 75"/>
          <p:cNvSpPr/>
          <p:nvPr/>
        </p:nvSpPr>
        <p:spPr>
          <a:xfrm>
            <a:off x="6510528" y="4617720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S3パス例 ／ Iceberg テーブル例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6126480" y="4892040"/>
            <a:ext cx="5715000" cy="1691640"/>
          </a:xfrm>
          <a:prstGeom prst="rect">
            <a:avLst/>
          </a:prstGeom>
          <a:solidFill>
            <a:srgbClr val="F0EEE5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9" name="Text 77"/>
          <p:cNvSpPr/>
          <p:nvPr/>
        </p:nvSpPr>
        <p:spPr>
          <a:xfrm>
            <a:off x="6263640" y="4956048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 S3パス例 》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1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s3://lake/bronze/source_system=salesforce/entity=account/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1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ingestion_date=2026-05-12/load_id=xxx/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1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s3://lake/bronze/source_system=postgres/entity=orders/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1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ingestion_date=2026-05-12/load_id=xxx/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 Iceberg テーブル例 》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1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bronze.salesforce_account_raw  ／  bronze.postgres_orders_changelog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1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bronze.web_events_raw  ／  bronze.app_logs_raw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9525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1" name="Text 79"/>
          <p:cNvSpPr/>
          <p:nvPr/>
        </p:nvSpPr>
        <p:spPr>
          <a:xfrm>
            <a:off x="3200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データ分析基盤アーキテクチャ設計書|Collecting Layer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3550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ストレージ層（Landing / Bronze）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927080" y="0"/>
            <a:ext cx="1234440" cy="777240"/>
          </a:xfrm>
          <a:prstGeom prst="rect">
            <a:avLst/>
          </a:prstGeom>
          <a:solidFill>
            <a:srgbClr val="061A3A"/>
          </a:solidFill>
          <a:ln w="12700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927080" y="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 07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45720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Processing Layer と Serving Layer — Silver → Gold → Semantic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438912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Layer から取り込まれたデータを段階的に品質向上させ、業務利用に供する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36576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3657600" cy="685800"/>
          </a:xfrm>
          <a:prstGeom prst="rect">
            <a:avLst/>
          </a:prstGeom>
          <a:solidFill>
            <a:srgbClr val="1E4A85"/>
          </a:solidFill>
          <a:ln w="12700">
            <a:solidFill>
              <a:srgbClr val="1E4A8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57200" y="1051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Silver Layer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整形・標準化・品質チェック層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182880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役割・処理内容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" y="2121408"/>
            <a:ext cx="33284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型変換／カラム名標準化／重複排除／削除反映／CDCのMERGE／主キー整備／タイムゾーン統一／PII検知・マスキング準備／品質チェック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" y="342900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代表テーブル／View例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" y="3730752"/>
            <a:ext cx="3328416" cy="1143000"/>
          </a:xfrm>
          <a:prstGeom prst="rect">
            <a:avLst/>
          </a:prstGeom>
          <a:solidFill>
            <a:srgbClr val="F0EEE5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76072" y="379476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1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・silver.orders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1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・silver.customers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1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・silver.payments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1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・silver.web_events_cleaned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" y="498348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設計上の要諦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" y="5276088"/>
            <a:ext cx="33284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CDCの場合：Bronze Changelog → MERGE INTO → Silver latest state table。業務的に意味のあるエンティティ単位で再構成し、後続のGoldで自由な集計が可能な状態にする。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51960" y="1005840"/>
            <a:ext cx="36576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4251960" y="1005840"/>
            <a:ext cx="3657600" cy="68580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389120" y="1051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 Layer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38912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業務・分析用途最適化層（信頼源）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16552" y="182880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役割・処理内容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16552" y="2121408"/>
            <a:ext cx="33284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データマート／集計テーブル／ファクトテーブル／ディメンションテーブル／KPI計算用データ／BI・Semantic Layer向けデータの整備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16552" y="342900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代表テーブル／View例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16552" y="3730752"/>
            <a:ext cx="3328416" cy="1143000"/>
          </a:xfrm>
          <a:prstGeom prst="rect">
            <a:avLst/>
          </a:prstGeom>
          <a:solidFill>
            <a:srgbClr val="F0EEE5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4507992" y="379476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1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・gold.fct_orders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1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・gold.dim_customers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1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・gold.mart_sales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1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・gold.customer_360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1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・gold.daily_revenue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16552" y="498348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設計上の要諦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16552" y="5276088"/>
            <a:ext cx="33284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ビジネスロジックを明示的に集約。複数Silverテーブルを横断して結合・集計し、BIや分析・AI/MLにそのまま提供可能な「単一の信頼源」を構築。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83880" y="1005840"/>
            <a:ext cx="36576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8183880" y="1005840"/>
            <a:ext cx="3657600" cy="685800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8321040" y="1051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Serving / Semantic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2104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提供層（BI／API／AI／Notebook）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48472" y="182880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役割・処理内容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48472" y="2121408"/>
            <a:ext cx="33284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View／集計View／dbt Semantic Layer／Cube／Headless BI／BI Semantic Model／API／Notebook／BIダッシュボード／AIエージェント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348472" y="342900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代表テーブル／View例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348472" y="3730752"/>
            <a:ext cx="3328416" cy="1143000"/>
          </a:xfrm>
          <a:prstGeom prst="rect">
            <a:avLst/>
          </a:prstGeom>
          <a:solidFill>
            <a:srgbClr val="F0EEE5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8439912" y="379476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1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・semantic.v_monthly_revenue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1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・semantic.v_customer_ltv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1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・Cube metrics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1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・dbt Semantic Layer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48472" y="498348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設計上の要諦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48472" y="5276088"/>
            <a:ext cx="33284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GoldをそのままViewで提供する場合と、Semantic Layerを介在させる場合がある。メトリクス定義の一元管理・利用者ごとの権限制御・KPIの再利用性が要点。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9525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3200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データ分析基盤アーキテクチャ設計書|Collecting Layer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3550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後続層（Silver / Gold / Semantic）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927080" y="0"/>
            <a:ext cx="1234440" cy="777240"/>
          </a:xfrm>
          <a:prstGeom prst="rect">
            <a:avLst/>
          </a:prstGeom>
          <a:solidFill>
            <a:srgbClr val="061A3A"/>
          </a:solidFill>
          <a:ln w="12700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927080" y="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 08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45720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Collecting Layer の横断機能群 — 7領域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438912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Orchestration／Schema／Error／Observability／Security／Metadata／Data Contract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2756916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756916" cy="50292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20040" y="960120"/>
            <a:ext cx="45720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20040" y="9601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1005840"/>
            <a:ext cx="22082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1252728"/>
            <a:ext cx="22082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実行管理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1554480"/>
            <a:ext cx="2482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設計項目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1783080"/>
            <a:ext cx="24825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スケジュール／依存関係／リトライ／タイムアウト／バックフィル／失敗通知／SLA／再実行単位／ジョブパラメータ／watermark管理を体系的に整備。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2756916" cy="640080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57200" y="2944368"/>
            <a:ext cx="248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代表ツール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145536"/>
            <a:ext cx="2482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Airflow／Dagster／Prefect／Step Functions／MWAA／Argo／TROCCO Workflow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41548" y="960120"/>
            <a:ext cx="2756916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3241548" y="960120"/>
            <a:ext cx="2756916" cy="50292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3241548" y="960120"/>
            <a:ext cx="45720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241548" y="9601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744468" y="1005840"/>
            <a:ext cx="22082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Management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44468" y="1252728"/>
            <a:ext cx="22082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スキーマ管理・進化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78708" y="1554480"/>
            <a:ext cx="2482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設計項目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78708" y="1783080"/>
            <a:ext cx="24825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Registryの採用／schema変更検知箇所／nullableカラム追加可否／型変更の扱い／カラム削除の扱い／未知カラムの保持／breaking change時の挙動・下流通知。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41548" y="2926080"/>
            <a:ext cx="2756916" cy="640080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3378708" y="2944368"/>
            <a:ext cx="248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代表ツール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78708" y="3145536"/>
            <a:ext cx="2482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Schema Registry／Confluent Schema Registry／Apicurio／DataHub／OpenMetadata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63056" y="960120"/>
            <a:ext cx="2756916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6163056" y="960120"/>
            <a:ext cx="2756916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6163056" y="960120"/>
            <a:ext cx="457200" cy="502920"/>
          </a:xfrm>
          <a:prstGeom prst="rect">
            <a:avLst/>
          </a:prstGeom>
          <a:solidFill>
            <a:srgbClr val="061A3A"/>
          </a:solidFill>
          <a:ln w="12700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163056" y="9601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665976" y="1005840"/>
            <a:ext cx="22082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Handling / DLQ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65976" y="1252728"/>
            <a:ext cx="22082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異常レコード隔離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00216" y="1554480"/>
            <a:ext cx="2482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設計項目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00216" y="1783080"/>
            <a:ext cx="24825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Letter Queue／Quarantine Bucket／Bad Records Table／Retry Policy／Poison Message Handling／Partial Failure Handling／再処理フローを設計。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63056" y="2926080"/>
            <a:ext cx="2756916" cy="640080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6300216" y="2944368"/>
            <a:ext cx="248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代表ツール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0216" y="3145536"/>
            <a:ext cx="2482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Quarantine／Kafka DLT／SQS DLQ／Bad Records sink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084564" y="960120"/>
            <a:ext cx="2756916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9084564" y="960120"/>
            <a:ext cx="2756916" cy="50292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9084564" y="960120"/>
            <a:ext cx="45720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9084564" y="9601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587484" y="1005840"/>
            <a:ext cx="22082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587484" y="1252728"/>
            <a:ext cx="22082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監視・データ鮮度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221724" y="1554480"/>
            <a:ext cx="2482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設計項目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221724" y="1783080"/>
            <a:ext cx="24825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取込件数／バイト数／最終成功時刻／失敗件数／重複件数／遅延／watermark／Kafka lag／CDC lag／APIレート制限／ソースDB負荷／schema変更／欠損／鮮度。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084564" y="2926080"/>
            <a:ext cx="2756916" cy="640080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9221724" y="2944368"/>
            <a:ext cx="248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代表ツール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221724" y="3145536"/>
            <a:ext cx="2482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CloudWatch／Prometheus／Grafana／Datadog／OpenTelemetry／Monte Carlo／Datafold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0040" y="3749040"/>
            <a:ext cx="3730752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51"/>
          <p:cNvSpPr/>
          <p:nvPr/>
        </p:nvSpPr>
        <p:spPr>
          <a:xfrm>
            <a:off x="320040" y="3749040"/>
            <a:ext cx="3730752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Shape 52"/>
          <p:cNvSpPr/>
          <p:nvPr/>
        </p:nvSpPr>
        <p:spPr>
          <a:xfrm>
            <a:off x="320040" y="3749040"/>
            <a:ext cx="457200" cy="502920"/>
          </a:xfrm>
          <a:prstGeom prst="rect">
            <a:avLst/>
          </a:prstGeom>
          <a:solidFill>
            <a:srgbClr val="061A3A"/>
          </a:solidFill>
          <a:ln w="12700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320040" y="3749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822960" y="379476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/ Governance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22960" y="4041648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基盤入口のセキュリティ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57200" y="4343400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設計項目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" y="4572000"/>
            <a:ext cx="3456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通信／保存時暗号化／IAM Role／最小権限／Secrets Manager／Token Rotation／OAuth Scope最小化／VPC Endpoint／PrivateLink／IP制限／PII検知・マスキング／監査ログ。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0040" y="5715000"/>
            <a:ext cx="3730752" cy="640080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457200" y="573328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代表ツール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57200" y="5934456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IAM／Secrets Manager／KMS／Lake Formation／CloudTrail／VPC Endpoint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215384" y="3749040"/>
            <a:ext cx="3730752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Shape 62"/>
          <p:cNvSpPr/>
          <p:nvPr/>
        </p:nvSpPr>
        <p:spPr>
          <a:xfrm>
            <a:off x="4215384" y="3749040"/>
            <a:ext cx="3730752" cy="50292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Shape 63"/>
          <p:cNvSpPr/>
          <p:nvPr/>
        </p:nvSpPr>
        <p:spPr>
          <a:xfrm>
            <a:off x="4215384" y="3749040"/>
            <a:ext cx="45720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64"/>
          <p:cNvSpPr/>
          <p:nvPr/>
        </p:nvSpPr>
        <p:spPr>
          <a:xfrm>
            <a:off x="4215384" y="3749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⑥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4718304" y="379476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Metadata / Catalog / Lineage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718304" y="4041648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メタ情報とリネージ管理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352544" y="4343400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設計項目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4352544" y="4572000"/>
            <a:ext cx="3456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データセット名／スキーマ／カラム説明／ソース／オーナー／更新頻度／SLA／PIIタグ／品質テスト結果／リネージ／ジョブ実行履歴／データ鮮度を一元管理。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215384" y="5715000"/>
            <a:ext cx="3730752" cy="640080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70"/>
          <p:cNvSpPr/>
          <p:nvPr/>
        </p:nvSpPr>
        <p:spPr>
          <a:xfrm>
            <a:off x="4352544" y="573328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代表ツール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352544" y="5934456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DataHub／OpenMetadata／Glue Data Catalog／Marquez／OpenLineage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110728" y="3749040"/>
            <a:ext cx="3730752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Shape 73"/>
          <p:cNvSpPr/>
          <p:nvPr/>
        </p:nvSpPr>
        <p:spPr>
          <a:xfrm>
            <a:off x="8110728" y="3749040"/>
            <a:ext cx="3730752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6" name="Shape 74"/>
          <p:cNvSpPr/>
          <p:nvPr/>
        </p:nvSpPr>
        <p:spPr>
          <a:xfrm>
            <a:off x="8110728" y="3749040"/>
            <a:ext cx="457200" cy="502920"/>
          </a:xfrm>
          <a:prstGeom prst="rect">
            <a:avLst/>
          </a:prstGeom>
          <a:solidFill>
            <a:srgbClr val="061A3A"/>
          </a:solidFill>
          <a:ln w="12700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Text 75"/>
          <p:cNvSpPr/>
          <p:nvPr/>
        </p:nvSpPr>
        <p:spPr>
          <a:xfrm>
            <a:off x="8110728" y="3749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⑦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8613648" y="379476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Contract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8613648" y="4041648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ソースと基盤の契約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8247888" y="4343400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設計項目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8247888" y="4572000"/>
            <a:ext cx="3456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データセット名／ソースシステム／オーナー／主キー／更新頻度／許容遅延／SLA／スキーマ／PII有無／削除イベント有無／差分取得方式／品質ルール／障害時連絡先。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8110728" y="5715000"/>
            <a:ext cx="3730752" cy="640080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3" name="Text 81"/>
          <p:cNvSpPr/>
          <p:nvPr/>
        </p:nvSpPr>
        <p:spPr>
          <a:xfrm>
            <a:off x="8247888" y="573328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代表ツール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8247888" y="5934456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YAML/JSON Contract／dbt contract／Schemata／PactFlow（思想を流用）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9525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6" name="Text 84"/>
          <p:cNvSpPr/>
          <p:nvPr/>
        </p:nvSpPr>
        <p:spPr>
          <a:xfrm>
            <a:off x="3200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データ分析基盤アーキテクチャ設計書|Collecting Layer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63550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横断機能群（Orchestration／Schema／Error／Observability／Security／Metadata／Contract）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927080" y="0"/>
            <a:ext cx="1234440" cy="777240"/>
          </a:xfrm>
          <a:prstGeom prst="rect">
            <a:avLst/>
          </a:prstGeom>
          <a:solidFill>
            <a:srgbClr val="061A3A"/>
          </a:solidFill>
          <a:ln w="12700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927080" y="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 09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45720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 収集方式の使い分けマトリクス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438912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ソース特性・更新特性・遅延要件から最適な収集方式を選定する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292608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20040" y="96012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" y="960120"/>
            <a:ext cx="11228832" cy="256032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04088" y="960120"/>
            <a:ext cx="11137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5方式の比較マトリクス（適用ケース／長所／短所／設計上の難所）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80160"/>
          <a:ext cx="1152144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 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向いているケース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長 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短 所 ／ 注意点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レイクハウスでの取扱い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6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Load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小さなマスタ／全件取得が軽いテーブル／参照系で更新頻度が低いもの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実装が容易／一貫性が高い／削除も自然に反映される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件数増加で性能劣化／ソース負荷／頻度を上げにくい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Bronzeにingestion_date付与で履歴蓄積。Silverで最新版に集約。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6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Load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updated_atやIDで差分取得できる業務テーブル／日次バッチ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効率的・低負荷／実装が比較的容易／スケーラブル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deleteを拾えない場合あり／watermark管理が必要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Bronzeにappend、Silverでmerge。削除はsnapshot diffで補完。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6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更新・削除を正確に追いたい主要業務DB／リアルタイム要件のあるテーブル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更新・削除・順序を正確に反映／低遅延／DBに優しい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運用・順序・重複処理が複雑／インフラ依存／障害時の復旧が難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BronzeをChangelog化、SilverでMERGE INTO。Outbox併用が望ましい。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6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日次状態を履歴管理したい／SCD Type2を作りたい／監査要件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履歴管理が自然／delete補完が容易／監査適合性が高い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ストレージ量が増大／取得時間が長い／ソース負荷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Bronzeにsnapshot_dateで蓄積。Silver/GoldでSCD Type2構築。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6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Stream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リアルタイムイベント分析／ユーザー行動／IoT／監視系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低遅延／スケーラブル／fan-out容易／Replay可能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遅延・重複・順序入替を考慮／スキーマ進化／運用複雑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Archive Sinkを必ず設置。Silverでevent time集約。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20040" y="3931920"/>
            <a:ext cx="292608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/>
          <p:nvPr/>
        </p:nvSpPr>
        <p:spPr>
          <a:xfrm>
            <a:off x="320040" y="393192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" y="3931920"/>
            <a:ext cx="11228832" cy="256032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704088" y="3931920"/>
            <a:ext cx="11137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本書の最終メッセージ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" y="4206240"/>
            <a:ext cx="11521440" cy="2286000"/>
          </a:xfrm>
          <a:prstGeom prst="rect">
            <a:avLst/>
          </a:prstGeom>
          <a:solidFill>
            <a:srgbClr val="F4F2EB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5"/>
          <p:cNvSpPr/>
          <p:nvPr/>
        </p:nvSpPr>
        <p:spPr>
          <a:xfrm>
            <a:off x="320040" y="4206240"/>
            <a:ext cx="109728" cy="2286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594360" y="4343400"/>
            <a:ext cx="11109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Layer は、データを取ってくるだけの層ではない。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安全性／再実行性／冪等性／スキーマ変更／削除反映／監査性 までを含めて設計する。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レイクハウス前提における基本方針：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・Raw は必ず Bronze に残す  ／  CDC は Changelog として保存する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・Silver で 整形・dedup・merge し、Gold で業務向けデータマート化する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・Semantic / Serving で BI・API・AI 向けに統一されたインタフェースを提供する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9525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3200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データ分析基盤アーキテクチャ設計書|Collecting Layer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3550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方式の使い分けとまとめ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927080" y="0"/>
            <a:ext cx="1234440" cy="777240"/>
          </a:xfrm>
          <a:prstGeom prst="rect">
            <a:avLst/>
          </a:prstGeom>
          <a:solidFill>
            <a:srgbClr val="061A3A"/>
          </a:solidFill>
          <a:ln w="12700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927080" y="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 10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45720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 参照アーキテクチャ全体図 — End-to-End View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438912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→ Collecting → Storage → Processing → Serving の全体俯瞰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2194560" cy="4572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20040" y="960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417320"/>
            <a:ext cx="219456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29768" y="1508760"/>
            <a:ext cx="1975104" cy="418011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29768" y="1508760"/>
            <a:ext cx="54864" cy="418011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21208" y="1508760"/>
            <a:ext cx="188366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/ API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" y="2018211"/>
            <a:ext cx="1975104" cy="418011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429768" y="2018211"/>
            <a:ext cx="54864" cy="418011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21208" y="2018211"/>
            <a:ext cx="188366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 / 業務DB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" y="2527663"/>
            <a:ext cx="1975104" cy="418011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429768" y="2527663"/>
            <a:ext cx="54864" cy="418011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21208" y="2527663"/>
            <a:ext cx="188366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Events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9768" y="3037114"/>
            <a:ext cx="1975104" cy="418011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29768" y="3037114"/>
            <a:ext cx="54864" cy="418011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21208" y="3037114"/>
            <a:ext cx="188366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App Logs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9768" y="3546566"/>
            <a:ext cx="1975104" cy="418011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429768" y="3546566"/>
            <a:ext cx="54864" cy="418011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21208" y="3546566"/>
            <a:ext cx="188366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SFTP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" y="4056017"/>
            <a:ext cx="1975104" cy="418011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429768" y="4056017"/>
            <a:ext cx="54864" cy="418011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21208" y="4056017"/>
            <a:ext cx="188366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Device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9768" y="4565469"/>
            <a:ext cx="1975104" cy="418011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429768" y="4565469"/>
            <a:ext cx="54864" cy="418011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521208" y="4565469"/>
            <a:ext cx="188366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32888" y="2926080"/>
            <a:ext cx="100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651760" y="960120"/>
            <a:ext cx="219456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2651760" y="960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Collecting Layer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651760" y="1417320"/>
            <a:ext cx="219456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2761488" y="1508760"/>
            <a:ext cx="1975104" cy="800100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2761488" y="1508760"/>
            <a:ext cx="54864" cy="8001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2852928" y="1508760"/>
            <a:ext cx="188366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ELT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(Fivetran/Airbyte/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TROCCO)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61488" y="2400300"/>
            <a:ext cx="1975104" cy="800100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2761488" y="2400300"/>
            <a:ext cx="54864" cy="8001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2852928" y="2400300"/>
            <a:ext cx="188366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Batch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(JDBC/API/SFTP/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Spark/Glue)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61488" y="3291840"/>
            <a:ext cx="1975104" cy="800100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2761488" y="3291840"/>
            <a:ext cx="54864" cy="8001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2852928" y="3291840"/>
            <a:ext cx="188366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/ Streaming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(Debezium/Kafka/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Kinesis/DMS)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61488" y="4183380"/>
            <a:ext cx="1975104" cy="800100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4"/>
          <p:cNvSpPr/>
          <p:nvPr/>
        </p:nvSpPr>
        <p:spPr>
          <a:xfrm>
            <a:off x="2761488" y="4183380"/>
            <a:ext cx="54864" cy="8001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2852928" y="4183380"/>
            <a:ext cx="188366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/ Event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(Fluent Bit/Fluentd/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Vector/OTel)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64608" y="2926080"/>
            <a:ext cx="100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983480" y="960120"/>
            <a:ext cx="2194560" cy="457200"/>
          </a:xfrm>
          <a:prstGeom prst="rect">
            <a:avLst/>
          </a:prstGeom>
          <a:solidFill>
            <a:srgbClr val="1E4A85"/>
          </a:solidFill>
          <a:ln w="12700">
            <a:solidFill>
              <a:srgbClr val="1E4A8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4983480" y="960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Layer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983480" y="1417320"/>
            <a:ext cx="219456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Shape 50"/>
          <p:cNvSpPr/>
          <p:nvPr/>
        </p:nvSpPr>
        <p:spPr>
          <a:xfrm>
            <a:off x="5093208" y="1508760"/>
            <a:ext cx="1975104" cy="1691640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51"/>
          <p:cNvSpPr/>
          <p:nvPr/>
        </p:nvSpPr>
        <p:spPr>
          <a:xfrm>
            <a:off x="5093208" y="1508760"/>
            <a:ext cx="54864" cy="1691640"/>
          </a:xfrm>
          <a:prstGeom prst="rect">
            <a:avLst/>
          </a:prstGeom>
          <a:solidFill>
            <a:srgbClr val="1E4A85"/>
          </a:solidFill>
          <a:ln w="12700">
            <a:solidFill>
              <a:srgbClr val="1E4A8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5184648" y="1508760"/>
            <a:ext cx="18836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(一時着地・検証前)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093208" y="3291840"/>
            <a:ext cx="1975104" cy="1691640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/>
          <p:cNvSpPr/>
          <p:nvPr/>
        </p:nvSpPr>
        <p:spPr>
          <a:xfrm>
            <a:off x="5093208" y="3291840"/>
            <a:ext cx="54864" cy="1691640"/>
          </a:xfrm>
          <a:prstGeom prst="rect">
            <a:avLst/>
          </a:prstGeom>
          <a:solidFill>
            <a:srgbClr val="1E4A85"/>
          </a:solidFill>
          <a:ln w="12700">
            <a:solidFill>
              <a:srgbClr val="1E4A8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5184648" y="3291840"/>
            <a:ext cx="18836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/ Raw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(append-only)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(Iceberg / Parquet)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(CDC Changelog)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(メタカラム保持)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196328" y="2926080"/>
            <a:ext cx="100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7315200" y="960120"/>
            <a:ext cx="2194560" cy="45720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7315200" y="960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Processing Layer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315200" y="1417320"/>
            <a:ext cx="219456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60"/>
          <p:cNvSpPr/>
          <p:nvPr/>
        </p:nvSpPr>
        <p:spPr>
          <a:xfrm>
            <a:off x="7424928" y="1508760"/>
            <a:ext cx="1975104" cy="1691640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Shape 61"/>
          <p:cNvSpPr/>
          <p:nvPr/>
        </p:nvSpPr>
        <p:spPr>
          <a:xfrm>
            <a:off x="7424928" y="1508760"/>
            <a:ext cx="54864" cy="169164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Text 62"/>
          <p:cNvSpPr/>
          <p:nvPr/>
        </p:nvSpPr>
        <p:spPr>
          <a:xfrm>
            <a:off x="7516368" y="1508760"/>
            <a:ext cx="18836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型変換・dedup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merge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品質チェック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424928" y="3291840"/>
            <a:ext cx="1975104" cy="1691640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Shape 64"/>
          <p:cNvSpPr/>
          <p:nvPr/>
        </p:nvSpPr>
        <p:spPr>
          <a:xfrm>
            <a:off x="7424928" y="3291840"/>
            <a:ext cx="54864" cy="1691640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Text 65"/>
          <p:cNvSpPr/>
          <p:nvPr/>
        </p:nvSpPr>
        <p:spPr>
          <a:xfrm>
            <a:off x="7516368" y="3291840"/>
            <a:ext cx="18836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データマート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/ Dim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集計 / KPI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528048" y="2926080"/>
            <a:ext cx="100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9646920" y="960120"/>
            <a:ext cx="2194560" cy="457200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Text 68"/>
          <p:cNvSpPr/>
          <p:nvPr/>
        </p:nvSpPr>
        <p:spPr>
          <a:xfrm>
            <a:off x="9646920" y="960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Serving / Semantic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9646920" y="1417320"/>
            <a:ext cx="219456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Shape 70"/>
          <p:cNvSpPr/>
          <p:nvPr/>
        </p:nvSpPr>
        <p:spPr>
          <a:xfrm>
            <a:off x="9756648" y="1508760"/>
            <a:ext cx="1975104" cy="418011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Shape 71"/>
          <p:cNvSpPr/>
          <p:nvPr/>
        </p:nvSpPr>
        <p:spPr>
          <a:xfrm>
            <a:off x="9756648" y="1508760"/>
            <a:ext cx="54864" cy="418011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Text 72"/>
          <p:cNvSpPr/>
          <p:nvPr/>
        </p:nvSpPr>
        <p:spPr>
          <a:xfrm>
            <a:off x="9848088" y="1508760"/>
            <a:ext cx="188366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756648" y="2018211"/>
            <a:ext cx="1975104" cy="418011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6" name="Shape 74"/>
          <p:cNvSpPr/>
          <p:nvPr/>
        </p:nvSpPr>
        <p:spPr>
          <a:xfrm>
            <a:off x="9756648" y="2018211"/>
            <a:ext cx="54864" cy="418011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Text 75"/>
          <p:cNvSpPr/>
          <p:nvPr/>
        </p:nvSpPr>
        <p:spPr>
          <a:xfrm>
            <a:off x="9848088" y="2018211"/>
            <a:ext cx="188366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 / Headless BI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9756648" y="2527663"/>
            <a:ext cx="1975104" cy="418011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9" name="Shape 77"/>
          <p:cNvSpPr/>
          <p:nvPr/>
        </p:nvSpPr>
        <p:spPr>
          <a:xfrm>
            <a:off x="9756648" y="2527663"/>
            <a:ext cx="54864" cy="418011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" name="Text 78"/>
          <p:cNvSpPr/>
          <p:nvPr/>
        </p:nvSpPr>
        <p:spPr>
          <a:xfrm>
            <a:off x="9848088" y="2527663"/>
            <a:ext cx="188366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Semantic Layer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9756648" y="3037114"/>
            <a:ext cx="1975104" cy="418011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2" name="Shape 80"/>
          <p:cNvSpPr/>
          <p:nvPr/>
        </p:nvSpPr>
        <p:spPr>
          <a:xfrm>
            <a:off x="9756648" y="3037114"/>
            <a:ext cx="54864" cy="418011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3" name="Text 81"/>
          <p:cNvSpPr/>
          <p:nvPr/>
        </p:nvSpPr>
        <p:spPr>
          <a:xfrm>
            <a:off x="9848088" y="3037114"/>
            <a:ext cx="188366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756648" y="3546566"/>
            <a:ext cx="1975104" cy="418011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5" name="Shape 83"/>
          <p:cNvSpPr/>
          <p:nvPr/>
        </p:nvSpPr>
        <p:spPr>
          <a:xfrm>
            <a:off x="9756648" y="3546566"/>
            <a:ext cx="54864" cy="418011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6" name="Text 84"/>
          <p:cNvSpPr/>
          <p:nvPr/>
        </p:nvSpPr>
        <p:spPr>
          <a:xfrm>
            <a:off x="9848088" y="3546566"/>
            <a:ext cx="188366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9756648" y="4056017"/>
            <a:ext cx="1975104" cy="418011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8" name="Shape 86"/>
          <p:cNvSpPr/>
          <p:nvPr/>
        </p:nvSpPr>
        <p:spPr>
          <a:xfrm>
            <a:off x="9756648" y="4056017"/>
            <a:ext cx="54864" cy="418011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9" name="Text 87"/>
          <p:cNvSpPr/>
          <p:nvPr/>
        </p:nvSpPr>
        <p:spPr>
          <a:xfrm>
            <a:off x="9848088" y="4056017"/>
            <a:ext cx="188366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9756648" y="4565469"/>
            <a:ext cx="1975104" cy="418011"/>
          </a:xfrm>
          <a:prstGeom prst="rect">
            <a:avLst/>
          </a:prstGeom>
          <a:solidFill>
            <a:srgbClr val="F4F2EB"/>
          </a:solidFill>
          <a:ln w="6350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1" name="Shape 89"/>
          <p:cNvSpPr/>
          <p:nvPr/>
        </p:nvSpPr>
        <p:spPr>
          <a:xfrm>
            <a:off x="9756648" y="4565469"/>
            <a:ext cx="54864" cy="418011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2" name="Text 90"/>
          <p:cNvSpPr/>
          <p:nvPr/>
        </p:nvSpPr>
        <p:spPr>
          <a:xfrm>
            <a:off x="9848088" y="4565469"/>
            <a:ext cx="188366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320040" y="5349240"/>
            <a:ext cx="292608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4" name="Text 92"/>
          <p:cNvSpPr/>
          <p:nvPr/>
        </p:nvSpPr>
        <p:spPr>
          <a:xfrm>
            <a:off x="320040" y="534924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612648" y="5349240"/>
            <a:ext cx="11228832" cy="256032"/>
          </a:xfrm>
          <a:prstGeom prst="rect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6" name="Text 94"/>
          <p:cNvSpPr/>
          <p:nvPr/>
        </p:nvSpPr>
        <p:spPr>
          <a:xfrm>
            <a:off x="704088" y="5349240"/>
            <a:ext cx="11137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横断機能（Cross-cutting Concerns）— 全層を貫く7領域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320040" y="5623560"/>
            <a:ext cx="11521440" cy="960120"/>
          </a:xfrm>
          <a:prstGeom prst="rect">
            <a:avLst/>
          </a:prstGeom>
          <a:solidFill>
            <a:srgbClr val="F4F2EB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8" name="Shape 96"/>
          <p:cNvSpPr/>
          <p:nvPr/>
        </p:nvSpPr>
        <p:spPr>
          <a:xfrm>
            <a:off x="548640" y="5760720"/>
            <a:ext cx="1502229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9" name="Shape 97"/>
          <p:cNvSpPr/>
          <p:nvPr/>
        </p:nvSpPr>
        <p:spPr>
          <a:xfrm>
            <a:off x="548640" y="5760720"/>
            <a:ext cx="1502229" cy="164592"/>
          </a:xfrm>
          <a:prstGeom prst="rect">
            <a:avLst/>
          </a:prstGeom>
          <a:solidFill>
            <a:srgbClr val="061A3A"/>
          </a:solidFill>
          <a:ln w="12700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0" name="Text 98"/>
          <p:cNvSpPr/>
          <p:nvPr/>
        </p:nvSpPr>
        <p:spPr>
          <a:xfrm>
            <a:off x="548640" y="5760720"/>
            <a:ext cx="15022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594360" y="5943600"/>
            <a:ext cx="1410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2142309" y="5760720"/>
            <a:ext cx="1502229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3" name="Shape 101"/>
          <p:cNvSpPr/>
          <p:nvPr/>
        </p:nvSpPr>
        <p:spPr>
          <a:xfrm>
            <a:off x="2142309" y="5760720"/>
            <a:ext cx="1502229" cy="164592"/>
          </a:xfrm>
          <a:prstGeom prst="rect">
            <a:avLst/>
          </a:prstGeom>
          <a:solidFill>
            <a:srgbClr val="061A3A"/>
          </a:solidFill>
          <a:ln w="12700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4" name="Text 102"/>
          <p:cNvSpPr/>
          <p:nvPr/>
        </p:nvSpPr>
        <p:spPr>
          <a:xfrm>
            <a:off x="2142309" y="5760720"/>
            <a:ext cx="15022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2188029" y="5943600"/>
            <a:ext cx="1410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Management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3735977" y="5760720"/>
            <a:ext cx="1502229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7" name="Shape 105"/>
          <p:cNvSpPr/>
          <p:nvPr/>
        </p:nvSpPr>
        <p:spPr>
          <a:xfrm>
            <a:off x="3735977" y="5760720"/>
            <a:ext cx="1502229" cy="164592"/>
          </a:xfrm>
          <a:prstGeom prst="rect">
            <a:avLst/>
          </a:prstGeom>
          <a:solidFill>
            <a:srgbClr val="061A3A"/>
          </a:solidFill>
          <a:ln w="12700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8" name="Text 106"/>
          <p:cNvSpPr/>
          <p:nvPr/>
        </p:nvSpPr>
        <p:spPr>
          <a:xfrm>
            <a:off x="3735977" y="5760720"/>
            <a:ext cx="15022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3781697" y="5943600"/>
            <a:ext cx="1410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/ DLQ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5329646" y="5760720"/>
            <a:ext cx="1502229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1" name="Shape 109"/>
          <p:cNvSpPr/>
          <p:nvPr/>
        </p:nvSpPr>
        <p:spPr>
          <a:xfrm>
            <a:off x="5329646" y="5760720"/>
            <a:ext cx="1502229" cy="164592"/>
          </a:xfrm>
          <a:prstGeom prst="rect">
            <a:avLst/>
          </a:prstGeom>
          <a:solidFill>
            <a:srgbClr val="061A3A"/>
          </a:solidFill>
          <a:ln w="12700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2" name="Text 110"/>
          <p:cNvSpPr/>
          <p:nvPr/>
        </p:nvSpPr>
        <p:spPr>
          <a:xfrm>
            <a:off x="5329646" y="5760720"/>
            <a:ext cx="15022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5375366" y="5943600"/>
            <a:ext cx="1410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6923314" y="5760720"/>
            <a:ext cx="1502229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5" name="Shape 113"/>
          <p:cNvSpPr/>
          <p:nvPr/>
        </p:nvSpPr>
        <p:spPr>
          <a:xfrm>
            <a:off x="6923314" y="5760720"/>
            <a:ext cx="1502229" cy="164592"/>
          </a:xfrm>
          <a:prstGeom prst="rect">
            <a:avLst/>
          </a:prstGeom>
          <a:solidFill>
            <a:srgbClr val="061A3A"/>
          </a:solidFill>
          <a:ln w="12700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6" name="Text 114"/>
          <p:cNvSpPr/>
          <p:nvPr/>
        </p:nvSpPr>
        <p:spPr>
          <a:xfrm>
            <a:off x="6923314" y="5760720"/>
            <a:ext cx="15022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6969034" y="5943600"/>
            <a:ext cx="1410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Governance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8516983" y="5760720"/>
            <a:ext cx="1502229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9" name="Shape 117"/>
          <p:cNvSpPr/>
          <p:nvPr/>
        </p:nvSpPr>
        <p:spPr>
          <a:xfrm>
            <a:off x="8516983" y="5760720"/>
            <a:ext cx="1502229" cy="164592"/>
          </a:xfrm>
          <a:prstGeom prst="rect">
            <a:avLst/>
          </a:prstGeom>
          <a:solidFill>
            <a:srgbClr val="061A3A"/>
          </a:solidFill>
          <a:ln w="12700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0" name="Text 118"/>
          <p:cNvSpPr/>
          <p:nvPr/>
        </p:nvSpPr>
        <p:spPr>
          <a:xfrm>
            <a:off x="8516983" y="5760720"/>
            <a:ext cx="15022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8562703" y="5943600"/>
            <a:ext cx="1410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/ Lineage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10110651" y="5760720"/>
            <a:ext cx="1502229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3" name="Shape 121"/>
          <p:cNvSpPr/>
          <p:nvPr/>
        </p:nvSpPr>
        <p:spPr>
          <a:xfrm>
            <a:off x="10110651" y="5760720"/>
            <a:ext cx="1502229" cy="164592"/>
          </a:xfrm>
          <a:prstGeom prst="rect">
            <a:avLst/>
          </a:prstGeom>
          <a:solidFill>
            <a:srgbClr val="061A3A"/>
          </a:solidFill>
          <a:ln w="12700">
            <a:solidFill>
              <a:srgbClr val="061A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4" name="Text 122"/>
          <p:cNvSpPr/>
          <p:nvPr/>
        </p:nvSpPr>
        <p:spPr>
          <a:xfrm>
            <a:off x="10110651" y="5760720"/>
            <a:ext cx="15022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10156371" y="5943600"/>
            <a:ext cx="1410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9525">
            <a:solidFill>
              <a:srgbClr val="C8CC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7" name="Text 125"/>
          <p:cNvSpPr/>
          <p:nvPr/>
        </p:nvSpPr>
        <p:spPr>
          <a:xfrm>
            <a:off x="3200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データ分析基盤アーキテクチャ設計書|Collecting Layer</a:t>
            </a:r>
            <a:endParaRPr lang="en-US" sz="850" dirty="0"/>
          </a:p>
        </p:txBody>
      </p:sp>
      <p:sp>
        <p:nvSpPr>
          <p:cNvPr id="128" name="Text 126"/>
          <p:cNvSpPr/>
          <p:nvPr/>
        </p:nvSpPr>
        <p:spPr>
          <a:xfrm>
            <a:off x="63550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参照アーキテクチャ全体図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3011</Words>
  <Application>Microsoft Office PowerPoint</Application>
  <PresentationFormat>ワイド画面</PresentationFormat>
  <Paragraphs>532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データ分析基盤 Collecting Layer 設計</dc:title>
  <dc:subject>PptxGenJS Presentation</dc:subject>
  <dc:creator>Data Platform Team</dc:creator>
  <cp:lastModifiedBy>yoshimasa obata</cp:lastModifiedBy>
  <cp:revision>1</cp:revision>
  <dcterms:created xsi:type="dcterms:W3CDTF">2026-05-12T12:00:17Z</dcterms:created>
  <dcterms:modified xsi:type="dcterms:W3CDTF">2026-05-13T02:20:28Z</dcterms:modified>
</cp:coreProperties>
</file>