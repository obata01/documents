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0" autoAdjust="0"/>
    <p:restoredTop sz="94610"/>
  </p:normalViewPr>
  <p:slideViewPr>
    <p:cSldViewPr snapToGrid="0" snapToObjects="1">
      <p:cViewPr>
        <p:scale>
          <a:sx n="86" d="100"/>
          <a:sy n="86" d="100"/>
        </p:scale>
        <p:origin x="444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731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従来のデータ統合基盤における構造的課題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「中央集権 × 物理統合」という前提が限界に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4008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中央集権型の限界 — 権限と作業が一拠点に集中する構造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292608" cy="29260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中央チームがボトルネック化する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データ追加・定義変更・権限対応がすべて中央経由となり、事業の意思決定スピードが基盤の処理能力に律速される。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487168"/>
            <a:ext cx="292608" cy="29260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44144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業務文脈が引き継がれない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271576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データを“作る側”と“統合する側”が分離しており、各部門固有の業務ルールや例外運用が反映されない集計結果が生まれる。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145536"/>
            <a:ext cx="292608" cy="29260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0292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09981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中央チームが“窓口兼代行”化する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337413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問い合わせ・集計依頼・BI構築まで中央に集中。本来注力すべき基盤設計・品質改善に手が回らない。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49624"/>
            <a:ext cx="64008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48640" y="384962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物理統合の限界 — データを集めて複製する前提の構造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306824"/>
            <a:ext cx="292608" cy="29260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02920" y="4306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26110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責任・セキュリティリスクが集中する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4400" y="453542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機密・個人情報を元システム外に複製するため、アクセス経路・保管場所・権限管理の面積が拡大し、ガバナンス負荷が増大。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965192"/>
            <a:ext cx="292608" cy="29260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502920" y="4965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91947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基盤の肥大化とコスト累積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4400" y="519379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全データ複製を前提とするため、ストレージ・転送・ETL・パイプラインコストが運用継続に伴い累積的に増大。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5623560"/>
            <a:ext cx="292608" cy="29260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502920" y="5623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55778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元システムの制約を引きずる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14400" y="585216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抽出困難なデータ、リアルタイム連携不可、品質不安定など、物理統合では解消できない上流側の制約が残り続ける。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中央集権型(フィジカルSSoT) 構成図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223760" y="1874520"/>
            <a:ext cx="822960" cy="457200"/>
          </a:xfrm>
          <a:prstGeom prst="rect">
            <a:avLst/>
          </a:prstGeom>
          <a:solidFill>
            <a:srgbClr val="2C4566"/>
          </a:solidFill>
          <a:ln w="12700">
            <a:solidFill>
              <a:srgbClr val="2C45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7223760" y="1874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Biz 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23760" y="2697480"/>
            <a:ext cx="822960" cy="457200"/>
          </a:xfrm>
          <a:prstGeom prst="rect">
            <a:avLst/>
          </a:prstGeom>
          <a:solidFill>
            <a:srgbClr val="2C4566"/>
          </a:solidFill>
          <a:ln w="12700">
            <a:solidFill>
              <a:srgbClr val="2C45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7223760" y="2697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Biz B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223760" y="3520440"/>
            <a:ext cx="822960" cy="457200"/>
          </a:xfrm>
          <a:prstGeom prst="rect">
            <a:avLst/>
          </a:prstGeom>
          <a:solidFill>
            <a:srgbClr val="2C4566"/>
          </a:solidFill>
          <a:ln w="12700">
            <a:solidFill>
              <a:srgbClr val="2C45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7223760" y="3520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Biz C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915400" y="2468880"/>
            <a:ext cx="1188720" cy="1097280"/>
          </a:xfrm>
          <a:prstGeom prst="ellipse">
            <a:avLst/>
          </a:prstGeom>
          <a:solidFill>
            <a:srgbClr val="5B7BA8"/>
          </a:solidFill>
          <a:ln w="12700">
            <a:solidFill>
              <a:srgbClr val="5B7B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8915400" y="24688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Platform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744200" y="1874520"/>
            <a:ext cx="822960" cy="457200"/>
          </a:xfrm>
          <a:prstGeom prst="rect">
            <a:avLst/>
          </a:prstGeom>
          <a:solidFill>
            <a:srgbClr val="2C4566"/>
          </a:solidFill>
          <a:ln w="12700">
            <a:solidFill>
              <a:srgbClr val="2C45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10744200" y="1874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 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744200" y="2697480"/>
            <a:ext cx="822960" cy="457200"/>
          </a:xfrm>
          <a:prstGeom prst="rect">
            <a:avLst/>
          </a:prstGeom>
          <a:solidFill>
            <a:srgbClr val="2C4566"/>
          </a:solidFill>
          <a:ln w="12700">
            <a:solidFill>
              <a:srgbClr val="2C45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10744200" y="2697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 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744200" y="3520440"/>
            <a:ext cx="822960" cy="457200"/>
          </a:xfrm>
          <a:prstGeom prst="rect">
            <a:avLst/>
          </a:prstGeom>
          <a:solidFill>
            <a:srgbClr val="2C4566"/>
          </a:solidFill>
          <a:ln w="12700">
            <a:solidFill>
              <a:srgbClr val="2C45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10744200" y="3520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 C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046720" y="2103120"/>
            <a:ext cx="914400" cy="91440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8046720" y="2926080"/>
            <a:ext cx="914400" cy="9144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8046720" y="3749040"/>
            <a:ext cx="9144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49"/>
          <p:cNvSpPr/>
          <p:nvPr/>
        </p:nvSpPr>
        <p:spPr>
          <a:xfrm>
            <a:off x="10058400" y="3017520"/>
            <a:ext cx="6858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10058400" y="3017520"/>
            <a:ext cx="6858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>
            <a:off x="10058400" y="3017520"/>
            <a:ext cx="685800" cy="7315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52"/>
          <p:cNvSpPr/>
          <p:nvPr/>
        </p:nvSpPr>
        <p:spPr>
          <a:xfrm>
            <a:off x="8046720" y="1691640"/>
            <a:ext cx="1645920" cy="256032"/>
          </a:xfrm>
          <a:prstGeom prst="rect">
            <a:avLst/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8046720" y="1691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依頼の待ち行列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966960" y="1691640"/>
            <a:ext cx="1645920" cy="256032"/>
          </a:xfrm>
          <a:prstGeom prst="rect">
            <a:avLst/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9966960" y="1691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業務文脈が欠落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412480" y="3703320"/>
            <a:ext cx="2194560" cy="256032"/>
          </a:xfrm>
          <a:prstGeom prst="rect">
            <a:avLst/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/>
          <p:nvPr/>
        </p:nvSpPr>
        <p:spPr>
          <a:xfrm>
            <a:off x="8412480" y="3703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肥大化・コスト・リスク集中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132320" y="4206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事業部門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641080" y="42062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中央チーム(過負荷)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652760" y="4206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データ分析者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Text 62"/>
          <p:cNvSpPr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</a:t>
            </a: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これらは個別の運用課題ではなく、</a:t>
            </a: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「中央集権 × 物理統合」という前提から構造的に生じる問題</a:t>
            </a: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。次章で前提を見直した新基盤を提案する。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1704320" y="67208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課題の全体像 — 3つのレイヤーで整理する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6つの課題は、組織・技術・ガバナンスという3つの構造的負債に集約できる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5204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52044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805940" y="1874520"/>
            <a:ext cx="822960" cy="822960"/>
          </a:xfrm>
          <a:prstGeom prst="ellipse">
            <a:avLst/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964" y="206654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8346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1E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Layer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組織的負債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3474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中央集権ゆえの依存とボトルネック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22960" y="3886200"/>
            <a:ext cx="2788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777240" y="4059936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777240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3000" y="40233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中央チームがボトルネック化する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77240" y="4443984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/>
          <p:nvPr/>
        </p:nvSpPr>
        <p:spPr>
          <a:xfrm>
            <a:off x="777240" y="4443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43000" y="440740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業務文脈が引き継がれない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77240" y="4828032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/>
          <p:nvPr/>
        </p:nvSpPr>
        <p:spPr>
          <a:xfrm>
            <a:off x="777240" y="4828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43000" y="479145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中央チームが"窓口兼代行"化する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0080" y="5212080"/>
            <a:ext cx="3154680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/>
          <p:cNvSpPr/>
          <p:nvPr/>
        </p:nvSpPr>
        <p:spPr>
          <a:xfrm>
            <a:off x="731520" y="5212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事業スピードが中央チームの工数に律速される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320540" y="1554480"/>
            <a:ext cx="35204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2"/>
          <p:cNvSpPr/>
          <p:nvPr/>
        </p:nvSpPr>
        <p:spPr>
          <a:xfrm>
            <a:off x="4320540" y="1554480"/>
            <a:ext cx="352044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3"/>
          <p:cNvSpPr/>
          <p:nvPr/>
        </p:nvSpPr>
        <p:spPr>
          <a:xfrm>
            <a:off x="5669280" y="1874520"/>
            <a:ext cx="822960" cy="822960"/>
          </a:xfrm>
          <a:prstGeom prst="ellipse">
            <a:avLst/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2066544"/>
            <a:ext cx="438912" cy="43891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320540" y="28346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1E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Layer 2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32054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技術的負債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4503420" y="3474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物理統合ゆえの肥大化と複雑化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686300" y="3886200"/>
            <a:ext cx="2788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28"/>
          <p:cNvSpPr/>
          <p:nvPr/>
        </p:nvSpPr>
        <p:spPr>
          <a:xfrm>
            <a:off x="4640580" y="4059936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29"/>
          <p:cNvSpPr/>
          <p:nvPr/>
        </p:nvSpPr>
        <p:spPr>
          <a:xfrm>
            <a:off x="4640580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5006340" y="40233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基盤の肥大化とコスト累積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4640580" y="4443984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2"/>
          <p:cNvSpPr/>
          <p:nvPr/>
        </p:nvSpPr>
        <p:spPr>
          <a:xfrm>
            <a:off x="4640580" y="4443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5006340" y="440740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元システムの制約を引きずる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4503420" y="5212080"/>
            <a:ext cx="3154680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5"/>
          <p:cNvSpPr/>
          <p:nvPr/>
        </p:nvSpPr>
        <p:spPr>
          <a:xfrm>
            <a:off x="4594860" y="5212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基盤の維持コストが運用継続に伴い累積する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8183880" y="1554480"/>
            <a:ext cx="35204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7"/>
          <p:cNvSpPr/>
          <p:nvPr/>
        </p:nvSpPr>
        <p:spPr>
          <a:xfrm>
            <a:off x="8183880" y="1554480"/>
            <a:ext cx="352044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38"/>
          <p:cNvSpPr/>
          <p:nvPr/>
        </p:nvSpPr>
        <p:spPr>
          <a:xfrm>
            <a:off x="9532620" y="1874520"/>
            <a:ext cx="822960" cy="822960"/>
          </a:xfrm>
          <a:prstGeom prst="ellipse">
            <a:avLst/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4644" y="2066544"/>
            <a:ext cx="438912" cy="438912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8183880" y="28346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1E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Layer 3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818388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ガバナンス負債</a:t>
            </a:r>
            <a:endParaRPr lang="en-US" sz="1800" dirty="0"/>
          </a:p>
        </p:txBody>
      </p:sp>
      <p:sp>
        <p:nvSpPr>
          <p:cNvPr id="46" name="Text 41"/>
          <p:cNvSpPr/>
          <p:nvPr/>
        </p:nvSpPr>
        <p:spPr>
          <a:xfrm>
            <a:off x="8366760" y="3474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データ集約ゆえのリスク集中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8549640" y="3886200"/>
            <a:ext cx="2788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3"/>
          <p:cNvSpPr/>
          <p:nvPr/>
        </p:nvSpPr>
        <p:spPr>
          <a:xfrm>
            <a:off x="8503920" y="4059936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4"/>
          <p:cNvSpPr/>
          <p:nvPr/>
        </p:nvSpPr>
        <p:spPr>
          <a:xfrm>
            <a:off x="8503920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00" dirty="0"/>
          </a:p>
        </p:txBody>
      </p:sp>
      <p:sp>
        <p:nvSpPr>
          <p:cNvPr id="50" name="Text 45"/>
          <p:cNvSpPr/>
          <p:nvPr/>
        </p:nvSpPr>
        <p:spPr>
          <a:xfrm>
            <a:off x="8869680" y="40233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責任・セキュリティリスクが集中する</a:t>
            </a:r>
            <a:endParaRPr lang="en-US" sz="1050" dirty="0"/>
          </a:p>
        </p:txBody>
      </p:sp>
      <p:sp>
        <p:nvSpPr>
          <p:cNvPr id="51" name="Shape 46"/>
          <p:cNvSpPr/>
          <p:nvPr/>
        </p:nvSpPr>
        <p:spPr>
          <a:xfrm>
            <a:off x="8366760" y="5212080"/>
            <a:ext cx="3154680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47"/>
          <p:cNvSpPr/>
          <p:nvPr/>
        </p:nvSpPr>
        <p:spPr>
          <a:xfrm>
            <a:off x="8458200" y="5212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機密・個人情報の管理面積が拡大し続ける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49"/>
          <p:cNvSpPr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</a:t>
            </a: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新基盤は</a:t>
            </a: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「組織・技術・ガバナンスの3負債を同時に解消するアーキテクチャ」</a:t>
            </a: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として設計する必要がある。</a:t>
            </a:r>
            <a:endParaRPr lang="en-US" sz="1200" dirty="0"/>
          </a:p>
        </p:txBody>
      </p:sp>
      <p:sp>
        <p:nvSpPr>
          <p:cNvPr id="55" name="Text 50"/>
          <p:cNvSpPr/>
          <p:nvPr/>
        </p:nvSpPr>
        <p:spPr>
          <a:xfrm>
            <a:off x="11704320" y="67208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ワイド画面</PresentationFormat>
  <Paragraphs>69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Yu Gothic</vt:lpstr>
      <vt:lpstr>Arial</vt:lpstr>
      <vt:lpstr>Office Theme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従来のデータ統合基盤における構造的課題</dc:title>
  <dc:subject>PptxGenJS Presentation</dc:subject>
  <dc:creator>PptxGenJS</dc:creator>
  <cp:lastModifiedBy>yoshimasa obata</cp:lastModifiedBy>
  <cp:revision>1</cp:revision>
  <dcterms:created xsi:type="dcterms:W3CDTF">2026-05-13T04:36:13Z</dcterms:created>
  <dcterms:modified xsi:type="dcterms:W3CDTF">2026-05-13T05:25:38Z</dcterms:modified>
</cp:coreProperties>
</file>