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0" autoAdjust="0"/>
    <p:restoredTop sz="94610"/>
  </p:normalViewPr>
  <p:slideViewPr>
    <p:cSldViewPr snapToGrid="0" snapToObjects="1">
      <p:cViewPr>
        <p:scale>
          <a:sx n="126" d="100"/>
          <a:sy n="126" d="100"/>
        </p:scale>
        <p:origin x="1356" y="-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0598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8686800" y="0"/>
            <a:ext cx="73152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PLATFORM ARCHITECTURE / DESIGN DOCUMENT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ストレージレイヤー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アーキテクチャ設計書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Storage Layer Architecture for Lakehouse Data Integration Platform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1371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Amazon S3 × Apache Iceberg × Glue Data Catalog</a:t>
            </a:r>
            <a:endParaRPr lang="en-US" sz="13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300" dirty="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Medallion Architecture (Landing / Bronze / Silver / Gold)</a:t>
            </a:r>
            <a:endParaRPr lang="en-US" sz="13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300" dirty="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Governance, Cost Optimization, Table Maintenance を統合設計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09828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DOCUMENT INFO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098280" y="1554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Version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12680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098280" y="1920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1268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2026-05-13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098280" y="2286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Owner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12680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Platform Team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098280" y="2651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Scope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12680" y="2651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Storage Layer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098280" y="3017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Target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12680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Lakehouse on AWS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98280" y="3383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Status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1268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Draft for Review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Platform Architecture Team / Confidential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Lakehouse on AWS — Iceberg Edition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ストレージレイヤー アーキテクチャ設計書 / Storage Layer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45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Integration Platform — Lakehouse on AWS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11480"/>
            <a:ext cx="13716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1170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目次 / Agenda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54864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3990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全体思想と設計スタンス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6367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ストレージレイヤーの位置づけ・3つの基本サブレイヤー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984248"/>
            <a:ext cx="54864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365760" y="19842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19659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アーキテクチャ全体図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20370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下から上へ積み上がる6層の構成と横断機能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551176"/>
            <a:ext cx="54864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365760" y="255117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5328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物理ストレージ (Amazon S3)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7706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保存対象・バケット設計・外部ストアの扱い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118104"/>
            <a:ext cx="54864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365760" y="311810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09981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ファイル形式と圧縮方式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33756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Parquet / ORC / Avro / JSON の使い分け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685032"/>
            <a:ext cx="54864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365760" y="36850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36667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Apache Iceberg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390448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オープンテーブルフォーマットと状態管理機構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251960"/>
            <a:ext cx="54864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365760" y="4251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05840" y="4233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Catalog / Metastore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5840" y="447141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Operational vs Governance カタログの分離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818888"/>
            <a:ext cx="54864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365760" y="48188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05840" y="4800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Medallion レイヤー設計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05840" y="503834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Landing / Bronze / Silver / Gold / Quarantine / Audit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09360" y="1417320"/>
            <a:ext cx="54864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6309360" y="1417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49440" y="13990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Immutable Data と Snapshot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949440" y="16367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Iceberg の状態切替と監査性・再現性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09360" y="1984248"/>
            <a:ext cx="54864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6309360" y="19842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949440" y="19659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パーティション設計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49440" y="220370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Hidden Partitioning・粒度・small files 対策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09360" y="2551176"/>
            <a:ext cx="54864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6309360" y="255117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949440" y="25328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テーブルメンテナンス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949440" y="27706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Compaction / Expire Snapshots / Orphan Cleanup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09360" y="3118104"/>
            <a:ext cx="54864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6309360" y="311810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949440" y="309981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コスト最適化・階層化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949440" y="333756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 Storage Class と Lifecycle Policy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309360" y="3685032"/>
            <a:ext cx="54864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6309360" y="36850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949440" y="36667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セキュリティ・ガバナンス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949440" y="390448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暗号化・アクセス制御・ABAC・WORM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309360" y="4251960"/>
            <a:ext cx="54864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/>
          <p:cNvSpPr/>
          <p:nvPr/>
        </p:nvSpPr>
        <p:spPr>
          <a:xfrm>
            <a:off x="6309360" y="4251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6949440" y="4233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周辺レイヤーとの接続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949440" y="447141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書き込み / 読み取り経路の整理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309360" y="4818888"/>
            <a:ext cx="54864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Text 59"/>
          <p:cNvSpPr/>
          <p:nvPr/>
        </p:nvSpPr>
        <p:spPr>
          <a:xfrm>
            <a:off x="6309360" y="48188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6949440" y="4800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設計サマリと検討事項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6949440" y="503834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実装チェックリストと運用論点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Text 63"/>
          <p:cNvSpPr/>
          <p:nvPr/>
        </p:nvSpPr>
        <p:spPr>
          <a:xfrm>
            <a:off x="274320" y="66476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Platform Architecture Team — Confidential / Internal Use Only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11247120" y="66476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 2 / 16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ストレージレイヤー アーキテクチャ設計書 / Storage Layer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45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Integration Platform — Lakehouse on AWS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11480"/>
            <a:ext cx="13716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1170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全体思想 — ストレージレイヤーの位置づけと設計スタンス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11430000" cy="777240"/>
          </a:xfrm>
          <a:prstGeom prst="rect">
            <a:avLst/>
          </a:prstGeom>
          <a:solidFill>
            <a:srgbClr val="F3F4F6"/>
          </a:solidFill>
          <a:ln w="635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ストレージレイヤーは「データを置く場所」ではなく、レイクハウス基盤の中核である。</a:t>
            </a:r>
            <a:endParaRPr lang="en-US" sz="12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大量データを安全に保持しつつ、コストを最適化し、クエリエンジン / プロセシングレイヤーから高速に読み書きできることを満たす。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33172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【設計原則】実データ・フォーマット・メタデータの3層を分離する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788920"/>
            <a:ext cx="3657600" cy="3657600"/>
          </a:xfrm>
          <a:prstGeom prst="rect">
            <a:avLst/>
          </a:prstGeom>
          <a:solidFill>
            <a:srgbClr val="F3F4F6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73152" cy="365760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94360" y="29077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Physical Storage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200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物理ストレージ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94360" y="3703320"/>
            <a:ext cx="54864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94360" y="37947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実データファイルを保存。安価でスケーラブルなオブジェクトストレージを採用。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4526280"/>
            <a:ext cx="3200400" cy="32004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594360" y="4526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Amazon S3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498348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・Landing / Bronze / Silver / Gold / Quarantine / Audit</a:t>
            </a:r>
            <a:endParaRPr lang="en-US" sz="10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・SSE-KMS・Bucket Policy・Versioning</a:t>
            </a:r>
            <a:endParaRPr lang="en-US" sz="10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・NoSQL / DWH は外部ストアとして別枠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51960" y="2788920"/>
            <a:ext cx="3657600" cy="3657600"/>
          </a:xfrm>
          <a:prstGeom prst="rect">
            <a:avLst/>
          </a:prstGeom>
          <a:solidFill>
            <a:srgbClr val="F3F4F6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4251960" y="2788920"/>
            <a:ext cx="73152" cy="365760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4480560" y="29077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File / Table Format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80560" y="3200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ファイル形式・テーブル形式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480560" y="3703320"/>
            <a:ext cx="54864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4480560" y="37947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 上のデータを効率よく読み書きし、テーブルとして扱う層。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80560" y="4526280"/>
            <a:ext cx="3200400" cy="32004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4480560" y="4526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Parquet × Iceberg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80560" y="498348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・Parquet (列指向) + Snappy / ZSTD</a:t>
            </a:r>
            <a:endParaRPr lang="en-US" sz="10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・Apache Iceberg : ACID / Snapshot / Time Travel</a:t>
            </a:r>
            <a:endParaRPr lang="en-US" sz="10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・Schema / Partition Evolution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38160" y="2788920"/>
            <a:ext cx="3657600" cy="3657600"/>
          </a:xfrm>
          <a:prstGeom prst="rect">
            <a:avLst/>
          </a:prstGeom>
          <a:solidFill>
            <a:srgbClr val="F3F4F6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8138160" y="2788920"/>
            <a:ext cx="73152" cy="36576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8366760" y="29077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Catalog / Governance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366760" y="3200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メタストア・ガバナンス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8366760" y="3703320"/>
            <a:ext cx="548640" cy="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8366760" y="37947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テーブル名・スキーマ・保存場所・アクセス権限を管理。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366760" y="4526280"/>
            <a:ext cx="3200400" cy="32004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8366760" y="4526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Glue + Lake Formation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366760" y="498348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・Glue Data Catalog / REST Catalog / HMS</a:t>
            </a:r>
            <a:endParaRPr lang="en-US" sz="10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・Lake Formation (Table / Column / Row 権限)</a:t>
            </a:r>
            <a:endParaRPr lang="en-US" sz="10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・DataHub / OpenMetadata (Governance)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274320" y="66476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Platform Architecture Team — Confidential / Internal Use Only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1247120" y="66476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 3 / 16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ストレージレイヤー アーキテクチャ設計書 / Storage Layer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45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Integration Platform — Lakehouse on AWS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11480"/>
            <a:ext cx="13716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1170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アーキテクチャ全体図 — 6層構造と横断機能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7772400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548640" cy="54864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3657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1463040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Governance Catalog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1691640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DataHub / OpenMetadata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011680"/>
            <a:ext cx="7772400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365760" y="2011680"/>
            <a:ext cx="548640" cy="54864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36576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057400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Access Control / Governance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2286000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Lake Formation / IAM / KMS Policy / LF-Tag ABAC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606040"/>
            <a:ext cx="7772400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365760" y="2606040"/>
            <a:ext cx="548640" cy="54864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36576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2651760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Operational Catalog / Metastore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2880360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Glue Data Catalog / Iceberg REST Catalog / HMS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200400"/>
            <a:ext cx="7772400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365760" y="3200400"/>
            <a:ext cx="548640" cy="54864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36576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3246120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Open Table Format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1560" y="3474720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Apache Iceberg (ACID / Snapshot / Time Travel / MERGE)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794760"/>
            <a:ext cx="7772400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365760" y="3794760"/>
            <a:ext cx="548640" cy="54864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36576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51560" y="3840480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File Format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51560" y="4069080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Parquet / ORC / Avro / JSON  +  Snappy / ZSTD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389120"/>
            <a:ext cx="7772400" cy="1325880"/>
          </a:xfrm>
          <a:prstGeom prst="rect">
            <a:avLst/>
          </a:prstGeom>
          <a:solidFill>
            <a:srgbClr val="F3F4F6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2"/>
          <p:cNvSpPr/>
          <p:nvPr/>
        </p:nvSpPr>
        <p:spPr>
          <a:xfrm>
            <a:off x="365760" y="4389120"/>
            <a:ext cx="548640" cy="13258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365760" y="4389120"/>
            <a:ext cx="548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L1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51560" y="4434840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Physical Storage — Amazon S3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51560" y="4663440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Landing  /  Bronze  /  Silver  /  Gold  /  Quarantine  /  Audit Archive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51560" y="4983480"/>
            <a:ext cx="1120140" cy="59436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1051560" y="4983480"/>
            <a:ext cx="11201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Landing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217420" y="4983480"/>
            <a:ext cx="1120140" cy="5943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2217420" y="4983480"/>
            <a:ext cx="11201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Bronze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383280" y="4983480"/>
            <a:ext cx="1120140" cy="5943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3383280" y="4983480"/>
            <a:ext cx="11201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Silver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49140" y="4983480"/>
            <a:ext cx="1120140" cy="59436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4549140" y="4983480"/>
            <a:ext cx="11201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Gold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715000" y="4983480"/>
            <a:ext cx="1120140" cy="5943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5715000" y="4983480"/>
            <a:ext cx="11201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Quarantine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880860" y="4983480"/>
            <a:ext cx="1120140" cy="5943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6880860" y="4983480"/>
            <a:ext cx="11201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Audit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65760" y="58064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 下層 (Physical) から 上層 (Governance) へ積み上がるレイクハウス構造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321040" y="1417320"/>
            <a:ext cx="3657600" cy="438912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Shape 50"/>
          <p:cNvSpPr/>
          <p:nvPr/>
        </p:nvSpPr>
        <p:spPr>
          <a:xfrm>
            <a:off x="8321040" y="1417320"/>
            <a:ext cx="365760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832104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CROSS-CUTTING CONCERNS / 横断機能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458200" y="1874520"/>
            <a:ext cx="109728" cy="6858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3"/>
          <p:cNvSpPr/>
          <p:nvPr/>
        </p:nvSpPr>
        <p:spPr>
          <a:xfrm>
            <a:off x="8641080" y="18745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Security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641080" y="211226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IAM / KMS / Lake Formation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Bucket Policy / CloudTrail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458200" y="2651760"/>
            <a:ext cx="109728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" name="Text 56"/>
          <p:cNvSpPr/>
          <p:nvPr/>
        </p:nvSpPr>
        <p:spPr>
          <a:xfrm>
            <a:off x="8641080" y="26517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Cost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8641080" y="288950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 Lifecycle / Intelligent-Tiering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Snapshot Retention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458200" y="3429000"/>
            <a:ext cx="109728" cy="68580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Text 59"/>
          <p:cNvSpPr/>
          <p:nvPr/>
        </p:nvSpPr>
        <p:spPr>
          <a:xfrm>
            <a:off x="8641080" y="34290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Maintenance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8641080" y="366674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Compaction / Expire Snapshots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Orphan File Cleanup / Manifest Rewrite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458200" y="4206240"/>
            <a:ext cx="109728" cy="68580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4" name="Text 62"/>
          <p:cNvSpPr/>
          <p:nvPr/>
        </p:nvSpPr>
        <p:spPr>
          <a:xfrm>
            <a:off x="8641080" y="42062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Metadata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8641080" y="444398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Glue Catalog (Operational)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DataHub / OpenMetadata (Governance)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458200" y="4983480"/>
            <a:ext cx="109728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7" name="Text 65"/>
          <p:cNvSpPr/>
          <p:nvPr/>
        </p:nvSpPr>
        <p:spPr>
          <a:xfrm>
            <a:off x="8641080" y="49834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8641080" y="522122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 Versioning / Object Lock (WORM)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Snapshot / Time Travel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8321040" y="5897880"/>
            <a:ext cx="3657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0" name="Text 68"/>
          <p:cNvSpPr/>
          <p:nvPr/>
        </p:nvSpPr>
        <p:spPr>
          <a:xfrm>
            <a:off x="8458200" y="5943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External / Specialized Stores</a:t>
            </a:r>
            <a:endParaRPr lang="en-US" sz="9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MongoDB / DynamoDB / Redshift / Snowflake / OpenSearch (図上は別枠)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70"/>
          <p:cNvSpPr/>
          <p:nvPr/>
        </p:nvSpPr>
        <p:spPr>
          <a:xfrm>
            <a:off x="274320" y="66476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Platform Architecture Team — Confidential / Internal Use Only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11247120" y="66476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 4 / 16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ストレージレイヤー アーキテクチャ設計書 / Storage Layer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45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Integration Platform — Lakehouse on AWS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11480"/>
            <a:ext cx="13716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1170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物理ストレージ — Amazon S3 を中核とした保存層設計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11430000" cy="548640"/>
          </a:xfrm>
          <a:prstGeom prst="rect">
            <a:avLst/>
          </a:prstGeom>
          <a:solidFill>
            <a:srgbClr val="F3F4F6"/>
          </a:solidFill>
          <a:ln w="635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役割 ▶ </a:t>
            </a: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実データファイルを永続的に保存する層。安価・高耐久・スケーラブルなオブジェクトストレージを中核とし、複数の論理領域に分割して配置する。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103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【主な保存対象】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514600"/>
            <a:ext cx="2697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365760" y="2514600"/>
            <a:ext cx="73152" cy="45720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30352" y="25328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Raw Files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" y="27249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外部からのファイル原本 (CSV / JSON / Excel等)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54680" y="2514600"/>
            <a:ext cx="2697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3154680" y="2514600"/>
            <a:ext cx="73152" cy="45720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3319272" y="25328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CDC Changelog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19272" y="27249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RDBMSなどからのCDC差分・イベントログ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2697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73152" cy="45720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530352" y="30358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Event Logs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" y="32278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 / App / IoT等のストリーミングイベント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154680" y="3017520"/>
            <a:ext cx="2697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3154680" y="3017520"/>
            <a:ext cx="73152" cy="45720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3319272" y="30358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Parquet Data Files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19272" y="32278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Silver / Gold で利用する分析最適化ファイル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520440"/>
            <a:ext cx="2697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365760" y="3520440"/>
            <a:ext cx="73152" cy="45720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530352" y="35387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Iceberg Metadata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0352" y="37307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metadata.json / manifest list / manifest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154680" y="3520440"/>
            <a:ext cx="2697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3154680" y="3520440"/>
            <a:ext cx="73152" cy="45720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3319272" y="35387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Iceberg Data / Delete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19272" y="37307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Iceberg管理下のデータ・削除ファイル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5760" y="4023360"/>
            <a:ext cx="2697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365760" y="4023360"/>
            <a:ext cx="73152" cy="45720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530352" y="40416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Quarantine Data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0352" y="42336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品質チェックで隔離された不正レコード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154680" y="4023360"/>
            <a:ext cx="2697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>
            <a:off x="3154680" y="4023360"/>
            <a:ext cx="73152" cy="45720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3319272" y="40416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Audit Logs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319272" y="42336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監査・コンプライアンス用の証跡データ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263640" y="2103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【バケット・パス設計例】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263640" y="2514600"/>
            <a:ext cx="5532120" cy="21945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6446520" y="260604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Landing (一時受領)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s3://lake-landing-prd/source=&lt;sys&gt;/entity=&lt;ent&gt;/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load_id=&lt;uuid&gt;/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Bronze (Raw 永続)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s3://lake-bronze-prd/source_system=&lt;sys&gt;/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entity=&lt;ent&gt;/ingestion_date=YYYY-MM-DD/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Silver / Gold (Iceberg管理)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s3://lake-silver-prd/domain=&lt;dom&gt;/entity=&lt;ent&gt;/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s3://lake-gold-prd/domain=&lt;dom&gt;/table=&lt;tbl&gt;/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263640" y="4892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【バケット分割方針】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263640" y="5212080"/>
            <a:ext cx="5532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</a:t>
            </a: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環境別 (dev / stg / prd) に物理分離</a:t>
            </a:r>
            <a:endParaRPr lang="en-US" sz="1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</a:t>
            </a: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層別 (landing / bronze / silver / gold) でバケットを分け、Lifecycle・IAMを層単位で制御</a:t>
            </a:r>
            <a:endParaRPr lang="en-US" sz="1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</a:t>
            </a: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Audit / Quarantine は別バケット (Object Lock 適用)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5440680"/>
            <a:ext cx="5715000" cy="1051560"/>
          </a:xfrm>
          <a:prstGeom prst="rect">
            <a:avLst/>
          </a:prstGeom>
          <a:solidFill>
            <a:srgbClr val="FEF2F2"/>
          </a:solidFill>
          <a:ln w="952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Shape 47"/>
          <p:cNvSpPr/>
          <p:nvPr/>
        </p:nvSpPr>
        <p:spPr>
          <a:xfrm>
            <a:off x="365760" y="5440680"/>
            <a:ext cx="73152" cy="10515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Text 48"/>
          <p:cNvSpPr/>
          <p:nvPr/>
        </p:nvSpPr>
        <p:spPr>
          <a:xfrm>
            <a:off x="548640" y="5486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 外部ストアの位置づけ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48640" y="574243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MongoDB / DynamoDB / Redshift / Snowflake / OpenSearch 等の NoSQL・DWH・検索エンジンは「ストレージレイヤーの中核」ではなく、用途別の外部ストア / 併設ストアとして扱う。アーキテクチャ図では S3 / Iceberg ブロックの内側ではなく、横の別枠に配置する。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274320" y="66476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Platform Architecture Team — Confidential / Internal Use Only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1247120" y="66476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 5 / 16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ストレージレイヤー アーキテクチャ設計書 / Storage Layer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45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Integration Platform — Lakehouse on AWS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11480"/>
            <a:ext cx="13716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1170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ファイル形式 — 列指向 (Parquet) を分析の標準形式とする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S3上のデータを効率よく読み書きするための形式を、用途と層に応じて使い分ける。Silver / Gold は Parquet を標準とする。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874520"/>
          <a:ext cx="11430000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形式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種類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主な用途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推奨層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メリット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デメリット / 留意点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Parquet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列指向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分析用の標準形式 / Iceberg管理下のデータファイル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Silver / Gold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高圧縮率・列ごとアクセス・述語プッシュダウン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ストリーミング書き込みは不向き (バッチ向け)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ORC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列指向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Hive系エコシステムでの分析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Silver / Gold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Hive互換・高圧縮率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AWS / Iceberg環境では Parquet が一般的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Avro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行指向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CDC / Streaming / Kafka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4530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Bronze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スキーマ進化に強い・書き込み高速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分析クエリ性能は列指向に劣る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JSON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半構造化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Raw / APIレスポンス / ログ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Landing / Bronze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柔軟・ネスト構造可・人が読める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分析性能低・ファイルサイズ大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CSV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行指向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外部ファイル連携 (受領 / 配信)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Landing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互換性が高い・人が読める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91C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Silver以降では原則非推奨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365760" y="484632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【圧縮方式の選定】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65760" y="5212080"/>
            <a:ext cx="37490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9"/>
          <p:cNvSpPr/>
          <p:nvPr/>
        </p:nvSpPr>
        <p:spPr>
          <a:xfrm>
            <a:off x="365760" y="5212080"/>
            <a:ext cx="73152" cy="128016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/>
          <p:nvPr/>
        </p:nvSpPr>
        <p:spPr>
          <a:xfrm>
            <a:off x="548640" y="5303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Snappy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377440" y="5330952"/>
            <a:ext cx="1645920" cy="25603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2377440" y="53309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 推奨 (汎用)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48640" y="56692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圧縮率は中程度だが、CPU負荷が低く展開が高速。Parquet分析の標準。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206240" y="5212080"/>
            <a:ext cx="37490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5"/>
          <p:cNvSpPr/>
          <p:nvPr/>
        </p:nvSpPr>
        <p:spPr>
          <a:xfrm>
            <a:off x="4206240" y="5212080"/>
            <a:ext cx="73152" cy="128016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6"/>
          <p:cNvSpPr/>
          <p:nvPr/>
        </p:nvSpPr>
        <p:spPr>
          <a:xfrm>
            <a:off x="4389120" y="5303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ZSTD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217920" y="5330952"/>
            <a:ext cx="1645920" cy="25603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8"/>
          <p:cNvSpPr/>
          <p:nvPr/>
        </p:nvSpPr>
        <p:spPr>
          <a:xfrm>
            <a:off x="6217920" y="53309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 推奨 (容量重視)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389120" y="56692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高圧縮率・高速。Snappyより圧縮率が高く、近年のParquet/Icebergでは選好される。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046720" y="5212080"/>
            <a:ext cx="37490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1"/>
          <p:cNvSpPr/>
          <p:nvPr/>
        </p:nvSpPr>
        <p:spPr>
          <a:xfrm>
            <a:off x="8046720" y="5212080"/>
            <a:ext cx="73152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2"/>
          <p:cNvSpPr/>
          <p:nvPr/>
        </p:nvSpPr>
        <p:spPr>
          <a:xfrm>
            <a:off x="8229600" y="5303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Gzip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0058400" y="5330952"/>
            <a:ext cx="164592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4"/>
          <p:cNvSpPr/>
          <p:nvPr/>
        </p:nvSpPr>
        <p:spPr>
          <a:xfrm>
            <a:off x="10058400" y="53309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△ レガシー連携用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229600" y="56692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互換性が高いが、Snappy/ZSTDより展開が遅く分析用途では不利。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7"/>
          <p:cNvSpPr/>
          <p:nvPr/>
        </p:nvSpPr>
        <p:spPr>
          <a:xfrm>
            <a:off x="274320" y="66476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Platform Architecture Team — Confidential / Internal Use Only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1247120" y="66476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 6 / 16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ストレージレイヤー アーキテクチャ設計書 / Storage Layer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45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Integration Platform — Lakehouse on AWS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11480"/>
            <a:ext cx="13716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1170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Apache Iceberg — オープンテーブルフォーマットでDB相当の機能を実現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11430000" cy="640080"/>
          </a:xfrm>
          <a:prstGeom prst="rect">
            <a:avLst/>
          </a:prstGeom>
          <a:solidFill>
            <a:srgbClr val="F3F4F6"/>
          </a:solidFill>
          <a:ln w="635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Apache Iceberg ▶ </a:t>
            </a: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S3上のファイル群を「データベースのテーブル」のように扱うためのオープンテーブルフォーマット。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オブジェクトストレージ上でも ACID トランザクション・Time Travel・Schema Evolution を実現する。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194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【Iceberg が提供する主要機能】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606040"/>
            <a:ext cx="21214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365760" y="2606040"/>
            <a:ext cx="73152" cy="86868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30352" y="26791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ACID Transaction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2971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原子性のある書き込み / 同時更新の衝突回避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78608" y="2606040"/>
            <a:ext cx="21214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2578608" y="2606040"/>
            <a:ext cx="73152" cy="86868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2743200" y="26791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Snapshot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2971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テーブル状態をスナップショット単位で保持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91456" y="2606040"/>
            <a:ext cx="21214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4791456" y="2606040"/>
            <a:ext cx="73152" cy="86868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4956048" y="26791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Time Travel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56048" y="2971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過去スナップショットへのクエリ実行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566160"/>
            <a:ext cx="21214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365760" y="3566160"/>
            <a:ext cx="73152" cy="86868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530352" y="36393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Rollback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指定スナップショットへのテーブル復元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578608" y="3566160"/>
            <a:ext cx="21214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2578608" y="3566160"/>
            <a:ext cx="73152" cy="86868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2743200" y="36393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Schema Evolution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0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Add / Drop / Rename / Reorder カラム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91456" y="3566160"/>
            <a:ext cx="21214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4791456" y="3566160"/>
            <a:ext cx="73152" cy="86868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4956048" y="36393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Partition Evolution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56048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パーティション仕様を後から変更可能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4526280"/>
            <a:ext cx="21214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365760" y="4526280"/>
            <a:ext cx="73152" cy="86868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530352" y="45994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MERGE INTO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0352" y="4892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CDC適用・Upsert・SCD Type 2 を効率的に処理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578608" y="4526280"/>
            <a:ext cx="21214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>
            <a:off x="2578608" y="4526280"/>
            <a:ext cx="73152" cy="86868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2743200" y="45994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Hidden Partitioning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743200" y="4892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利用者が物理パーティションを意識不要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91456" y="4526280"/>
            <a:ext cx="21214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Shape 42"/>
          <p:cNvSpPr/>
          <p:nvPr/>
        </p:nvSpPr>
        <p:spPr>
          <a:xfrm>
            <a:off x="4791456" y="4526280"/>
            <a:ext cx="73152" cy="86868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4956048" y="45994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Concurrent R/W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956048" y="4892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Snapshot Isolation による安全な並行処理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22376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【Iceberg が管理するファイル階層】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7223760" y="2606040"/>
            <a:ext cx="4572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Shape 47"/>
          <p:cNvSpPr/>
          <p:nvPr/>
        </p:nvSpPr>
        <p:spPr>
          <a:xfrm>
            <a:off x="7223760" y="2606040"/>
            <a:ext cx="91440" cy="43891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Text 48"/>
          <p:cNvSpPr/>
          <p:nvPr/>
        </p:nvSpPr>
        <p:spPr>
          <a:xfrm>
            <a:off x="7360920" y="2624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Catalog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360920" y="28254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Glue / REST / HMS — current snapshot pointer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9509760" y="3044952"/>
            <a:ext cx="0" cy="64008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Shape 51"/>
          <p:cNvSpPr/>
          <p:nvPr/>
        </p:nvSpPr>
        <p:spPr>
          <a:xfrm>
            <a:off x="7223760" y="3108960"/>
            <a:ext cx="4572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Shape 52"/>
          <p:cNvSpPr/>
          <p:nvPr/>
        </p:nvSpPr>
        <p:spPr>
          <a:xfrm>
            <a:off x="7223760" y="3108960"/>
            <a:ext cx="91440" cy="438912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3"/>
          <p:cNvSpPr/>
          <p:nvPr/>
        </p:nvSpPr>
        <p:spPr>
          <a:xfrm>
            <a:off x="7360920" y="31272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Metadata File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360920" y="332841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metadata.json — table schema / snapshot list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9509760" y="3547872"/>
            <a:ext cx="0" cy="64008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" name="Shape 56"/>
          <p:cNvSpPr/>
          <p:nvPr/>
        </p:nvSpPr>
        <p:spPr>
          <a:xfrm>
            <a:off x="7223760" y="3611880"/>
            <a:ext cx="4572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Shape 57"/>
          <p:cNvSpPr/>
          <p:nvPr/>
        </p:nvSpPr>
        <p:spPr>
          <a:xfrm>
            <a:off x="7223760" y="3611880"/>
            <a:ext cx="91440" cy="438912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Text 58"/>
          <p:cNvSpPr/>
          <p:nvPr/>
        </p:nvSpPr>
        <p:spPr>
          <a:xfrm>
            <a:off x="7360920" y="36301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Manifest List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7360920" y="383133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snap-&lt;id&gt;.avro — manifests for this snapshot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9509760" y="4050792"/>
            <a:ext cx="0" cy="64008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Shape 61"/>
          <p:cNvSpPr/>
          <p:nvPr/>
        </p:nvSpPr>
        <p:spPr>
          <a:xfrm>
            <a:off x="7223760" y="4114800"/>
            <a:ext cx="4572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4" name="Shape 62"/>
          <p:cNvSpPr/>
          <p:nvPr/>
        </p:nvSpPr>
        <p:spPr>
          <a:xfrm>
            <a:off x="7223760" y="4114800"/>
            <a:ext cx="91440" cy="438912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Text 63"/>
          <p:cNvSpPr/>
          <p:nvPr/>
        </p:nvSpPr>
        <p:spPr>
          <a:xfrm>
            <a:off x="7360920" y="41330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Manifest File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7360920" y="433425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&lt;uuid&gt;.avro — list of data / delete files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9509760" y="4553712"/>
            <a:ext cx="0" cy="64008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8" name="Shape 66"/>
          <p:cNvSpPr/>
          <p:nvPr/>
        </p:nvSpPr>
        <p:spPr>
          <a:xfrm>
            <a:off x="7223760" y="4617720"/>
            <a:ext cx="4572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9" name="Shape 67"/>
          <p:cNvSpPr/>
          <p:nvPr/>
        </p:nvSpPr>
        <p:spPr>
          <a:xfrm>
            <a:off x="7223760" y="4617720"/>
            <a:ext cx="91440" cy="43891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0" name="Text 68"/>
          <p:cNvSpPr/>
          <p:nvPr/>
        </p:nvSpPr>
        <p:spPr>
          <a:xfrm>
            <a:off x="7360920" y="463600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/ Delete Files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7360920" y="483717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*.parquet — actual table data on S3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365760" y="5532120"/>
            <a:ext cx="11430000" cy="1005840"/>
          </a:xfrm>
          <a:prstGeom prst="rect">
            <a:avLst/>
          </a:prstGeom>
          <a:solidFill>
            <a:srgbClr val="FEF2F2"/>
          </a:solidFill>
          <a:ln w="952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3" name="Shape 71"/>
          <p:cNvSpPr/>
          <p:nvPr/>
        </p:nvSpPr>
        <p:spPr>
          <a:xfrm>
            <a:off x="365760" y="5532120"/>
            <a:ext cx="73152" cy="10058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4" name="Text 72"/>
          <p:cNvSpPr/>
          <p:nvPr/>
        </p:nvSpPr>
        <p:spPr>
          <a:xfrm>
            <a:off x="548640" y="55778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 運用上の重要ポイント — Iceberg はファイル配置ではなく『メタデータ+スナップショット』でテーブル状態を管理する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48640" y="585216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・S3 Lifecycle, Object Lock, ファイル削除, アーカイブ運用は、必ず Iceberg の snapshot 管理 / orphan cleanup と整合させること。</a:t>
            </a:r>
            <a:endParaRPr lang="en-US" sz="10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・metadata.json / manifest list / manifest を不用意にアーカイブ・削除すると、テーブルが読めなくなる (snapshot loss)。</a:t>
            </a:r>
            <a:endParaRPr lang="en-US" sz="10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・active snapshot が参照する data file を Lifecycle で削除しないよう、expire-snapshots → remove-orphan-files の順で運用する。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7" name="Text 75"/>
          <p:cNvSpPr/>
          <p:nvPr/>
        </p:nvSpPr>
        <p:spPr>
          <a:xfrm>
            <a:off x="274320" y="66476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Platform Architecture Team — Confidential / Internal Use Only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11247120" y="66476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 7 / 16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ストレージレイヤー アーキテクチャ設計書 / Storage Layer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45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Integration Platform — Lakehouse on AWS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11480"/>
            <a:ext cx="13716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1170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Catalog / Metastore — Operational と Governance を明確に分離する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Catalog は「クエリエンジンが参照する Operational Catalog」と「利用者向けの Governance Catalog」の2系統に分けて設計する。混同すると権限の所在が曖昧になる。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5715000" cy="4434840"/>
          </a:xfrm>
          <a:prstGeom prst="rect">
            <a:avLst/>
          </a:prstGeom>
          <a:solidFill>
            <a:srgbClr val="F3F4F6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73152" cy="443484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94360" y="210312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Operational Catalog / Metastore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246888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クエリエンジンが実際に参照するテーブル管理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2788920"/>
            <a:ext cx="54864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94360" y="288036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テーブル名 → 物理パス・スキーマ・metadata pointer を解決する。クエリエンジンはここを必ず通る。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34290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【代表ツール】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3703320"/>
            <a:ext cx="5257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685800" y="37216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 Glue Data Catalog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88920" y="372160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AWS標準。Athena / Redshift Spectrum / EMR で利用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" y="4114800"/>
            <a:ext cx="5257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685800" y="413308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Iceberg REST Catalog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88920" y="413308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Iceberg公式の独立カタログ実装。マルチクラウド可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4526280"/>
            <a:ext cx="5257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685800" y="45445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Hive Metastore (HMS)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88920" y="454456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Hadoop時代からの標準。レガシー連携用途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" y="4937760"/>
            <a:ext cx="5257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685800" y="49560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Nessie Catalog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88920" y="495604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Git風のブランチ管理が可能なカタログ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" y="589788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利用者 ▶ </a:t>
            </a: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Trino / Athena / Spark / dbt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所管 ▶ </a:t>
            </a: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Platform / Engineering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63640" y="2011680"/>
            <a:ext cx="5715000" cy="4434840"/>
          </a:xfrm>
          <a:prstGeom prst="rect">
            <a:avLst/>
          </a:prstGeom>
          <a:solidFill>
            <a:srgbClr val="F3F4F6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6263640" y="2011680"/>
            <a:ext cx="73152" cy="443484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6492240" y="210312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Governance Catalog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92240" y="246888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利用者・管理者向けの説明・リネージ・品質管理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92240" y="2788920"/>
            <a:ext cx="548640" cy="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6492240" y="288036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オーナー / 説明 / リネージ / タグ / 品質指標 / SLA を集約し、データの発見性と説明責任を高める。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92240" y="34290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【代表ツール】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92240" y="3703320"/>
            <a:ext cx="5257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6583680" y="37216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DataHub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686800" y="372160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OSS。LinkedIn発。リネージ・タグ・オーナー管理に強い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92240" y="4114800"/>
            <a:ext cx="5257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6583680" y="413308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OpenMetadata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686800" y="413308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OSS。データ品質テスト・収集機能を統合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4526280"/>
            <a:ext cx="5257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6583680" y="45445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 DataZone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686800" y="454456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AWSマネージド。Glue / Lake Formationと統合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492240" y="4937760"/>
            <a:ext cx="5257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4"/>
          <p:cNvSpPr/>
          <p:nvPr/>
        </p:nvSpPr>
        <p:spPr>
          <a:xfrm>
            <a:off x="6583680" y="49560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Collibra / Alation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686800" y="495604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商用エンタープライズ向け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92240" y="589788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利用者 ▶ </a:t>
            </a: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Business / Analyst / Data Steward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所管 ▶ </a:t>
            </a: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Governance / Stewards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65760" y="6537960"/>
            <a:ext cx="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Shape 4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274320" y="66476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Platform Architecture Team — Confidential / Internal Use Only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1247120" y="66476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 8 / 16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ストレージレイヤー アーキテクチャ設計書 / Storage Layer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45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Integration Platform — Lakehouse on AWS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11480"/>
            <a:ext cx="13716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1170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Medallion レイヤー設計 — 用途と品質段階で論理分割する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ストレージ内のデータは、品質段階と用途に応じて Landing → Bronze → Silver → Gold の流れで配置する。Quarantine と Audit は補助領域として別建てで管理する。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2788920" cy="5486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365760" y="196596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Landing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224028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一時受領 / 検証前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514600"/>
            <a:ext cx="2788920" cy="2834640"/>
          </a:xfrm>
          <a:prstGeom prst="rect">
            <a:avLst/>
          </a:prstGeom>
          <a:solidFill>
            <a:srgbClr val="F9FAFB"/>
          </a:solidFill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02920" y="26060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役割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80720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外部から届いたファイルを最初に受け取る一時領域。文字コード / 形式 / ウイルスチェック前。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84048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4041648"/>
            <a:ext cx="251460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566928" y="406908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s3://lake-landing/source=partner/entity=sales/load_id=xxx/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920" y="4663440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502920" y="46634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Temporary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783080" y="4663440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1783080" y="46634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Pre-validation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02920" y="4956048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502920" y="49560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File Check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154680" y="2240280"/>
            <a:ext cx="73152" cy="0"/>
          </a:xfrm>
          <a:prstGeom prst="line">
            <a:avLst/>
          </a:prstGeom>
          <a:noFill/>
          <a:ln w="25400">
            <a:solidFill>
              <a:srgbClr val="111827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3227832" y="1965960"/>
            <a:ext cx="2788920" cy="5486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3227832" y="196596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Bronze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227832" y="224028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Raw データ保存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27832" y="2514600"/>
            <a:ext cx="2788920" cy="2834640"/>
          </a:xfrm>
          <a:prstGeom prst="rect">
            <a:avLst/>
          </a:prstGeom>
          <a:solidFill>
            <a:srgbClr val="F9FAFB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3364992" y="26060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役割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64992" y="280720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ソースに近い Raw データを永続保存。再処理用の原本・監査証跡・CDC changelog を append-only で保持。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64992" y="384048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64992" y="4041648"/>
            <a:ext cx="251460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3429000" y="406908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bronze.salesforce_account_raw / bronze.postgres_orders_changelog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364992" y="4663440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3364992" y="46634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Raw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45152" y="4663440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4645152" y="46634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Changelog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364992" y="4956048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3364992" y="49560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Append-only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45152" y="4956048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4645152" y="49560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Replayable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016752" y="2240280"/>
            <a:ext cx="73152" cy="0"/>
          </a:xfrm>
          <a:prstGeom prst="line">
            <a:avLst/>
          </a:prstGeom>
          <a:noFill/>
          <a:ln w="25400">
            <a:solidFill>
              <a:srgbClr val="111827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Shape 41"/>
          <p:cNvSpPr/>
          <p:nvPr/>
        </p:nvSpPr>
        <p:spPr>
          <a:xfrm>
            <a:off x="6089904" y="1965960"/>
            <a:ext cx="2788920" cy="5486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Text 42"/>
          <p:cNvSpPr/>
          <p:nvPr/>
        </p:nvSpPr>
        <p:spPr>
          <a:xfrm>
            <a:off x="6089904" y="196596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Silver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089904" y="224028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整形・標準化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89904" y="2514600"/>
            <a:ext cx="2788920" cy="2834640"/>
          </a:xfrm>
          <a:prstGeom prst="rect">
            <a:avLst/>
          </a:prstGeom>
          <a:solidFill>
            <a:srgbClr val="F9FAFB"/>
          </a:solidFill>
          <a:ln w="9525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6227064" y="26060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役割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27064" y="280720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整形・標準化・重複排除・CDC反映・品質チェック済みのクレンジング層。下流のすべての分析の基盤。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227064" y="384048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27064" y="4041648"/>
            <a:ext cx="251460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6291072" y="406908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silver.orders / silver.customers / silver.payments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227064" y="4663440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6227064" y="46634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Cleaned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507224" y="4663440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3"/>
          <p:cNvSpPr/>
          <p:nvPr/>
        </p:nvSpPr>
        <p:spPr>
          <a:xfrm>
            <a:off x="7507224" y="46634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Standardized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227064" y="4956048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/>
          <p:cNvSpPr/>
          <p:nvPr/>
        </p:nvSpPr>
        <p:spPr>
          <a:xfrm>
            <a:off x="6227064" y="49560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Deduplicated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7507224" y="4956048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Text 57"/>
          <p:cNvSpPr/>
          <p:nvPr/>
        </p:nvSpPr>
        <p:spPr>
          <a:xfrm>
            <a:off x="7507224" y="49560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CDC Merged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8878824" y="2240280"/>
            <a:ext cx="73152" cy="0"/>
          </a:xfrm>
          <a:prstGeom prst="line">
            <a:avLst/>
          </a:prstGeom>
          <a:noFill/>
          <a:ln w="25400">
            <a:solidFill>
              <a:srgbClr val="111827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Shape 59"/>
          <p:cNvSpPr/>
          <p:nvPr/>
        </p:nvSpPr>
        <p:spPr>
          <a:xfrm>
            <a:off x="8951976" y="1965960"/>
            <a:ext cx="2788920" cy="54864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" name="Text 60"/>
          <p:cNvSpPr/>
          <p:nvPr/>
        </p:nvSpPr>
        <p:spPr>
          <a:xfrm>
            <a:off x="8951976" y="196596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Gold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951976" y="224028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業務利用・分析最適化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951976" y="2514600"/>
            <a:ext cx="2788920" cy="2834640"/>
          </a:xfrm>
          <a:prstGeom prst="rect">
            <a:avLst/>
          </a:prstGeom>
          <a:solidFill>
            <a:srgbClr val="F9FAFB"/>
          </a:solidFill>
          <a:ln w="9525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Text 63"/>
          <p:cNvSpPr/>
          <p:nvPr/>
        </p:nvSpPr>
        <p:spPr>
          <a:xfrm>
            <a:off x="9089136" y="26060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CA8A0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役割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9089136" y="280720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 / 分析用途に最適化された信頼済データ。Fact / Dimension / 集計テーブル / KPI-ready dataset。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9089136" y="384048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CA8A0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089136" y="4041648"/>
            <a:ext cx="251460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9" name="Text 67"/>
          <p:cNvSpPr/>
          <p:nvPr/>
        </p:nvSpPr>
        <p:spPr>
          <a:xfrm>
            <a:off x="9153144" y="406908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gold.fct_orders / gold.dim_customers / gold.mart_sales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9089136" y="4663440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1" name="Text 69"/>
          <p:cNvSpPr/>
          <p:nvPr/>
        </p:nvSpPr>
        <p:spPr>
          <a:xfrm>
            <a:off x="9089136" y="46634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A8A0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Business-ready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0369296" y="4663440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3" name="Text 71"/>
          <p:cNvSpPr/>
          <p:nvPr/>
        </p:nvSpPr>
        <p:spPr>
          <a:xfrm>
            <a:off x="10369296" y="46634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A8A0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Mart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9089136" y="4956048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5" name="Text 73"/>
          <p:cNvSpPr/>
          <p:nvPr/>
        </p:nvSpPr>
        <p:spPr>
          <a:xfrm>
            <a:off x="9089136" y="49560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A8A0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Aggregated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10369296" y="4956048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7" name="Text 75"/>
          <p:cNvSpPr/>
          <p:nvPr/>
        </p:nvSpPr>
        <p:spPr>
          <a:xfrm>
            <a:off x="10369296" y="49560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A8A0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KPI-ready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365760" y="5486400"/>
            <a:ext cx="58521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9" name="Shape 77"/>
          <p:cNvSpPr/>
          <p:nvPr/>
        </p:nvSpPr>
        <p:spPr>
          <a:xfrm>
            <a:off x="365760" y="5486400"/>
            <a:ext cx="73152" cy="10058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0" name="Text 78"/>
          <p:cNvSpPr/>
          <p:nvPr/>
        </p:nvSpPr>
        <p:spPr>
          <a:xfrm>
            <a:off x="548640" y="553212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Quarantine — 隔離領域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548640" y="5788152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 / 形式チェックで弾かれたレコードを隔離する領域。原因調査・再処理対象として保管。Bronze / Silver の処理失敗時に書き出す。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548640" y="619963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quarantine.invalid_orders / s3://lake-quarantine/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6309360" y="5486400"/>
            <a:ext cx="54864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4" name="Shape 82"/>
          <p:cNvSpPr/>
          <p:nvPr/>
        </p:nvSpPr>
        <p:spPr>
          <a:xfrm>
            <a:off x="6309360" y="5486400"/>
            <a:ext cx="73152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5" name="Text 83"/>
          <p:cNvSpPr/>
          <p:nvPr/>
        </p:nvSpPr>
        <p:spPr>
          <a:xfrm>
            <a:off x="6492240" y="553212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Audit Archive — 長期保管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6492240" y="578815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監査・コンプライアンス目的で長期保管する領域。確定済み Raw アーカイブ・改ざん不可データを Object Lock (WORM) 適用下で保持。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6492240" y="61996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s3://lake-audit-archive/ (Object Lock 適用)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9" name="Text 87"/>
          <p:cNvSpPr/>
          <p:nvPr/>
        </p:nvSpPr>
        <p:spPr>
          <a:xfrm>
            <a:off x="274320" y="66476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Platform Architecture Team — Confidential / Internal Use Only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11247120" y="66476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 9 / 16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ストレージレイヤー アーキテクチャ設計書 / Storage Layer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45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Integration Platform — Lakehouse on AWS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11480"/>
            <a:ext cx="13716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1170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Immutable Data と Snapshot — ファイルを上書きせず状態を切り替える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オブジェクトストレージ上では、既存ファイルを直接更新せず、新しいファイル+メタデータを作成し、参照するスナップショットを切り替える。これにより ACID・Time Travel・監査性を実現する。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219456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2194560" cy="32004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Write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560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新しいデータファイルをS3に書き込み (Parquet)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60320" y="2651760"/>
            <a:ext cx="73152" cy="0"/>
          </a:xfrm>
          <a:prstGeom prst="line">
            <a:avLst/>
          </a:prstGeom>
          <a:noFill/>
          <a:ln w="25400">
            <a:solidFill>
              <a:srgbClr val="111827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2633472" y="2194560"/>
            <a:ext cx="219456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2633472" y="2194560"/>
            <a:ext cx="2194560" cy="32004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2633472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New Metadata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24912" y="2560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 manifest / manifest list / metadata.json を生成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28032" y="2651760"/>
            <a:ext cx="73152" cy="0"/>
          </a:xfrm>
          <a:prstGeom prst="line">
            <a:avLst/>
          </a:prstGeom>
          <a:noFill/>
          <a:ln w="25400">
            <a:solidFill>
              <a:srgbClr val="111827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4901184" y="2194560"/>
            <a:ext cx="219456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4901184" y="2194560"/>
            <a:ext cx="2194560" cy="32004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4901184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New Snapshot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92624" y="2560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Snapshot ID を採番し、変更を記録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095744" y="2651760"/>
            <a:ext cx="73152" cy="0"/>
          </a:xfrm>
          <a:prstGeom prst="line">
            <a:avLst/>
          </a:prstGeom>
          <a:noFill/>
          <a:ln w="25400">
            <a:solidFill>
              <a:srgbClr val="111827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7168896" y="2194560"/>
            <a:ext cx="219456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7168896" y="2194560"/>
            <a:ext cx="2194560" cy="32004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7168896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Pointer Swap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60336" y="2560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Catalog の current snapshot を新IDに切り替え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363456" y="2651760"/>
            <a:ext cx="73152" cy="0"/>
          </a:xfrm>
          <a:prstGeom prst="line">
            <a:avLst/>
          </a:prstGeom>
          <a:noFill/>
          <a:ln w="25400">
            <a:solidFill>
              <a:srgbClr val="111827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9436608" y="2194560"/>
            <a:ext cx="219456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9436608" y="2194560"/>
            <a:ext cx="2194560" cy="3200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9436608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Readers See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28048" y="2560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以降の読み取りは新スナップショットを参照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3429000"/>
            <a:ext cx="3749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2"/>
          <p:cNvSpPr/>
          <p:nvPr/>
        </p:nvSpPr>
        <p:spPr>
          <a:xfrm>
            <a:off x="365760" y="3429000"/>
            <a:ext cx="73152" cy="128016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548640" y="35204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破損防止 / 並行処理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" y="38862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書き込み途中の中間状態がリーダから見えない。Snapshot Isolation により、書き込みと読み取りが安全に並行可能。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206240" y="3429000"/>
            <a:ext cx="3749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6"/>
          <p:cNvSpPr/>
          <p:nvPr/>
        </p:nvSpPr>
        <p:spPr>
          <a:xfrm>
            <a:off x="4206240" y="3429000"/>
            <a:ext cx="73152" cy="128016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4389120" y="35204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Time Travel / Rollback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389120" y="38862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過去スナップショットを指定して読める。不正データ混入時は、過去スナップショットへロールバック可能。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046720" y="3429000"/>
            <a:ext cx="3749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40"/>
          <p:cNvSpPr/>
          <p:nvPr/>
        </p:nvSpPr>
        <p:spPr>
          <a:xfrm>
            <a:off x="8046720" y="3429000"/>
            <a:ext cx="73152" cy="128016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8229600" y="35204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監査性 / 再現性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229600" y="38862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誰がいつ何を書いたかをスナップショット履歴で追跡可能。同じスナップショットから常に同じ結果を再現できる。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65760" y="489204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【Time Travel — クエリ実行例】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65760" y="5212080"/>
            <a:ext cx="11430000" cy="12801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548640" y="5285232"/>
            <a:ext cx="11155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最新スナップショットを参照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silver.orders;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過去スナップショットIDを指定 (Time Travel)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silver.orders FOR VERSION AS OF 7891234567890123456;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任意時点を指定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silver.orders FOR TIMESTAMP AS OF '2026-05-10 00:00:00';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274320" y="66476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Platform Architecture Team — Confidential / Internal Use Only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1247120" y="66476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 10 / 16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ストレージレイヤー アーキテクチャ設計書 / Storage Layer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45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Integration Platform — Lakehouse on AWS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11480"/>
            <a:ext cx="13716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1170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パーティション設計 — クエリ性能・更新効率・ファイルサイズに直結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パーティション設計は、よく使うフィルタ条件・データ量・更新頻度を踏まえて決める。Iceberg の Hidden Partitioning により、利用者は物理パーティションを直接意識する必要がない。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【設計観点】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5486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365760" y="2423160"/>
            <a:ext cx="73152" cy="45720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457200" y="244144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244144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よく使うフィルタ条件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244144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WHERE 句で頻繁に使う列をパーティションキーに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5486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73152" cy="45720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457200" y="294436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294436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日付条件 / 時系列性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0" y="294436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order_date, event_time 等の時系列カラム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429000"/>
            <a:ext cx="5486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365760" y="3429000"/>
            <a:ext cx="73152" cy="45720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457200" y="344728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344728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ドメイン / テナント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0" y="344728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マルチテナント環境では tenant_id でバケット化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931920"/>
            <a:ext cx="5486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365760" y="3931920"/>
            <a:ext cx="73152" cy="45720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457200" y="395020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4400" y="395020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データ量 / 更新頻度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0" y="395020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1パーティション 100MB–1GB 程度を目安に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4434840"/>
            <a:ext cx="5486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365760" y="4434840"/>
            <a:ext cx="73152" cy="45720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457200" y="445312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4400" y="44531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高カーディナリティ回避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00400" y="445312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user_id のような高基数列は直接使わない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4937760"/>
            <a:ext cx="5486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365760" y="4937760"/>
            <a:ext cx="73152" cy="45720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457200" y="495604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14400" y="495604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Small Files の抑制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00400" y="495604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細かすぎるパーティションは性能を劣化させる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63640" y="2011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【Iceberg パーティション式の例】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263640" y="2423160"/>
            <a:ext cx="5532120" cy="15544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6446520" y="246888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日次パーティション (orders系)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PARTITIONED BY (days(order_date))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月次パーティション (event_time 大量データ)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PARTITIONED BY (months(event_time))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バケット分割 (高カーディナリティ対策)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PARTITIONED BY (bucket(32, customer_id))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63640" y="4114800"/>
            <a:ext cx="5532120" cy="1371600"/>
          </a:xfrm>
          <a:prstGeom prst="rect">
            <a:avLst/>
          </a:prstGeom>
          <a:solidFill>
            <a:srgbClr val="F3F4F6"/>
          </a:solidFill>
          <a:ln w="9525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Shape 42"/>
          <p:cNvSpPr/>
          <p:nvPr/>
        </p:nvSpPr>
        <p:spPr>
          <a:xfrm>
            <a:off x="6263640" y="4114800"/>
            <a:ext cx="73152" cy="137160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6446520" y="41605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Hidden Partitioning とは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446520" y="443484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利用者は order_date でフィルタするだけでよく、days(order_date) という物理パーティション式を意識する必要がない。Iceberg がメタデータからフィルタ式を物理パーティションに自動マッピングし、クエリ最適化に利用する。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65760" y="5623560"/>
            <a:ext cx="11430000" cy="914400"/>
          </a:xfrm>
          <a:prstGeom prst="rect">
            <a:avLst/>
          </a:prstGeom>
          <a:solidFill>
            <a:srgbClr val="FEF2F2"/>
          </a:solidFill>
          <a:ln w="952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Shape 46"/>
          <p:cNvSpPr/>
          <p:nvPr/>
        </p:nvSpPr>
        <p:spPr>
          <a:xfrm>
            <a:off x="365760" y="5623560"/>
            <a:ext cx="73152" cy="9144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548640" y="5669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 パーティション設計のアンチパターン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48640" y="59436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 </a:t>
            </a: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user_id のような高カーディナリティ列を直接パーティションキーにする  →  small files が爆発的に増える</a:t>
            </a:r>
            <a:endParaRPr lang="en-US" sz="10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 </a:t>
            </a: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時系列をパーティション化しないまま大量データを蓄積する  →  全テーブルスキャンが発生しクエリが極端に遅くなる</a:t>
            </a:r>
            <a:endParaRPr lang="en-US" sz="10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 </a:t>
            </a: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細かすぎる粒度 (時間単位など) のパーティション化  →  manifest が膨れクエリ計画が遅延する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Text 50"/>
          <p:cNvSpPr/>
          <p:nvPr/>
        </p:nvSpPr>
        <p:spPr>
          <a:xfrm>
            <a:off x="274320" y="66476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Platform Architecture Team — Confidential / Internal Use Only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1247120" y="66476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 11 / 16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ストレージレイヤー アーキテクチャ設計書 / Storage Layer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45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Integration Platform — Lakehouse on AWS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11480"/>
            <a:ext cx="13716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1170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テーブルメンテナンス — Iceberg は『置きっぱなし』にできない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Iceberg テーブルは、データを書くだけでなく継続的なメンテナンスが必要。CDC・ストリーミング・頻繁な MERGE は small files・スナップショット肥大化・manifest 増大を引き起こす。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37490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73152" cy="416052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438912" y="2011680"/>
            <a:ext cx="3675888" cy="64008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94360" y="2057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Compaction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" y="23774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Small Files 対策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74320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なぜ必要か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971800"/>
            <a:ext cx="3520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CDC / ストリーミング / 頻繁なMERGEで、小さなParquetファイルが大量に生成される。クエリのI/Oが分散し性能が劣化、metadata肥大化を招く。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411480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478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操作内容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3434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小さいファイル群を1つの最適サイズ (128MB–1GB) のParquetに統合。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5120640"/>
            <a:ext cx="3520440" cy="5943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40080" y="51663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system.rewrite_data_files('silver.orders')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8640" y="5779008"/>
            <a:ext cx="914400" cy="27432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548640" y="57790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実行頻度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554480" y="57790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日次 / 週次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06240" y="2011680"/>
            <a:ext cx="37490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4206240" y="2011680"/>
            <a:ext cx="73152" cy="416052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4279392" y="2011680"/>
            <a:ext cx="3675888" cy="64008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4434840" y="2057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Expire Snapshots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34840" y="23774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スナップショット保持期間管理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389120" y="274320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なぜ必要か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389120" y="2971800"/>
            <a:ext cx="3520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Iceberg は更新のたびに snapshot を作成する。無期限に保持すると、過去 data files・metadata・manifest が S3 上に残り続け、コストとクエリ計画時間が増大する。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389120" y="411480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478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操作内容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389120" y="43434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保持期間 (例: 7日) を超えた snapshot を期限切れにし、参照されない data files を削除可能にする。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389120" y="5120640"/>
            <a:ext cx="3520440" cy="5943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4480560" y="51663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system.expire_snapshots('silver.orders', TIMESTAMP '2026-05-06 00:00:00')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389120" y="5779008"/>
            <a:ext cx="914400" cy="27432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4389120" y="57790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実行頻度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394960" y="57790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日次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046720" y="2011680"/>
            <a:ext cx="37490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6"/>
          <p:cNvSpPr/>
          <p:nvPr/>
        </p:nvSpPr>
        <p:spPr>
          <a:xfrm>
            <a:off x="8046720" y="2011680"/>
            <a:ext cx="73152" cy="416052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8119872" y="2011680"/>
            <a:ext cx="3675888" cy="64008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8275320" y="2057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Remove Orphans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275320" y="23774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孤立ファイル / Manifest 最適化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229600" y="274320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なぜ必要か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9600" y="2971800"/>
            <a:ext cx="3520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中断したジョブや失敗したcompactionが、どのスナップショットからも参照されない『孤立ファイル』をS3に残す。manifestも増えすぎるとクエリ計画が遅くなる。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229600" y="411480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478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操作内容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229600" y="43434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Iceberg メタデータから参照されないファイルを削除し、manifestを最適化 (rewrite_manifests)。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229600" y="5120640"/>
            <a:ext cx="3520440" cy="5943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8321040" y="51663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system.remove_orphan_files('silver.orders')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229600" y="5779008"/>
            <a:ext cx="914400" cy="27432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8229600" y="57790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実行頻度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9235440" y="57790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週次 / 月次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65760" y="6309360"/>
            <a:ext cx="11430000" cy="274320"/>
          </a:xfrm>
          <a:prstGeom prst="rect">
            <a:avLst/>
          </a:prstGeom>
          <a:solidFill>
            <a:srgbClr val="F3F4F6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Text 50"/>
          <p:cNvSpPr/>
          <p:nvPr/>
        </p:nvSpPr>
        <p:spPr>
          <a:xfrm>
            <a:off x="502920" y="63093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💡 推奨実行順序 — ① compaction → ② expire_snapshots → ③ remove_orphan_files (順序を逆にすると、まだ必要なファイルを削除するリスク)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52"/>
          <p:cNvSpPr/>
          <p:nvPr/>
        </p:nvSpPr>
        <p:spPr>
          <a:xfrm>
            <a:off x="274320" y="66476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Platform Architecture Team — Confidential / Internal Use Only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1247120" y="66476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 12 / 16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ストレージレイヤー アーキテクチャ設計書 / Storage Layer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45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Integration Platform — Lakehouse on AWS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11480"/>
            <a:ext cx="13716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1170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コスト最適化 — S3 Storage Class と Lifecycle 設計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 のストレージクラスと Lifecycle Policy を活用し、アクセス頻度・保存期間に応じてコストを最適化する。ただし Iceberg テーブルへの適用は、snapshot 管理との整合性に細心の注意が必要。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96596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【S3 ストレージクラスと適用方針】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822960" cy="3657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365760" y="23774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Hot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88720" y="2377440"/>
            <a:ext cx="2743200" cy="36576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1280160" y="2377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 Standard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931920" y="2377440"/>
            <a:ext cx="5669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023360" y="2377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直近・高頻度アクセス。Silver / Gold / 直近Bronze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601200" y="2377440"/>
            <a:ext cx="2194560" cy="36576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960120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788920"/>
            <a:ext cx="82296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365760" y="27889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Auto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188720" y="2788920"/>
            <a:ext cx="2743200" cy="36576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1280160" y="2788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 Intelligent-Tiering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931920" y="2788920"/>
            <a:ext cx="5669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4023360" y="2788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アクセスパターン不明・変動。自動的にコスト最適化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601200" y="2788920"/>
            <a:ext cx="2194560" cy="36576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960120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標準〜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200400"/>
            <a:ext cx="822960" cy="36576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365760" y="32004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Warm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188720" y="3200400"/>
            <a:ext cx="2743200" cy="36576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1280160" y="3200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 Standard-IA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931920" y="3200400"/>
            <a:ext cx="5669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402336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低頻度アクセス。30日以上アクセスのないBronze等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601200" y="3200400"/>
            <a:ext cx="2194560" cy="36576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9601200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Standardの約45%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3611880"/>
            <a:ext cx="822960" cy="36576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365760" y="36118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Cold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188720" y="3611880"/>
            <a:ext cx="2743200" cy="36576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1280160" y="3611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 Glacier Instant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931920" y="3611880"/>
            <a:ext cx="5669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402336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ミリ秒で取り出せるColdアーカイブ。長期保管Bronze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601200" y="3611880"/>
            <a:ext cx="2194560" cy="36576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9601200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Standardの約20%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4023360"/>
            <a:ext cx="822960" cy="36576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365760" y="40233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Archive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188720" y="4023360"/>
            <a:ext cx="2743200" cy="36576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1280160" y="4023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 Glacier Flexible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931920" y="4023360"/>
            <a:ext cx="5669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402336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分〜時間単位の取り出し。年次監査ログ等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601200" y="4023360"/>
            <a:ext cx="2194560" cy="36576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9601200" y="4023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Standardの約10%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65760" y="4434840"/>
            <a:ext cx="82296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365760" y="44348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Deep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188720" y="4434840"/>
            <a:ext cx="2743200" cy="36576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1280160" y="4434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 Glacier Deep Archive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931920" y="4434840"/>
            <a:ext cx="5669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3"/>
          <p:cNvSpPr/>
          <p:nvPr/>
        </p:nvSpPr>
        <p:spPr>
          <a:xfrm>
            <a:off x="402336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ほぼ参照しない長期保管。法定保管・終了データ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9601200" y="4434840"/>
            <a:ext cx="2194560" cy="36576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/>
          <p:cNvSpPr/>
          <p:nvPr/>
        </p:nvSpPr>
        <p:spPr>
          <a:xfrm>
            <a:off x="9601200" y="4434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Standardの約4%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65760" y="4937760"/>
            <a:ext cx="11430000" cy="1645920"/>
          </a:xfrm>
          <a:prstGeom prst="rect">
            <a:avLst/>
          </a:prstGeom>
          <a:solidFill>
            <a:srgbClr val="FEF2F2"/>
          </a:solidFill>
          <a:ln w="952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Shape 57"/>
          <p:cNvSpPr/>
          <p:nvPr/>
        </p:nvSpPr>
        <p:spPr>
          <a:xfrm>
            <a:off x="365760" y="4937760"/>
            <a:ext cx="73152" cy="16459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Text 58"/>
          <p:cNvSpPr/>
          <p:nvPr/>
        </p:nvSpPr>
        <p:spPr>
          <a:xfrm>
            <a:off x="548640" y="49834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 Iceberg テーブルに S3 Lifecycle を適用する際の必須注意点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48640" y="5257800"/>
            <a:ext cx="11155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 </a:t>
            </a: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metadata.json / manifest list / manifest を Lifecycle で安易に Glacier 化しない (テーブル読み取り不能化)。</a:t>
            </a:r>
            <a:endParaRPr lang="en-US" sz="10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 </a:t>
            </a: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Active snapshot が参照する data file を削除しない (Lifecycle ルールから Iceberg 配下を除外、または expire_snapshots と整合)。</a:t>
            </a:r>
            <a:endParaRPr lang="en-US" sz="10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 </a:t>
            </a: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expire_snapshots / remove_orphan_files の保持期間と Lifecycle の移行期間を必ず整合させる。</a:t>
            </a:r>
            <a:endParaRPr lang="en-US" sz="10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 </a:t>
            </a: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Object Lock (WORM) と compaction / cleanup は衝突する。WORMは Audit / Compliance 領域に限定適用する。</a:t>
            </a:r>
            <a:endParaRPr lang="en-US" sz="10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 </a:t>
            </a: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Bronze の Raw ファイル (Iceberg非管理) と Silver/Gold (Iceberg管理) は別バケット / 別Lifecycleで設計するのが安全。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61"/>
          <p:cNvSpPr/>
          <p:nvPr/>
        </p:nvSpPr>
        <p:spPr>
          <a:xfrm>
            <a:off x="274320" y="66476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Platform Architecture Team — Confidential / Internal Use Only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11247120" y="66476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 13 / 16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ストレージレイヤー アーキテクチャ設計書 / Storage Layer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45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Integration Platform — Lakehouse on AWS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11480"/>
            <a:ext cx="13716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1170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セキュリティ・ガバナンス — 暗号化 × アクセス制御 × ABAC × WORM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ストレージレイヤーのセキュリティは、暗号化・アクセス制御・タグベース制御 (ABAC)・改ざん防止 (WORM)・監査ログを多層で組み合わせる。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57150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73152" cy="219456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48640" y="1993392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暗号化 (Encryption)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313432"/>
            <a:ext cx="45720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548640" y="2423160"/>
            <a:ext cx="1920240" cy="256032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94360" y="2423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SSE-S3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60320" y="24231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S3管理鍵によるサーバサイド暗号化。最小構成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715768"/>
            <a:ext cx="1920240" cy="256032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594360" y="27157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SSE-KMS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60320" y="2715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 KMS管理鍵。エンタープライズ標準。CMKで鍵ローテ・監査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008376"/>
            <a:ext cx="1920240" cy="256032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594360" y="30083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Client-side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60320" y="30083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クライアント側で暗号化してから格納。高機密データ向け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392424"/>
            <a:ext cx="5349240" cy="585216"/>
          </a:xfrm>
          <a:prstGeom prst="rect">
            <a:avLst/>
          </a:prstGeom>
          <a:solidFill>
            <a:srgbClr val="F3F4F6"/>
          </a:solidFill>
          <a:ln w="635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640080" y="3419856"/>
            <a:ext cx="5257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 推奨：本番は SSE-KMS (Customer Managed Key)。KMS鍵をデータ分類別に分離。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63640" y="192024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6263640" y="1920240"/>
            <a:ext cx="73152" cy="219456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6446520" y="199339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アクセス制御 (Access Control)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46520" y="2313432"/>
            <a:ext cx="45720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6446520" y="2423160"/>
            <a:ext cx="1920240" cy="256032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6492240" y="2423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IAM Policy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458200" y="2423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Principal × Resource × Action での基本制御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46520" y="2715768"/>
            <a:ext cx="1920240" cy="256032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6492240" y="27157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 Bucket Policy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458200" y="27157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バケット単位の制御。クロスアカウントアクセスにも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46520" y="3008376"/>
            <a:ext cx="1920240" cy="256032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6492240" y="30083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KMS Key Policy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458200" y="30083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暗号鍵への kms:Decrypt 権限の制御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46520" y="3300984"/>
            <a:ext cx="1920240" cy="256032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6492240" y="3300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Lake Formation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458200" y="33009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Table / Column / Row レベルでの統合権限管理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46520" y="3593592"/>
            <a:ext cx="1920240" cy="256032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6492240" y="3593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Glue Catalog Perms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458200" y="3593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Glue リソースに対する権限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46520" y="3977640"/>
            <a:ext cx="5166360" cy="0"/>
          </a:xfrm>
          <a:prstGeom prst="rect">
            <a:avLst/>
          </a:prstGeom>
          <a:solidFill>
            <a:srgbClr val="F3F4F6"/>
          </a:solidFill>
          <a:ln w="635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Text 42"/>
          <p:cNvSpPr/>
          <p:nvPr/>
        </p:nvSpPr>
        <p:spPr>
          <a:xfrm>
            <a:off x="6537960" y="4005072"/>
            <a:ext cx="50749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 Lake Formation を入口に統合管理し、IAM / Bucket Policy で multi-layer に防御。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4206240"/>
            <a:ext cx="57150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Shape 44"/>
          <p:cNvSpPr/>
          <p:nvPr/>
        </p:nvSpPr>
        <p:spPr>
          <a:xfrm>
            <a:off x="365760" y="4206240"/>
            <a:ext cx="73152" cy="233172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548640" y="4279392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ABAC / Tag-based Access Control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48640" y="4599432"/>
            <a:ext cx="457200" cy="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Shape 47"/>
          <p:cNvSpPr/>
          <p:nvPr/>
        </p:nvSpPr>
        <p:spPr>
          <a:xfrm>
            <a:off x="548640" y="4709160"/>
            <a:ext cx="1920240" cy="256032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Text 48"/>
          <p:cNvSpPr/>
          <p:nvPr/>
        </p:nvSpPr>
        <p:spPr>
          <a:xfrm>
            <a:off x="594360" y="4709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LF-Tag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560320" y="47091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Lake Formation のタグベース権限。実効アクセス制御に使う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48640" y="5001768"/>
            <a:ext cx="1920240" cy="256032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594360" y="50017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IAM Tag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2560320" y="5001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Principal / Resource タグでの動的判定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48640" y="5294376"/>
            <a:ext cx="1920240" cy="256032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Text 54"/>
          <p:cNvSpPr/>
          <p:nvPr/>
        </p:nvSpPr>
        <p:spPr>
          <a:xfrm>
            <a:off x="594360" y="52943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Classification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2560320" y="52943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PII / Confidential / Internal / Public 等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48640" y="5678424"/>
            <a:ext cx="5349240" cy="722376"/>
          </a:xfrm>
          <a:prstGeom prst="rect">
            <a:avLst/>
          </a:prstGeom>
          <a:solidFill>
            <a:srgbClr val="F3F4F6"/>
          </a:solidFill>
          <a:ln w="635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Text 57"/>
          <p:cNvSpPr/>
          <p:nvPr/>
        </p:nvSpPr>
        <p:spPr>
          <a:xfrm>
            <a:off x="640080" y="5705856"/>
            <a:ext cx="5257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 User属性 × Data属性 で動的判定。例: user.dept = finance かつ data.domain = finance のときアクセス許可。</a:t>
            </a:r>
            <a:endParaRPr lang="en-US" sz="9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DataHub上のタグだけでは実効制御にならない — 必ず LF-Tag / IAMポリシーに反映する。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263640" y="4206240"/>
            <a:ext cx="5532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Shape 59"/>
          <p:cNvSpPr/>
          <p:nvPr/>
        </p:nvSpPr>
        <p:spPr>
          <a:xfrm>
            <a:off x="6263640" y="4206240"/>
            <a:ext cx="73152" cy="23317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" name="Text 60"/>
          <p:cNvSpPr/>
          <p:nvPr/>
        </p:nvSpPr>
        <p:spPr>
          <a:xfrm>
            <a:off x="6446520" y="427939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WORM / Object Lock + 監査ログ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446520" y="4599432"/>
            <a:ext cx="457200" cy="0"/>
          </a:xfrm>
          <a:prstGeom prst="line">
            <a:avLst/>
          </a:prstGeom>
          <a:noFill/>
          <a:ln w="254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4" name="Shape 62"/>
          <p:cNvSpPr/>
          <p:nvPr/>
        </p:nvSpPr>
        <p:spPr>
          <a:xfrm>
            <a:off x="6446520" y="4709160"/>
            <a:ext cx="1920240" cy="256032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Text 63"/>
          <p:cNvSpPr/>
          <p:nvPr/>
        </p:nvSpPr>
        <p:spPr>
          <a:xfrm>
            <a:off x="6492240" y="4709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 Object Lock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8458200" y="4709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Write Once Read Many。改ざん不可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446520" y="5001768"/>
            <a:ext cx="1920240" cy="256032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8" name="Text 66"/>
          <p:cNvSpPr/>
          <p:nvPr/>
        </p:nvSpPr>
        <p:spPr>
          <a:xfrm>
            <a:off x="6492240" y="50017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Governance Mode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8458200" y="50017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Bypass権限あり。一般運用向け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446520" y="5294376"/>
            <a:ext cx="1920240" cy="256032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1" name="Text 69"/>
          <p:cNvSpPr/>
          <p:nvPr/>
        </p:nvSpPr>
        <p:spPr>
          <a:xfrm>
            <a:off x="6492240" y="52943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Compliance Mode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8458200" y="52943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誰も削除不可。法定保管向け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446520" y="5586984"/>
            <a:ext cx="1920240" cy="256032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4" name="Text 72"/>
          <p:cNvSpPr/>
          <p:nvPr/>
        </p:nvSpPr>
        <p:spPr>
          <a:xfrm>
            <a:off x="6492240" y="5586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CloudTrail / S3 Access Log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8458200" y="55869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誰が何を読み書きしたかの監査ログ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446520" y="5971032"/>
            <a:ext cx="5166360" cy="429768"/>
          </a:xfrm>
          <a:prstGeom prst="rect">
            <a:avLst/>
          </a:prstGeom>
          <a:solidFill>
            <a:srgbClr val="F3F4F6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7" name="Text 75"/>
          <p:cNvSpPr/>
          <p:nvPr/>
        </p:nvSpPr>
        <p:spPr>
          <a:xfrm>
            <a:off x="6537960" y="5998464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 Audit / Compliance Archive のみ Object Lock 適用。</a:t>
            </a:r>
            <a:endParaRPr lang="en-US" sz="9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Iceberg管理テーブル全体には適用しない (compaction / cleanup と衝突)。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9" name="Text 77"/>
          <p:cNvSpPr/>
          <p:nvPr/>
        </p:nvSpPr>
        <p:spPr>
          <a:xfrm>
            <a:off x="274320" y="66476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Platform Architecture Team — Confidential / Internal Use Only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11247120" y="66476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 14 / 16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ストレージレイヤー アーキテクチャ設計書 / Storage Layer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45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Integration Platform — Lakehouse on AWS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11480"/>
            <a:ext cx="13716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1170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周辺レイヤーとの接続 — 書き込み / 読み取り経路の整理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ストレージレイヤーは、上流の Collecting / Processing から書き込まれ、下流の Query Engine / Access Layer から読み取られる。書込経路は Iceberg を介し、読取経路は Catalog を介すのが原則。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23360" y="2377440"/>
            <a:ext cx="4114800" cy="3200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023360" y="2377440"/>
            <a:ext cx="4114800" cy="50292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023360" y="24231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Storage Layer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0" y="26517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 × Iceberg × Catalog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51960" y="3063240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251960" y="3063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Catalog (Glue / REST / HMS)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51960" y="3630168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4251960" y="36301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Iceberg Tables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51960" y="4197096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4251960" y="41970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Parquet Files on Amazon S3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51960" y="4764024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4251960" y="47640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Bronze / Silver / Gold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194560"/>
            <a:ext cx="3383280" cy="36576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365760" y="2194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WRITE — 書き込み元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2651760"/>
            <a:ext cx="33832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365760" y="2651760"/>
            <a:ext cx="73152" cy="9144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502920" y="2697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478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Collecting Layer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29535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Fivetran / Airbyte / TROCCO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DMS / Debezium (CDC)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" y="33375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i="1" dirty="0">
                <a:solidFill>
                  <a:srgbClr val="0478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Bronze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767328" y="3108960"/>
            <a:ext cx="228600" cy="0"/>
          </a:xfrm>
          <a:prstGeom prst="line">
            <a:avLst/>
          </a:prstGeom>
          <a:noFill/>
          <a:ln w="31750">
            <a:solidFill>
              <a:srgbClr val="047857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365760" y="3685032"/>
            <a:ext cx="33832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365760" y="3685032"/>
            <a:ext cx="73152" cy="9144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502920" y="37307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478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Processing Layer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398678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Spark / dbt / Trino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Flink / AWS Glue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" y="43708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i="1" dirty="0">
                <a:solidFill>
                  <a:srgbClr val="0478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Silver / Gold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767328" y="4142232"/>
            <a:ext cx="228600" cy="0"/>
          </a:xfrm>
          <a:prstGeom prst="line">
            <a:avLst/>
          </a:prstGeom>
          <a:noFill/>
          <a:ln w="31750">
            <a:solidFill>
              <a:srgbClr val="047857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365760" y="4718304"/>
            <a:ext cx="33832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365760" y="4718304"/>
            <a:ext cx="73152" cy="9144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502920" y="47640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478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Streaming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" y="502005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Kinesis / Kafka / MSK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Flink Sink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2920" y="54041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i="1" dirty="0">
                <a:solidFill>
                  <a:srgbClr val="0478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Bronze (Avro/Iceberg)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767328" y="5175504"/>
            <a:ext cx="228600" cy="0"/>
          </a:xfrm>
          <a:prstGeom prst="line">
            <a:avLst/>
          </a:prstGeom>
          <a:noFill/>
          <a:ln w="31750">
            <a:solidFill>
              <a:srgbClr val="047857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9"/>
          <p:cNvSpPr/>
          <p:nvPr/>
        </p:nvSpPr>
        <p:spPr>
          <a:xfrm>
            <a:off x="8412480" y="2194560"/>
            <a:ext cx="3383280" cy="36576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8412480" y="2194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READ — 読み取り先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412480" y="2651760"/>
            <a:ext cx="33832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Shape 42"/>
          <p:cNvSpPr/>
          <p:nvPr/>
        </p:nvSpPr>
        <p:spPr>
          <a:xfrm>
            <a:off x="8412480" y="2651760"/>
            <a:ext cx="73152" cy="91440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8549640" y="2697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Query Engine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549640" y="29535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Trino / Athena / Spark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Redshift Spectrum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549640" y="33375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i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← Iceberg/Catalog 経由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183880" y="3108960"/>
            <a:ext cx="210312" cy="0"/>
          </a:xfrm>
          <a:prstGeom prst="line">
            <a:avLst/>
          </a:prstGeom>
          <a:noFill/>
          <a:ln w="31750">
            <a:solidFill>
              <a:srgbClr val="4B556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Shape 47"/>
          <p:cNvSpPr/>
          <p:nvPr/>
        </p:nvSpPr>
        <p:spPr>
          <a:xfrm>
            <a:off x="8412480" y="3685032"/>
            <a:ext cx="33832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Shape 48"/>
          <p:cNvSpPr/>
          <p:nvPr/>
        </p:nvSpPr>
        <p:spPr>
          <a:xfrm>
            <a:off x="8412480" y="3685032"/>
            <a:ext cx="73152" cy="91440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8549640" y="37307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Transformation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549640" y="398678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dbt / Spark / Notebook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Airflow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549640" y="43708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i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← Iceberg/Catalog 経由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183880" y="4142232"/>
            <a:ext cx="210312" cy="0"/>
          </a:xfrm>
          <a:prstGeom prst="line">
            <a:avLst/>
          </a:prstGeom>
          <a:noFill/>
          <a:ln w="31750">
            <a:solidFill>
              <a:srgbClr val="4B556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Shape 53"/>
          <p:cNvSpPr/>
          <p:nvPr/>
        </p:nvSpPr>
        <p:spPr>
          <a:xfrm>
            <a:off x="8412480" y="4718304"/>
            <a:ext cx="33832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Shape 54"/>
          <p:cNvSpPr/>
          <p:nvPr/>
        </p:nvSpPr>
        <p:spPr>
          <a:xfrm>
            <a:off x="8412480" y="4718304"/>
            <a:ext cx="73152" cy="91440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/>
          <p:cNvSpPr/>
          <p:nvPr/>
        </p:nvSpPr>
        <p:spPr>
          <a:xfrm>
            <a:off x="8549640" y="47640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 / Semantic Layer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549640" y="502005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Tableau / Looker / Metabase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Cube / dbt Semantic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549640" y="54041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i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← Query Engine 経由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183880" y="5175504"/>
            <a:ext cx="210312" cy="0"/>
          </a:xfrm>
          <a:prstGeom prst="line">
            <a:avLst/>
          </a:prstGeom>
          <a:noFill/>
          <a:ln w="31750">
            <a:solidFill>
              <a:srgbClr val="4B556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Shape 59"/>
          <p:cNvSpPr/>
          <p:nvPr/>
        </p:nvSpPr>
        <p:spPr>
          <a:xfrm>
            <a:off x="365760" y="5760720"/>
            <a:ext cx="11430000" cy="777240"/>
          </a:xfrm>
          <a:prstGeom prst="rect">
            <a:avLst/>
          </a:prstGeom>
          <a:solidFill>
            <a:srgbClr val="F3F4F6"/>
          </a:solidFill>
          <a:ln w="635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60"/>
          <p:cNvSpPr/>
          <p:nvPr/>
        </p:nvSpPr>
        <p:spPr>
          <a:xfrm>
            <a:off x="365760" y="5760720"/>
            <a:ext cx="73152" cy="77724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61"/>
          <p:cNvSpPr/>
          <p:nvPr/>
        </p:nvSpPr>
        <p:spPr>
          <a:xfrm>
            <a:off x="502920" y="57881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【接続原則】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02920" y="606247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書き込みは Iceberg API / MERGE INTO 経由で行い、S3に直接ファイルを置かない (snapshot 不整合の原因)</a:t>
            </a:r>
            <a:endParaRPr lang="en-US" sz="10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読み取りは必ず Catalog (Glue / REST / HMS) 経由で行い、テーブル名で参照する。BI / Semantic Layer は通常 Query Engine を介す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64"/>
          <p:cNvSpPr/>
          <p:nvPr/>
        </p:nvSpPr>
        <p:spPr>
          <a:xfrm>
            <a:off x="274320" y="66476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Platform Architecture Team — Confidential / Internal Use Only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11247120" y="66476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 15 / 16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ストレージレイヤー アーキテクチャ設計書 / Storage Layer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45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Integration Platform — Lakehouse on AWS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11480"/>
            <a:ext cx="13716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1170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設計サマリ — 実装チェックリストと運用上の論点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本設計書のポイントを集約。設計レビュー / 実装着手時のチェックリストとして使用する。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5715000" cy="45720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設計の10ポイント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395728"/>
            <a:ext cx="7315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48640" y="2651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2606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Amazon S3 を物理保存層の中核に置く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48640" y="3017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2971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Parquet + Snappy / ZSTD を分析用標準フォーマットに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38328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548640" y="3383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3337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Apache Iceberg でテーブル化 — ACID / Snapshot / Time Travel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74904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548640" y="3749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3703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Operational Catalog (Glue/REST/HMS) と Governance Catalog (DataHub等) を分離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548640" y="4114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4069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Landing / Bronze / Silver / Gold + Quarantine / Audit に論理分割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48056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548640" y="4480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14400" y="4434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SSE-KMS で暗号化、Lake Formation で行/列/タグ権限を統合管理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484632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548640" y="4846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14400" y="4800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Lifecycle / Intelligent-Tiering でコスト階層化 (ただし Iceberg と整合)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521208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548640" y="5212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14400" y="5166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Compaction / Expire Snapshots / Orphan Cleanup を定常運用化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557784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548640" y="5577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14400" y="5532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Object Lock (WORM) は Audit / Compliance 領域に限定適用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594360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548640" y="5943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14400" y="5897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外部ストア (NoSQL / DWH) はS3/Iceberg配下ではなく別枠で扱う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263640" y="192024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【実装前に決定すべき論点】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263640" y="2331720"/>
            <a:ext cx="5532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Shape 42"/>
          <p:cNvSpPr/>
          <p:nvPr/>
        </p:nvSpPr>
        <p:spPr>
          <a:xfrm>
            <a:off x="6263640" y="2331720"/>
            <a:ext cx="73152" cy="475488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6400800" y="235915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Catalog 選定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046720" y="2404872"/>
            <a:ext cx="1691640" cy="329184"/>
          </a:xfrm>
          <a:prstGeom prst="rect">
            <a:avLst/>
          </a:prstGeom>
          <a:solidFill>
            <a:srgbClr val="F3F4F6"/>
          </a:solidFill>
          <a:ln w="635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8046720" y="240487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Glue / Iceberg REST / Nessie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829800" y="235915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AWS中心ならGlue、マルチクラウド・OSSならREST、ブランチ運用ならNessie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263640" y="2852928"/>
            <a:ext cx="5532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Shape 48"/>
          <p:cNvSpPr/>
          <p:nvPr/>
        </p:nvSpPr>
        <p:spPr>
          <a:xfrm>
            <a:off x="6263640" y="2852928"/>
            <a:ext cx="73152" cy="475488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6400800" y="288036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暗号鍵管理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046720" y="2926080"/>
            <a:ext cx="1691640" cy="329184"/>
          </a:xfrm>
          <a:prstGeom prst="rect">
            <a:avLst/>
          </a:prstGeom>
          <a:solidFill>
            <a:srgbClr val="F3F4F6"/>
          </a:solidFill>
          <a:ln w="635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8046720" y="29260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SSE-S3 / SSE-KMS / CMK単位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829800" y="288036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推奨はSSE-KMS+CMK。データ分類別に鍵分離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263640" y="3374136"/>
            <a:ext cx="5532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Shape 54"/>
          <p:cNvSpPr/>
          <p:nvPr/>
        </p:nvSpPr>
        <p:spPr>
          <a:xfrm>
            <a:off x="6263640" y="3374136"/>
            <a:ext cx="73152" cy="475488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/>
          <p:cNvSpPr/>
          <p:nvPr/>
        </p:nvSpPr>
        <p:spPr>
          <a:xfrm>
            <a:off x="6400800" y="340156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バケット分割粒度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046720" y="3447288"/>
            <a:ext cx="1691640" cy="329184"/>
          </a:xfrm>
          <a:prstGeom prst="rect">
            <a:avLst/>
          </a:prstGeom>
          <a:solidFill>
            <a:srgbClr val="F3F4F6"/>
          </a:solidFill>
          <a:ln w="635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Text 57"/>
          <p:cNvSpPr/>
          <p:nvPr/>
        </p:nvSpPr>
        <p:spPr>
          <a:xfrm>
            <a:off x="8046720" y="344728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層別 / 層+環境別 / 機密度別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9829800" y="34015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Lifecycle・IAMを層単位で制御するため層別分離が基本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263640" y="3895344"/>
            <a:ext cx="5532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60"/>
          <p:cNvSpPr/>
          <p:nvPr/>
        </p:nvSpPr>
        <p:spPr>
          <a:xfrm>
            <a:off x="6263640" y="3895344"/>
            <a:ext cx="73152" cy="475488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61"/>
          <p:cNvSpPr/>
          <p:nvPr/>
        </p:nvSpPr>
        <p:spPr>
          <a:xfrm>
            <a:off x="6400800" y="39227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Snapshot保持期間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8046720" y="3968496"/>
            <a:ext cx="1691640" cy="329184"/>
          </a:xfrm>
          <a:prstGeom prst="rect">
            <a:avLst/>
          </a:prstGeom>
          <a:solidFill>
            <a:srgbClr val="F3F4F6"/>
          </a:solidFill>
          <a:ln w="635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Text 63"/>
          <p:cNvSpPr/>
          <p:nvPr/>
        </p:nvSpPr>
        <p:spPr>
          <a:xfrm>
            <a:off x="8046720" y="396849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1日 / 7日 / 30日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9829800" y="392277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Time Travel要件と監査要件のバランス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263640" y="4416552"/>
            <a:ext cx="5532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8" name="Shape 66"/>
          <p:cNvSpPr/>
          <p:nvPr/>
        </p:nvSpPr>
        <p:spPr>
          <a:xfrm>
            <a:off x="6263640" y="4416552"/>
            <a:ext cx="73152" cy="475488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9" name="Text 67"/>
          <p:cNvSpPr/>
          <p:nvPr/>
        </p:nvSpPr>
        <p:spPr>
          <a:xfrm>
            <a:off x="6400800" y="444398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Compaction頻度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8046720" y="4489704"/>
            <a:ext cx="1691640" cy="329184"/>
          </a:xfrm>
          <a:prstGeom prst="rect">
            <a:avLst/>
          </a:prstGeom>
          <a:solidFill>
            <a:srgbClr val="F3F4F6"/>
          </a:solidFill>
          <a:ln w="635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1" name="Text 69"/>
          <p:cNvSpPr/>
          <p:nvPr/>
        </p:nvSpPr>
        <p:spPr>
          <a:xfrm>
            <a:off x="8046720" y="448970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リアルタイム / 日次 / 週次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9829800" y="444398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更新頻度に応じて。CDC系は日次以上が必要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6263640" y="4937760"/>
            <a:ext cx="5532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4" name="Shape 72"/>
          <p:cNvSpPr/>
          <p:nvPr/>
        </p:nvSpPr>
        <p:spPr>
          <a:xfrm>
            <a:off x="6263640" y="4937760"/>
            <a:ext cx="73152" cy="475488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5" name="Text 73"/>
          <p:cNvSpPr/>
          <p:nvPr/>
        </p:nvSpPr>
        <p:spPr>
          <a:xfrm>
            <a:off x="6400800" y="496519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ABAC実装範囲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8046720" y="5010912"/>
            <a:ext cx="1691640" cy="329184"/>
          </a:xfrm>
          <a:prstGeom prst="rect">
            <a:avLst/>
          </a:prstGeom>
          <a:solidFill>
            <a:srgbClr val="F3F4F6"/>
          </a:solidFill>
          <a:ln w="635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7" name="Text 75"/>
          <p:cNvSpPr/>
          <p:nvPr/>
        </p:nvSpPr>
        <p:spPr>
          <a:xfrm>
            <a:off x="8046720" y="501091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LF-Tagのみ / DataHub連携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9829800" y="496519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DataHubタグは実効制御に直接使えない点に注意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6263640" y="5458968"/>
            <a:ext cx="5532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0" name="Shape 78"/>
          <p:cNvSpPr/>
          <p:nvPr/>
        </p:nvSpPr>
        <p:spPr>
          <a:xfrm>
            <a:off x="6263640" y="5458968"/>
            <a:ext cx="73152" cy="475488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1" name="Text 79"/>
          <p:cNvSpPr/>
          <p:nvPr/>
        </p:nvSpPr>
        <p:spPr>
          <a:xfrm>
            <a:off x="6400800" y="548640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Object Lock範囲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8046720" y="5532120"/>
            <a:ext cx="1691640" cy="329184"/>
          </a:xfrm>
          <a:prstGeom prst="rect">
            <a:avLst/>
          </a:prstGeom>
          <a:solidFill>
            <a:srgbClr val="F3F4F6"/>
          </a:solidFill>
          <a:ln w="635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3" name="Text 81"/>
          <p:cNvSpPr/>
          <p:nvPr/>
        </p:nvSpPr>
        <p:spPr>
          <a:xfrm>
            <a:off x="8046720" y="553212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Audit/Compliance限定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9829800" y="548640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Iceberg配下への適用はNG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6263640" y="5980176"/>
            <a:ext cx="5532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6" name="Shape 84"/>
          <p:cNvSpPr/>
          <p:nvPr/>
        </p:nvSpPr>
        <p:spPr>
          <a:xfrm>
            <a:off x="6263640" y="5980176"/>
            <a:ext cx="73152" cy="475488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7" name="Text 85"/>
          <p:cNvSpPr/>
          <p:nvPr/>
        </p:nvSpPr>
        <p:spPr>
          <a:xfrm>
            <a:off x="6400800" y="600760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Disaster Recovery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8046720" y="6053328"/>
            <a:ext cx="1691640" cy="329184"/>
          </a:xfrm>
          <a:prstGeom prst="rect">
            <a:avLst/>
          </a:prstGeom>
          <a:solidFill>
            <a:srgbClr val="F3F4F6"/>
          </a:solidFill>
          <a:ln w="635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9" name="Text 87"/>
          <p:cNvSpPr/>
          <p:nvPr/>
        </p:nvSpPr>
        <p:spPr>
          <a:xfrm>
            <a:off x="8046720" y="605332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Cross-Region Replication / Backup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9829800" y="600760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RPO/RTOから逆算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2" name="Text 90"/>
          <p:cNvSpPr/>
          <p:nvPr/>
        </p:nvSpPr>
        <p:spPr>
          <a:xfrm>
            <a:off x="274320" y="66476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Platform Architecture Team — Confidential / Internal Use Only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11247120" y="66476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 16 / 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3346</Words>
  <Application>Microsoft Office PowerPoint</Application>
  <PresentationFormat>ワイド画面</PresentationFormat>
  <Paragraphs>675</Paragraphs>
  <Slides>16</Slides>
  <Notes>16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0" baseType="lpstr">
      <vt:lpstr>Yu Gothic</vt:lpstr>
      <vt:lpstr>Arial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ストレージレイヤー アーキテクチャ設計書</dc:title>
  <dc:subject>PptxGenJS Presentation</dc:subject>
  <dc:creator>Data Platform Architecture Team</dc:creator>
  <cp:lastModifiedBy>yoshimasa obata</cp:lastModifiedBy>
  <cp:revision>2</cp:revision>
  <dcterms:created xsi:type="dcterms:W3CDTF">2026-05-13T03:01:07Z</dcterms:created>
  <dcterms:modified xsi:type="dcterms:W3CDTF">2026-05-13T03:09:03Z</dcterms:modified>
</cp:coreProperties>
</file>