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モダン・レイクハウスの要：コレクティングレイヤー(データ収集層)アーキテクチャ概説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11612880" cy="457200"/>
          </a:xfrm>
          <a:prstGeom prst="rect">
            <a:avLst/>
          </a:prstGeom>
          <a:solidFill>
            <a:srgbClr val="E8ECEF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22376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GOVERNANCE (横断的ガバナンス機能)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914400"/>
            <a:ext cx="182880" cy="18288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950976"/>
            <a:ext cx="109728" cy="109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8961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783080" y="1024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(パイプライン全体管理)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160520" y="914400"/>
            <a:ext cx="182880" cy="18288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950976"/>
            <a:ext cx="109728" cy="109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8961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389120" y="1024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(データの健全性監視)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6766560" y="914400"/>
            <a:ext cx="182880" cy="18288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950976"/>
            <a:ext cx="109728" cy="1097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8961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995160" y="1024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(権限管理)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9372600" y="914400"/>
            <a:ext cx="182880" cy="18288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950976"/>
            <a:ext cx="109728" cy="1097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0" y="8961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METADATA/LINEAGE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9601200" y="1024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(データの出所追跡)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274320" y="1371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274320" y="1591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(インプット)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" y="1856232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20040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SaaS/API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320040" y="234086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(Salesforce等)</a:t>
            </a:r>
            <a:endParaRPr lang="en-US" sz="6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4188" y="1856232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RDB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1234440" y="234086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(PostgreSQL等)</a:t>
            </a:r>
            <a:endParaRPr lang="en-US" sz="6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" y="2569464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20040" y="29260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アプリイベント</a:t>
            </a:r>
            <a:endParaRPr lang="en-US" sz="8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188" y="2569464"/>
            <a:ext cx="329184" cy="32918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234440" y="29260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Web/アプリログ</a:t>
            </a:r>
            <a:endParaRPr lang="en-US" sz="8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788" y="3282696"/>
            <a:ext cx="329184" cy="32918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320040" y="363931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ファイル(SFTP)</a:t>
            </a:r>
            <a:endParaRPr lang="en-US" sz="8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4188" y="3282696"/>
            <a:ext cx="329184" cy="32918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234440" y="363931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IoT</a:t>
            </a:r>
            <a:endParaRPr lang="en-US" sz="8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788" y="3995928"/>
            <a:ext cx="329184" cy="32918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20040" y="435254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</a:t>
            </a:r>
            <a:endParaRPr lang="en-US" sz="8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4188" y="3995928"/>
            <a:ext cx="329184" cy="32918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1234440" y="435254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外部データ</a:t>
            </a:r>
            <a:endParaRPr lang="en-US" sz="800" dirty="0"/>
          </a:p>
        </p:txBody>
      </p:sp>
      <p:sp>
        <p:nvSpPr>
          <p:cNvPr id="42" name="Text 28"/>
          <p:cNvSpPr/>
          <p:nvPr/>
        </p:nvSpPr>
        <p:spPr>
          <a:xfrm>
            <a:off x="274320" y="4636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645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4つの主要収集カテゴリ</a:t>
            </a:r>
            <a:endParaRPr lang="en-US" sz="1000" dirty="0"/>
          </a:p>
        </p:txBody>
      </p:sp>
      <p:sp>
        <p:nvSpPr>
          <p:cNvPr id="43" name="Shape 29"/>
          <p:cNvSpPr/>
          <p:nvPr/>
        </p:nvSpPr>
        <p:spPr>
          <a:xfrm>
            <a:off x="2240280" y="2926080"/>
            <a:ext cx="320040" cy="411480"/>
          </a:xfrm>
          <a:prstGeom prst="rtTriangle">
            <a:avLst/>
          </a:prstGeom>
          <a:solidFill>
            <a:srgbClr val="36454F"/>
          </a:solidFill>
          <a:ln/>
        </p:spPr>
      </p:sp>
      <p:sp>
        <p:nvSpPr>
          <p:cNvPr id="44" name="Shape 30"/>
          <p:cNvSpPr/>
          <p:nvPr/>
        </p:nvSpPr>
        <p:spPr>
          <a:xfrm>
            <a:off x="2651760" y="1371600"/>
            <a:ext cx="420624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2651760" y="14173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LAYER</a:t>
            </a:r>
            <a:endParaRPr lang="en-US" sz="1400" dirty="0"/>
          </a:p>
        </p:txBody>
      </p:sp>
      <p:sp>
        <p:nvSpPr>
          <p:cNvPr id="46" name="Text 32"/>
          <p:cNvSpPr/>
          <p:nvPr/>
        </p:nvSpPr>
        <p:spPr>
          <a:xfrm>
            <a:off x="2651760" y="16459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(データ収集層)</a:t>
            </a:r>
            <a:endParaRPr lang="en-US" sz="900" dirty="0"/>
          </a:p>
        </p:txBody>
      </p:sp>
      <p:sp>
        <p:nvSpPr>
          <p:cNvPr id="47" name="Shape 33"/>
          <p:cNvSpPr/>
          <p:nvPr/>
        </p:nvSpPr>
        <p:spPr>
          <a:xfrm>
            <a:off x="2834640" y="1920240"/>
            <a:ext cx="1188720" cy="1143000"/>
          </a:xfrm>
          <a:prstGeom prst="roundRect">
            <a:avLst>
              <a:gd name="adj" fmla="val 64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18688" y="2057400"/>
            <a:ext cx="420624" cy="420624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2880360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ELT</a:t>
            </a:r>
            <a:endParaRPr lang="en-US" sz="1050" dirty="0"/>
          </a:p>
        </p:txBody>
      </p:sp>
      <p:sp>
        <p:nvSpPr>
          <p:cNvPr id="50" name="Text 35"/>
          <p:cNvSpPr/>
          <p:nvPr/>
        </p:nvSpPr>
        <p:spPr>
          <a:xfrm>
            <a:off x="2880360" y="2816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5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設定ベース</a:t>
            </a:r>
            <a:endParaRPr lang="en-US" sz="800" dirty="0"/>
          </a:p>
        </p:txBody>
      </p:sp>
      <p:sp>
        <p:nvSpPr>
          <p:cNvPr id="51" name="Shape 36"/>
          <p:cNvSpPr/>
          <p:nvPr/>
        </p:nvSpPr>
        <p:spPr>
          <a:xfrm>
            <a:off x="4114800" y="1920240"/>
            <a:ext cx="1188720" cy="1143000"/>
          </a:xfrm>
          <a:prstGeom prst="roundRect">
            <a:avLst>
              <a:gd name="adj" fmla="val 64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8848" y="2057400"/>
            <a:ext cx="420624" cy="420624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4160520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Batch</a:t>
            </a:r>
            <a:endParaRPr lang="en-US" sz="1050" dirty="0"/>
          </a:p>
        </p:txBody>
      </p:sp>
      <p:sp>
        <p:nvSpPr>
          <p:cNvPr id="54" name="Text 38"/>
          <p:cNvSpPr/>
          <p:nvPr/>
        </p:nvSpPr>
        <p:spPr>
          <a:xfrm>
            <a:off x="4160520" y="2816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5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独自バッチ</a:t>
            </a:r>
            <a:endParaRPr lang="en-US" sz="800" dirty="0"/>
          </a:p>
        </p:txBody>
      </p:sp>
      <p:sp>
        <p:nvSpPr>
          <p:cNvPr id="55" name="Shape 39"/>
          <p:cNvSpPr/>
          <p:nvPr/>
        </p:nvSpPr>
        <p:spPr>
          <a:xfrm>
            <a:off x="2834640" y="3154680"/>
            <a:ext cx="1188720" cy="1143000"/>
          </a:xfrm>
          <a:prstGeom prst="roundRect">
            <a:avLst>
              <a:gd name="adj" fmla="val 64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18688" y="3291840"/>
            <a:ext cx="420624" cy="420624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2880360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CDC/Streaming</a:t>
            </a:r>
            <a:endParaRPr lang="en-US" sz="1050" dirty="0"/>
          </a:p>
        </p:txBody>
      </p:sp>
      <p:sp>
        <p:nvSpPr>
          <p:cNvPr id="58" name="Text 41"/>
          <p:cNvSpPr/>
          <p:nvPr/>
        </p:nvSpPr>
        <p:spPr>
          <a:xfrm>
            <a:off x="2880360" y="40507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5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継続的変更取り込み</a:t>
            </a:r>
            <a:endParaRPr lang="en-US" sz="800" dirty="0"/>
          </a:p>
        </p:txBody>
      </p:sp>
      <p:sp>
        <p:nvSpPr>
          <p:cNvPr id="59" name="Shape 42"/>
          <p:cNvSpPr/>
          <p:nvPr/>
        </p:nvSpPr>
        <p:spPr>
          <a:xfrm>
            <a:off x="4114800" y="3154680"/>
            <a:ext cx="1188720" cy="1143000"/>
          </a:xfrm>
          <a:prstGeom prst="roundRect">
            <a:avLst>
              <a:gd name="adj" fmla="val 64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8848" y="3291840"/>
            <a:ext cx="420624" cy="420624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4160520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Log/Event Collection</a:t>
            </a:r>
            <a:endParaRPr lang="en-US" sz="1050" dirty="0"/>
          </a:p>
        </p:txBody>
      </p:sp>
      <p:sp>
        <p:nvSpPr>
          <p:cNvPr id="62" name="Text 44"/>
          <p:cNvSpPr/>
          <p:nvPr/>
        </p:nvSpPr>
        <p:spPr>
          <a:xfrm>
            <a:off x="4160520" y="40507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5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ログ・行動イベント</a:t>
            </a:r>
            <a:endParaRPr lang="en-US" sz="800" dirty="0"/>
          </a:p>
        </p:txBody>
      </p:sp>
      <p:sp>
        <p:nvSpPr>
          <p:cNvPr id="63" name="Shape 45"/>
          <p:cNvSpPr/>
          <p:nvPr/>
        </p:nvSpPr>
        <p:spPr>
          <a:xfrm>
            <a:off x="5349240" y="1920240"/>
            <a:ext cx="1417320" cy="1143000"/>
          </a:xfrm>
          <a:prstGeom prst="roundRect">
            <a:avLst>
              <a:gd name="adj" fmla="val 3200"/>
            </a:avLst>
          </a:prstGeom>
          <a:solidFill>
            <a:srgbClr val="FFF8E1"/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64" name="Text 46"/>
          <p:cNvSpPr/>
          <p:nvPr/>
        </p:nvSpPr>
        <p:spPr>
          <a:xfrm>
            <a:off x="5422392" y="1975104"/>
            <a:ext cx="1271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Batch収集の5大設計ポイント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・Chunking (分割)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・Parallelism (並列化)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・差分抽出 (Incremental)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・一貫性 (Consistency)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・べき等性 (Idempotency)</a:t>
            </a:r>
            <a:endParaRPr lang="en-US" sz="800" dirty="0"/>
          </a:p>
        </p:txBody>
      </p:sp>
      <p:sp>
        <p:nvSpPr>
          <p:cNvPr id="65" name="Shape 47"/>
          <p:cNvSpPr/>
          <p:nvPr/>
        </p:nvSpPr>
        <p:spPr>
          <a:xfrm>
            <a:off x="5349240" y="3154680"/>
            <a:ext cx="1417320" cy="1143000"/>
          </a:xfrm>
          <a:prstGeom prst="roundRect">
            <a:avLst>
              <a:gd name="adj" fmla="val 3200"/>
            </a:avLst>
          </a:prstGeom>
          <a:solidFill>
            <a:srgbClr val="FFF8E1"/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66" name="Text 48"/>
          <p:cNvSpPr/>
          <p:nvPr/>
        </p:nvSpPr>
        <p:spPr>
          <a:xfrm>
            <a:off x="5422392" y="3200400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CDC/Streamingの設計戦略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・Raw Archive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(再処理可能設計)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・Fan-out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(購読履歴へ分岐)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・Transactional Outbox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(DB更新と一致)</a:t>
            </a:r>
            <a:endParaRPr lang="en-US" sz="800" dirty="0"/>
          </a:p>
        </p:txBody>
      </p:sp>
      <p:sp>
        <p:nvSpPr>
          <p:cNvPr id="67" name="Text 49"/>
          <p:cNvSpPr/>
          <p:nvPr/>
        </p:nvSpPr>
        <p:spPr>
          <a:xfrm>
            <a:off x="2651760" y="46360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収集方式ごとの特性と注意点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4837176"/>
          <a:ext cx="4023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691640"/>
                <a:gridCol w="1463040"/>
              </a:tblGrid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方式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向いているケース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注意点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C3E5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Full Load</a:t>
                      </a:r>
                      <a:endParaRPr lang="en-US" sz="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小規模マスタ、全件取得が軽い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件数増加による負荷増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C3E5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Incremental</a:t>
                      </a:r>
                      <a:endParaRPr lang="en-US" sz="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差分取得(updated_at等)が可能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削除データの補捉が困難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C3E5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CDC</a:t>
                      </a:r>
                      <a:endParaRPr lang="en-US" sz="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更新・削除を正確に追いたい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順序・重複処理が複雑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C3E5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Snapshot</a:t>
                      </a:r>
                      <a:endParaRPr lang="en-US" sz="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日次状態を履歴管理したい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ストレージ消費量が増える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C3E5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Event Stream</a:t>
                      </a:r>
                      <a:endParaRPr lang="en-US" sz="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リアルタイムイベント分析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遅延・重複・順序の考慮</a:t>
                      </a:r>
                      <a:endParaRPr lang="en-US" sz="6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9" name="Shape 50"/>
          <p:cNvSpPr/>
          <p:nvPr/>
        </p:nvSpPr>
        <p:spPr>
          <a:xfrm>
            <a:off x="6949440" y="2926080"/>
            <a:ext cx="320040" cy="411480"/>
          </a:xfrm>
          <a:prstGeom prst="rtTriangle">
            <a:avLst/>
          </a:prstGeom>
          <a:solidFill>
            <a:srgbClr val="36454F"/>
          </a:solidFill>
          <a:ln/>
        </p:spPr>
      </p:sp>
      <p:sp>
        <p:nvSpPr>
          <p:cNvPr id="70" name="Text 51"/>
          <p:cNvSpPr/>
          <p:nvPr/>
        </p:nvSpPr>
        <p:spPr>
          <a:xfrm>
            <a:off x="7360920" y="137160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STORAGE/PROCESSING/SERVING LAYER</a:t>
            </a:r>
            <a:endParaRPr lang="en-US" sz="1200" dirty="0"/>
          </a:p>
        </p:txBody>
      </p:sp>
      <p:sp>
        <p:nvSpPr>
          <p:cNvPr id="71" name="Text 52"/>
          <p:cNvSpPr/>
          <p:nvPr/>
        </p:nvSpPr>
        <p:spPr>
          <a:xfrm>
            <a:off x="7360920" y="159105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(アウトプット)</a:t>
            </a:r>
            <a:endParaRPr lang="en-US" sz="900" dirty="0"/>
          </a:p>
        </p:txBody>
      </p:sp>
      <p:sp>
        <p:nvSpPr>
          <p:cNvPr id="72" name="Text 53"/>
          <p:cNvSpPr/>
          <p:nvPr/>
        </p:nvSpPr>
        <p:spPr>
          <a:xfrm>
            <a:off x="7406640" y="18745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950" dirty="0"/>
          </a:p>
        </p:txBody>
      </p:sp>
      <p:sp>
        <p:nvSpPr>
          <p:cNvPr id="73" name="Text 54"/>
          <p:cNvSpPr/>
          <p:nvPr/>
        </p:nvSpPr>
        <p:spPr>
          <a:xfrm>
            <a:off x="7406640" y="2057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(Landing/Bronze)</a:t>
            </a:r>
            <a:endParaRPr lang="en-US" sz="750" dirty="0"/>
          </a:p>
        </p:txBody>
      </p:sp>
      <p:sp>
        <p:nvSpPr>
          <p:cNvPr id="74" name="Shape 55"/>
          <p:cNvSpPr/>
          <p:nvPr/>
        </p:nvSpPr>
        <p:spPr>
          <a:xfrm>
            <a:off x="7406640" y="228600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A47551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59268" y="2487168"/>
            <a:ext cx="512064" cy="512064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7452360" y="30906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Bronze層</a:t>
            </a:r>
            <a:endParaRPr lang="en-US" sz="1100" dirty="0"/>
          </a:p>
        </p:txBody>
      </p:sp>
      <p:sp>
        <p:nvSpPr>
          <p:cNvPr id="77" name="Text 57"/>
          <p:cNvSpPr/>
          <p:nvPr/>
        </p:nvSpPr>
        <p:spPr>
          <a:xfrm>
            <a:off x="7479792" y="3474720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生データ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Iceberg形式採用</a:t>
            </a:r>
            <a:endParaRPr lang="en-US" sz="800" dirty="0"/>
          </a:p>
        </p:txBody>
      </p:sp>
      <p:sp>
        <p:nvSpPr>
          <p:cNvPr id="78" name="Text 58"/>
          <p:cNvSpPr/>
          <p:nvPr/>
        </p:nvSpPr>
        <p:spPr>
          <a:xfrm>
            <a:off x="7360920" y="4160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メタカラム付き、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再処理性確保</a:t>
            </a:r>
            <a:endParaRPr lang="en-US" sz="700" dirty="0"/>
          </a:p>
        </p:txBody>
      </p:sp>
      <p:sp>
        <p:nvSpPr>
          <p:cNvPr id="79" name="Text 59"/>
          <p:cNvSpPr/>
          <p:nvPr/>
        </p:nvSpPr>
        <p:spPr>
          <a:xfrm>
            <a:off x="8915400" y="18745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950" dirty="0"/>
          </a:p>
        </p:txBody>
      </p:sp>
      <p:sp>
        <p:nvSpPr>
          <p:cNvPr id="80" name="Text 60"/>
          <p:cNvSpPr/>
          <p:nvPr/>
        </p:nvSpPr>
        <p:spPr>
          <a:xfrm>
            <a:off x="8915400" y="2057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(Silver/Gold)</a:t>
            </a:r>
            <a:endParaRPr lang="en-US" sz="750" dirty="0"/>
          </a:p>
        </p:txBody>
      </p:sp>
      <p:sp>
        <p:nvSpPr>
          <p:cNvPr id="81" name="Shape 61"/>
          <p:cNvSpPr/>
          <p:nvPr/>
        </p:nvSpPr>
        <p:spPr>
          <a:xfrm>
            <a:off x="891540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9CA3AF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8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88552" y="2404872"/>
            <a:ext cx="329184" cy="329184"/>
          </a:xfrm>
          <a:prstGeom prst="rect">
            <a:avLst/>
          </a:prstGeom>
        </p:spPr>
      </p:pic>
      <p:sp>
        <p:nvSpPr>
          <p:cNvPr id="83" name="Text 62"/>
          <p:cNvSpPr/>
          <p:nvPr/>
        </p:nvSpPr>
        <p:spPr>
          <a:xfrm>
            <a:off x="9354312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Silver層</a:t>
            </a:r>
            <a:endParaRPr lang="en-US" sz="1100" dirty="0"/>
          </a:p>
        </p:txBody>
      </p:sp>
      <p:sp>
        <p:nvSpPr>
          <p:cNvPr id="84" name="Text 63"/>
          <p:cNvSpPr/>
          <p:nvPr/>
        </p:nvSpPr>
        <p:spPr>
          <a:xfrm>
            <a:off x="9006840" y="2743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整形済み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クレンジング・標準化</a:t>
            </a:r>
            <a:endParaRPr lang="en-US" sz="750" dirty="0"/>
          </a:p>
        </p:txBody>
      </p:sp>
      <p:sp>
        <p:nvSpPr>
          <p:cNvPr id="85" name="Shape 64"/>
          <p:cNvSpPr/>
          <p:nvPr/>
        </p:nvSpPr>
        <p:spPr>
          <a:xfrm>
            <a:off x="8915400" y="326440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B8935E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8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88552" y="3383280"/>
            <a:ext cx="329184" cy="329184"/>
          </a:xfrm>
          <a:prstGeom prst="rect">
            <a:avLst/>
          </a:prstGeom>
        </p:spPr>
      </p:pic>
      <p:sp>
        <p:nvSpPr>
          <p:cNvPr id="87" name="Text 65"/>
          <p:cNvSpPr/>
          <p:nvPr/>
        </p:nvSpPr>
        <p:spPr>
          <a:xfrm>
            <a:off x="9354312" y="3355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Gold層</a:t>
            </a:r>
            <a:endParaRPr lang="en-US" sz="1100" dirty="0"/>
          </a:p>
        </p:txBody>
      </p:sp>
      <p:sp>
        <p:nvSpPr>
          <p:cNvPr id="88" name="Text 66"/>
          <p:cNvSpPr/>
          <p:nvPr/>
        </p:nvSpPr>
        <p:spPr>
          <a:xfrm>
            <a:off x="9006840" y="37216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分析最適化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信頼済みデータ</a:t>
            </a:r>
            <a:endParaRPr lang="en-US" sz="750" dirty="0"/>
          </a:p>
        </p:txBody>
      </p:sp>
      <p:sp>
        <p:nvSpPr>
          <p:cNvPr id="89" name="Text 67"/>
          <p:cNvSpPr/>
          <p:nvPr/>
        </p:nvSpPr>
        <p:spPr>
          <a:xfrm>
            <a:off x="10424160" y="18745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/</a:t>
            </a:r>
            <a:endParaRPr lang="en-US" sz="950" dirty="0"/>
          </a:p>
        </p:txBody>
      </p:sp>
      <p:sp>
        <p:nvSpPr>
          <p:cNvPr id="90" name="Text 68"/>
          <p:cNvSpPr/>
          <p:nvPr/>
        </p:nvSpPr>
        <p:spPr>
          <a:xfrm>
            <a:off x="10424160" y="20574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750" dirty="0"/>
          </a:p>
        </p:txBody>
      </p:sp>
      <p:sp>
        <p:nvSpPr>
          <p:cNvPr id="91" name="Shape 69"/>
          <p:cNvSpPr/>
          <p:nvPr/>
        </p:nvSpPr>
        <p:spPr>
          <a:xfrm>
            <a:off x="10424160" y="228600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445566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pic>
        <p:nvPicPr>
          <p:cNvPr id="9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76788" y="2487168"/>
            <a:ext cx="512064" cy="512064"/>
          </a:xfrm>
          <a:prstGeom prst="rect">
            <a:avLst/>
          </a:prstGeom>
        </p:spPr>
      </p:pic>
      <p:sp>
        <p:nvSpPr>
          <p:cNvPr id="93" name="Text 70"/>
          <p:cNvSpPr/>
          <p:nvPr/>
        </p:nvSpPr>
        <p:spPr>
          <a:xfrm>
            <a:off x="10469880" y="30906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</p:txBody>
      </p:sp>
      <p:sp>
        <p:nvSpPr>
          <p:cNvPr id="94" name="Text 71"/>
          <p:cNvSpPr/>
          <p:nvPr/>
        </p:nvSpPr>
        <p:spPr>
          <a:xfrm>
            <a:off x="10497312" y="3474720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BIツール、アプリ利用、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ビジネス価値提供</a:t>
            </a:r>
            <a:endParaRPr lang="en-US" sz="800" dirty="0"/>
          </a:p>
        </p:txBody>
      </p:sp>
      <p:sp>
        <p:nvSpPr>
          <p:cNvPr id="95" name="Shape 72"/>
          <p:cNvSpPr/>
          <p:nvPr/>
        </p:nvSpPr>
        <p:spPr>
          <a:xfrm>
            <a:off x="7406640" y="4636008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FFF8E1"/>
          </a:solidFill>
          <a:ln w="9525">
            <a:solidFill>
              <a:srgbClr val="D4A574"/>
            </a:solidFill>
            <a:prstDash val="solid"/>
          </a:ln>
        </p:spPr>
      </p:sp>
      <p:sp>
        <p:nvSpPr>
          <p:cNvPr id="96" name="Text 73"/>
          <p:cNvSpPr/>
          <p:nvPr/>
        </p:nvSpPr>
        <p:spPr>
          <a:xfrm>
            <a:off x="7479792" y="4681728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スキーマ管理とデータ契約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・Schema Driftを前提とし、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ソース間のデータ契約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(Data Contract)を整備</a:t>
            </a:r>
            <a:endParaRPr lang="en-US" sz="850" dirty="0"/>
          </a:p>
        </p:txBody>
      </p:sp>
      <p:sp>
        <p:nvSpPr>
          <p:cNvPr id="97" name="Shape 74"/>
          <p:cNvSpPr/>
          <p:nvPr/>
        </p:nvSpPr>
        <p:spPr>
          <a:xfrm>
            <a:off x="9829800" y="4910328"/>
            <a:ext cx="182880" cy="274320"/>
          </a:xfrm>
          <a:prstGeom prst="rtTriangle">
            <a:avLst/>
          </a:prstGeom>
          <a:solidFill>
            <a:srgbClr val="36454F"/>
          </a:solidFill>
          <a:ln/>
        </p:spPr>
      </p:sp>
      <p:sp>
        <p:nvSpPr>
          <p:cNvPr id="98" name="Shape 75"/>
          <p:cNvSpPr/>
          <p:nvPr/>
        </p:nvSpPr>
        <p:spPr>
          <a:xfrm>
            <a:off x="10058400" y="4636008"/>
            <a:ext cx="914400" cy="868680"/>
          </a:xfrm>
          <a:prstGeom prst="roundRect">
            <a:avLst>
              <a:gd name="adj" fmla="val 6316"/>
            </a:avLst>
          </a:prstGeom>
          <a:solidFill>
            <a:srgbClr val="8B5E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pic>
        <p:nvPicPr>
          <p:cNvPr id="9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33304" y="4709160"/>
            <a:ext cx="201168" cy="201168"/>
          </a:xfrm>
          <a:prstGeom prst="rect">
            <a:avLst/>
          </a:prstGeom>
        </p:spPr>
      </p:pic>
      <p:sp>
        <p:nvSpPr>
          <p:cNvPr id="100" name="Text 76"/>
          <p:cNvSpPr/>
          <p:nvPr/>
        </p:nvSpPr>
        <p:spPr>
          <a:xfrm>
            <a:off x="10058400" y="49560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(DLQ)</a:t>
            </a:r>
            <a:endParaRPr lang="en-US" sz="800" dirty="0"/>
          </a:p>
        </p:txBody>
      </p:sp>
      <p:sp>
        <p:nvSpPr>
          <p:cNvPr id="101" name="Text 77"/>
          <p:cNvSpPr/>
          <p:nvPr/>
        </p:nvSpPr>
        <p:spPr>
          <a:xfrm>
            <a:off x="11018520" y="468172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処理失敗データや不正レコードを隔離、パイプラインを止めない</a:t>
            </a:r>
            <a:endParaRPr lang="en-US" sz="650" dirty="0"/>
          </a:p>
        </p:txBody>
      </p:sp>
      <p:sp>
        <p:nvSpPr>
          <p:cNvPr id="102" name="Shape 78"/>
          <p:cNvSpPr/>
          <p:nvPr/>
        </p:nvSpPr>
        <p:spPr>
          <a:xfrm>
            <a:off x="274320" y="5897880"/>
            <a:ext cx="11612880" cy="777240"/>
          </a:xfrm>
          <a:prstGeom prst="rect">
            <a:avLst/>
          </a:prstGeom>
          <a:solidFill>
            <a:srgbClr val="E8ECEF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03" name="Text 79"/>
          <p:cNvSpPr/>
          <p:nvPr/>
        </p:nvSpPr>
        <p:spPr>
          <a:xfrm>
            <a:off x="365760" y="6464808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GOVERNANCE (横断的ガバナンス機能)</a:t>
            </a:r>
            <a:endParaRPr lang="en-US" sz="900" dirty="0"/>
          </a:p>
        </p:txBody>
      </p:sp>
      <p:sp>
        <p:nvSpPr>
          <p:cNvPr id="104" name="Shape 80"/>
          <p:cNvSpPr/>
          <p:nvPr/>
        </p:nvSpPr>
        <p:spPr>
          <a:xfrm>
            <a:off x="1554480" y="6035040"/>
            <a:ext cx="182880" cy="18288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0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91056" y="6071616"/>
            <a:ext cx="109728" cy="109728"/>
          </a:xfrm>
          <a:prstGeom prst="rect">
            <a:avLst/>
          </a:prstGeom>
        </p:spPr>
      </p:pic>
      <p:sp>
        <p:nvSpPr>
          <p:cNvPr id="106" name="Text 81"/>
          <p:cNvSpPr/>
          <p:nvPr/>
        </p:nvSpPr>
        <p:spPr>
          <a:xfrm>
            <a:off x="1783080" y="60167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107" name="Text 82"/>
          <p:cNvSpPr/>
          <p:nvPr/>
        </p:nvSpPr>
        <p:spPr>
          <a:xfrm>
            <a:off x="1783080" y="614476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(パイプライン全体管理)</a:t>
            </a:r>
            <a:endParaRPr lang="en-US" sz="700" dirty="0"/>
          </a:p>
        </p:txBody>
      </p:sp>
      <p:sp>
        <p:nvSpPr>
          <p:cNvPr id="108" name="Shape 83"/>
          <p:cNvSpPr/>
          <p:nvPr/>
        </p:nvSpPr>
        <p:spPr>
          <a:xfrm>
            <a:off x="4160520" y="6035040"/>
            <a:ext cx="182880" cy="18288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0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97096" y="6071616"/>
            <a:ext cx="109728" cy="109728"/>
          </a:xfrm>
          <a:prstGeom prst="rect">
            <a:avLst/>
          </a:prstGeom>
        </p:spPr>
      </p:pic>
      <p:sp>
        <p:nvSpPr>
          <p:cNvPr id="110" name="Text 84"/>
          <p:cNvSpPr/>
          <p:nvPr/>
        </p:nvSpPr>
        <p:spPr>
          <a:xfrm>
            <a:off x="4389120" y="60167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111" name="Text 85"/>
          <p:cNvSpPr/>
          <p:nvPr/>
        </p:nvSpPr>
        <p:spPr>
          <a:xfrm>
            <a:off x="4389120" y="614476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(データの健全性監視)</a:t>
            </a:r>
            <a:endParaRPr lang="en-US" sz="700" dirty="0"/>
          </a:p>
        </p:txBody>
      </p:sp>
      <p:sp>
        <p:nvSpPr>
          <p:cNvPr id="112" name="Shape 86"/>
          <p:cNvSpPr/>
          <p:nvPr/>
        </p:nvSpPr>
        <p:spPr>
          <a:xfrm>
            <a:off x="6766560" y="6035040"/>
            <a:ext cx="182880" cy="18288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1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03136" y="6071616"/>
            <a:ext cx="109728" cy="109728"/>
          </a:xfrm>
          <a:prstGeom prst="rect">
            <a:avLst/>
          </a:prstGeom>
        </p:spPr>
      </p:pic>
      <p:sp>
        <p:nvSpPr>
          <p:cNvPr id="114" name="Text 87"/>
          <p:cNvSpPr/>
          <p:nvPr/>
        </p:nvSpPr>
        <p:spPr>
          <a:xfrm>
            <a:off x="6995160" y="60167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115" name="Text 88"/>
          <p:cNvSpPr/>
          <p:nvPr/>
        </p:nvSpPr>
        <p:spPr>
          <a:xfrm>
            <a:off x="6995160" y="614476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(権限管理)</a:t>
            </a:r>
            <a:endParaRPr lang="en-US" sz="700" dirty="0"/>
          </a:p>
        </p:txBody>
      </p:sp>
      <p:sp>
        <p:nvSpPr>
          <p:cNvPr id="116" name="Shape 89"/>
          <p:cNvSpPr/>
          <p:nvPr/>
        </p:nvSpPr>
        <p:spPr>
          <a:xfrm>
            <a:off x="9372600" y="6035040"/>
            <a:ext cx="182880" cy="18288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1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09176" y="6071616"/>
            <a:ext cx="109728" cy="109728"/>
          </a:xfrm>
          <a:prstGeom prst="rect">
            <a:avLst/>
          </a:prstGeom>
        </p:spPr>
      </p:pic>
      <p:sp>
        <p:nvSpPr>
          <p:cNvPr id="118" name="Text 90"/>
          <p:cNvSpPr/>
          <p:nvPr/>
        </p:nvSpPr>
        <p:spPr>
          <a:xfrm>
            <a:off x="9601200" y="60167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METADATA/LINEAGE</a:t>
            </a:r>
            <a:endParaRPr lang="en-US" sz="850" dirty="0"/>
          </a:p>
        </p:txBody>
      </p:sp>
      <p:sp>
        <p:nvSpPr>
          <p:cNvPr id="119" name="Text 91"/>
          <p:cNvSpPr/>
          <p:nvPr/>
        </p:nvSpPr>
        <p:spPr>
          <a:xfrm>
            <a:off x="9601200" y="614476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(データの出所追跡)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モダンレイクハウス - コレクティングレイヤー</dc:title>
  <dc:subject>PptxGenJS Presentation</dc:subject>
  <dc:creator>PptxGenJS</dc:creator>
  <cp:lastModifiedBy>PptxGenJS</cp:lastModifiedBy>
  <cp:revision>1</cp:revision>
  <dcterms:created xsi:type="dcterms:W3CDTF">2026-05-13T02:29:29Z</dcterms:created>
  <dcterms:modified xsi:type="dcterms:W3CDTF">2026-05-13T02:29:29Z</dcterms:modified>
</cp:coreProperties>
</file>