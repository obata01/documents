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DESIGN DOCUMENT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アクセスレイヤー設計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Layer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36576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20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ストレージレイヤーおよびプロセシングレイヤーで整備されたデータを、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ユーザー・アプリケーション・外部システムに対し、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安全・高速・一貫した定義で届けるための「データの出口」を設計する。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12801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12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5212080"/>
            <a:ext cx="1280160" cy="329184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5212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5212080"/>
            <a:ext cx="1280160" cy="329184"/>
          </a:xfrm>
          <a:prstGeom prst="rect">
            <a:avLst/>
          </a:prstGeom>
          <a:solidFill>
            <a:srgbClr val="FEF9C3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5212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5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 は Gold を主軸、Silver を補助的に公開する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 Design v1.0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      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Analytics / Application Teams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アクセスレイヤーの位置づけと役割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アクセスレイヤーとは何か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and Role of the Access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5760720" cy="48463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 / Definition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アクセスレイヤーは、ストレージレイヤーおよびプロセシングレイヤーで整備された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信頼済みデータを、利用者(人・アプリケーション・外部システム)に対して、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安全・正確・迅速かつ一貫した定義で提供する「データの出口」である。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440680" cy="141732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重要な前提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アクセスレイヤー単体で Single Source of Truth (SSoT) が成立するわけではない。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の土台は Storage / Processing レイヤーにあり、アクセスレイヤーは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それを利用者向けに一貫した形で公開する責務を担う。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本レイヤーが担わないこと(参考)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257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Bronze データの取り込みおよび品質確保 (Ingestion / Storage の責務)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ビジネスロジックを伴う加工処理そのもの (Processing の責務)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データの永続化、スキーマ進化、テーブル管理 (Storage / Catalog の責務)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566928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5つの役割 / Five Responsibilities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2103120"/>
            <a:ext cx="41148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2084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クエリ提供 / Query Access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350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ストレージ上のテーブルに対する読み取り入口を提供する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2944368"/>
            <a:ext cx="41148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意味の共通化 / Semantic Translation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3191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指標・次元・集計ロジック・フィルタ条件を全社で共通化する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3785616"/>
            <a:ext cx="41148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785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3767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多様な出口の提供 / Consumption Delivery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4032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BI・Notebook・API・外部システムへ用途に応じて届ける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4626864"/>
            <a:ext cx="41148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626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9440" y="4608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基盤負荷の吸収 / Workload Protection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48737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重いクエリや高頻度アクセスから基盤の安定性を守る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5468112"/>
            <a:ext cx="41148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468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54498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ガバナンスの適用 / Governance Enforcement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49440" y="5715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権限・監査・可視性・利用ルールを横断的に適用する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アクセスレイヤー全体構成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全体アーキテクチャ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Layered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8412480" cy="5029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37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Interfaces / 利用インターフェース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029968"/>
            <a:ext cx="18516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075688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Dashboard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2368296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/ Tableau / Superset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83180" y="2029968"/>
            <a:ext cx="18516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8900" y="2075688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8900" y="2368296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SQL IDE / Hex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2029968"/>
            <a:ext cx="18516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075688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App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2368296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/ Metrics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69380" y="2029968"/>
            <a:ext cx="18516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5100" y="2075688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ETL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5100" y="2368296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Hightouch / Census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2834640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" y="3090672"/>
            <a:ext cx="7680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Metric Layer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33467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/ Semantic Models — Measures, Dimensions, KPI Definitions, Published Logical Models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3776472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" y="4032504"/>
            <a:ext cx="768096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31520" y="4069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/ Materialized Datasets  —  Aggregated Tables · Materialized Views · Semantic Cache · Pre-aggregation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4672584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" y="4928616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956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 Federation Engine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1520" y="517550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 / Athena — Interactive SQL, Federation, Pushdown, Workload Isolation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5431536"/>
            <a:ext cx="0" cy="164592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0080" y="5632704"/>
            <a:ext cx="7680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687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Source — Iceberg Tables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1520" y="59253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を主公開・Silver を補助公開とする(Bronze は原則アクセスレイヤーから参照させない)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51660" y="6163056"/>
            <a:ext cx="8686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1660" y="61630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66060" y="6163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 非公開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46220" y="6163056"/>
            <a:ext cx="8686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46220" y="61630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60620" y="6163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 公開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40780" y="6163056"/>
            <a:ext cx="86868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0780" y="61630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55180" y="6163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 公開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869680" y="1463040"/>
            <a:ext cx="30175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06840" y="164592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71432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/ 横断機能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052560" y="2103120"/>
            <a:ext cx="2651760" cy="10058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Governance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144000" y="2395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 / IAM / LF-Tag / Row &amp; Column Security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14400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クエリエンジン手前で実効制御を担保する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052560" y="3246120"/>
            <a:ext cx="2651760" cy="10058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/ 監視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144000" y="35387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Latency / API Latency / Cache Hit / Usage / Delivery Status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52560" y="4389120"/>
            <a:ext cx="2651760" cy="10058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Isolation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144000" y="46817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Notebook / API / Admin の各ワークロードを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や Workgroup で分離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052560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Data flows up to consumers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(1/2)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クエリ実行と意味の翻訳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コンポーネント詳細 — Query / Semantic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Engine and Semantic / Metric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57607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 Federation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ストレージ上のテーブルに対してSQLを実行し、結果を返す。必要に応じて複数データソースを論理統合する。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主な機能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5440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SQLクエリ実行 / Iceberg テーブル読み取り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Federation(複数ソース横断参照)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/ Projection Pushdown による I/O 削減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/ Aggregation / Window 関数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分離(Resource Group / Workgroup)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キャッシュ / 高速化レイヤーとの接続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代表ツールと使い分け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83480"/>
          <a:ext cx="5440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514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ツール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想定ワークロード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備考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Trino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対話型SQL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低レイテンシ、フェデレーション強い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Starburst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対話型SQL(マネージド)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Trino ベース、運用負荷軽減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Athena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サーバレスSQL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アドホック / 低頻度向き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17920" y="1508760"/>
            <a:ext cx="566928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65392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Metric Layer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21031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2359152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ユーザーが複雑なSQLを書かずに、共通の業務指標・次元・フィルタ定義を利用できるようにする。データの「意味」と「使い方」を標準化する層。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0" y="31546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主な機能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3410712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Measures(指標)/ Dimensions(次元)/ Segments の定義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 KPI 定義 / 集計粒度の統一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公開論理モデル(Published Logical Models)の提供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/ REST / SQL での API 化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Pre-aggregation の制御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0" y="4892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公開論理モデルの例(Published Logical Models)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5166360"/>
            <a:ext cx="260604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0" y="5166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Base View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098280" y="5166360"/>
            <a:ext cx="260604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98280" y="5166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View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400800" y="5669280"/>
            <a:ext cx="260604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5669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View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098280" y="5669280"/>
            <a:ext cx="260604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98280" y="5669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KPI-ready Dataset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400800" y="61996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Zero SQL は SQL を完全排除する意味ではなく、「一般利用者が SQL を書かずに共通指標を利用できる」設計思想を指す。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(2/2)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利用インターフェース / 4つの出口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コンポーネント詳細 — Consumption Interfaces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Delivery Channels to End-Users and Systems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08760"/>
            <a:ext cx="109728" cy="242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012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Dashboard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150876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· Low 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1965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業務利用者向け・GUI 中心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231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業務ユーザーが指標を参照・可視化するための主たる出口。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の指標定義を継承して、組織内で同じ数字が見える状態を作る。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代表ツール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Metabase / Tableau / Superset / Power BI / Looker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50876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508760"/>
            <a:ext cx="109728" cy="242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0372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Analyst Access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241280" y="1691640"/>
            <a:ext cx="150876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· Ad hoc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1965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アナリスト・データサイエンティスト向け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2331720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4231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柔軟な探索分析・モデル開発のための出口。Silver テーブルも参照可。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セルフサービスモデルのエンドユーザーに含まれ、SQL/Python の自由度が高い。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32918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代表ツール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/ Databricks Notebook / Hex / SQL IDE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11480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114800"/>
            <a:ext cx="109728" cy="242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6012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App Access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97680" y="4297680"/>
            <a:ext cx="150876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4297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 · On-demand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" y="4572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アプリケーション・社内システム向け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937760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0292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アプリ画面に最新 KPI を表示するなど、必要時に取得する Pull 型。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は公開入口であり、Headless BI そのものではない点に注意。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5897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代表ツール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126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 / REST / GraphQL / Metrics API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411480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4114800"/>
            <a:ext cx="109728" cy="242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90372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ETL / Delivery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241280" y="4297680"/>
            <a:ext cx="150876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0" y="4297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Push-based · Write-back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03720" y="4572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業務システム・SaaS 向け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92240" y="4937760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50292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分析結果(スコア・セグメント・フラグ等)を CRM / MA / SFA / オペ DB へ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書き戻し、業務アクションへ繋げる Push 型の出口。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92240" y="5897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代表ツール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6126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Hightouch / Census / RudderStack / 自前 Connector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型と Pull 型の使い分け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ETL と API 連携の使い分け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Push-based Delivery vs Pull-based Access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57607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08760"/>
            <a:ext cx="164592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ETL / Delivery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基盤側が定期的(バッチ)に業務システムへ書き戻す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事前計算済みの結果を届けるので、業務側に計算負荷がかからない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業務アクションの自動化や、SaaS のセグメント反映に向く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向く用途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スコアを CRM へ付与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離反確率を MA ツールへ連携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ターゲットセグメントを広告配信ツールへ連携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推奨フラグをオペレーション DB(MongoDB/DynamoDB)へ書き戻す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5669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508760"/>
            <a:ext cx="16459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Headless BI / Metrics 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0574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アプリケーション側が必要時に問い合わせる(オンデマンド)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最新の指標や集計値を返す。鮮度を要求する利用に向く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リアルタイム性が必要なユーザー画面・社内システム向き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6118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向く用途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8620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アプリ画面に最新 KPI を表示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社内システムから集計値を参照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利用者ごとの統計情報をオンデマンドで表示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外部パートナー向けにメトリクスを API 公開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897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使い分け指針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94560" y="5897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事前に重い計算を済ませた結果を業務側に持たせたい  </a:t>
            </a:r>
            <a:pPr algn="l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Reverse ETL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/    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必要なタイミングで最新値を問い合わせたい  </a:t>
            </a:r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連携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負荷分散・性能最適化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性能最適化と Materialized Datasets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Workload Protection through Pre-aggregation and Caching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5760720" cy="22860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08760"/>
            <a:ext cx="1645920" cy="3657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アンチパターン: 毎回フルスキャン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011680"/>
            <a:ext cx="53035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App からの問い合わせ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331720"/>
            <a:ext cx="0" cy="64008"/>
          </a:xfrm>
          <a:prstGeom prst="line">
            <a:avLst/>
          </a:prstGeom>
          <a:noFill/>
          <a:ln w="1270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" y="2395728"/>
            <a:ext cx="53035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95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巨大な Raw / Detailed Table へ毎回フルスキャン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2715768"/>
            <a:ext cx="0" cy="64008"/>
          </a:xfrm>
          <a:prstGeom prst="line">
            <a:avLst/>
          </a:prstGeom>
          <a:noFill/>
          <a:ln w="1270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2779776"/>
            <a:ext cx="53035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797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が過負荷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3099816"/>
            <a:ext cx="0" cy="64008"/>
          </a:xfrm>
          <a:prstGeom prst="line">
            <a:avLst/>
          </a:prstGeom>
          <a:noFill/>
          <a:ln w="1270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" y="3163824"/>
            <a:ext cx="53035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638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高レイテンシ / タイムアウト / 全体性能悪化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508760"/>
            <a:ext cx="5669280" cy="22860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508760"/>
            <a:ext cx="164592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552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推奨パターン: 3段階で負荷分散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2011680"/>
            <a:ext cx="5303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02996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Gold 化 / 集計済みテーブル化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224028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で頻出集計と共通マートを物理化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2560320"/>
            <a:ext cx="5303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57860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Semantic Layer で Pre-agg / Cache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27889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メトリクス用途別の事前集計とキャッシュ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3108960"/>
            <a:ext cx="5303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12724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Query Engine で Pushdown / 並列処理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2240" y="333756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 と Resource Group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977640"/>
            <a:ext cx="68580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142232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1422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/ Materialized Datasets の整理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5262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「Materialized View」は概念としては正しいが、実装形態は1つではない。図および設計では以下を包含する形で扱う。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5074920"/>
            <a:ext cx="315468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51114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Engine の Materialized 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5330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クエリ結果を物理化した View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749040" y="5074920"/>
            <a:ext cx="315468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51114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上の集計済みテーブル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840480" y="5330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で生成された Gold/Aggregated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5715000"/>
            <a:ext cx="315468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57515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の Pre-aggregation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5971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などのメトリクス事前集計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749040" y="5715000"/>
            <a:ext cx="315468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0" y="57515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向けキャッシュテーブル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40480" y="5971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用の結果キャッシュ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15200" y="3977640"/>
            <a:ext cx="45720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98080" y="4142232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62672" y="41422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Isolation / ワークロード分離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98080" y="4526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分離対象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498080" y="478231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Queries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Ad hoc Queries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Admin / Backfill Queries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98080" y="5806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実装手段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498080" y="6053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Trino Resource Groups / Athena Workgroups / Dedicated Clusters / Separate Queues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アクセス制御と監視・運用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ガバナンス・アクセス制御・監視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Control, Governance, and Observability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68580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6916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/ アクセス制御の多層防御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 はアクセスレイヤーそのものではなく、Storage / Query / Access をまたぐ横断的な制御機能。ただし図上では Query Engine の手前(または横)に「関所」として配置すると理解しやすい。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011680" cy="5943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下位層(実効制御)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971800"/>
            <a:ext cx="443484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9992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Lake Formation / IAM / LF-Tag / Row &amp; Column Security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2644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本当に効くデータアクセス制御はここで担保する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2011680" cy="5943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850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685032"/>
            <a:ext cx="443484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7124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Trino / Athena のクエリ単位 / カラム単位フィルタ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9776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アクセス制御の実行点として機能する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98264"/>
            <a:ext cx="201168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9826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4398264"/>
            <a:ext cx="443484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442569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モデル単位の公開制御 / 利用者グループ制御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46908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業務観点の見せ方を制御(補助的)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111496"/>
            <a:ext cx="201168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1114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上位層(補助)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5111496"/>
            <a:ext cx="443484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51389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 ダッシュボード権限 / API トークン管理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51760" y="540410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アプリケーション層での仕上げの制御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59436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基本原則: 実効制御はできるだけ下位層で担保し、上位層は補助的に運用する。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15200" y="1508760"/>
            <a:ext cx="45720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1691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/ 監視項目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2103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98080" y="2359152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クエリ応答時間 / API レイテンシ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同時接続数 / エラー率 / タイムアウト率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キャッシュヒット率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Pre-aggregation refresh の状況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利用状況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98080" y="409651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利用頻度 / アクティブユーザー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呼び出し回数 / 失敗率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クエリトップN(高頻度・高負荷)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98080" y="5212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98080" y="54681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ETL の成功 / 失敗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書き戻し件数 / 遅延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設計図の構成要素と最終まとめ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Access Layer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601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最終まとめ — 設計図の構成要素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1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Summary: Building Blocks of the Access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57607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7つの構成要素 / Seven Building Blocks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1488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Source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3774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Silver / Gold / Aggregated Tables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15768"/>
            <a:ext cx="457200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71576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94436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 / IAM / LF-Tag / Row &amp; Column Security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82696"/>
            <a:ext cx="457200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28269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51129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 / Athena / Federation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9624"/>
            <a:ext cx="457200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84962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07822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/ Semantic Models / KPI Definitions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457200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4416552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645152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Pre-aggregation / Materialized Dataset / Cache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1560" y="498348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Interfaces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521208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· Notebook · API/App · Reverse ETL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550408"/>
            <a:ext cx="457200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51560" y="555040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577900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/ Workload Isolation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1508760"/>
            <a:ext cx="5669280" cy="48463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1691640"/>
            <a:ext cx="109728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設計哲学 / Design Principles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0" y="2212848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01968" y="2148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一貫した意味で届ける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01968" y="24048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で指標・次元を共通定義し、誰が見ても同じ数字になる状態を作る。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0" y="3054096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29900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安全に届ける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601968" y="3246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実効制御を下位層で担保し、上位層は補助的に運用する多層防御を取る。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0" y="3895344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01968" y="38313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高速に届ける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01968" y="4087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Pre-aggregation・Materialized Dataset・Cache を組み合わせ、基盤負荷を吸収する。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0" y="4736592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01968" y="46725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多様な出口で届ける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601968" y="4928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BI・Notebook・API・Reverse ETL の4系統で、人と機械の両方に応える。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00800" y="5577840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01968" y="5513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使われ続ける状態を作る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01968" y="57698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とワークロード分離で、安定して使われる基盤を維持する。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アクセスレイヤー設計書</dc:title>
  <dc:subject>PptxGenJS Presentation</dc:subject>
  <dc:creator>Data Platform Team</dc:creator>
  <cp:lastModifiedBy>Data Platform Team</cp:lastModifiedBy>
  <cp:revision>1</cp:revision>
  <dcterms:created xsi:type="dcterms:W3CDTF">2026-05-13T03:16:36Z</dcterms:created>
  <dcterms:modified xsi:type="dcterms:W3CDTF">2026-05-13T03:16:36Z</dcterms:modified>
</cp:coreProperties>
</file>