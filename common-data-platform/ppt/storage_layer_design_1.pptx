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0" autoAdjust="0"/>
    <p:restoredTop sz="94610"/>
  </p:normalViewPr>
  <p:slideViewPr>
    <p:cSldViewPr snapToGrid="0" snapToObjects="1">
      <p:cViewPr>
        <p:scale>
          <a:sx n="126" d="100"/>
          <a:sy n="126" d="100"/>
        </p:scale>
        <p:origin x="1356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61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/ DESIGN DOCUMENT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アーキテクチャ設計書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Layer Architecture for Lakehouse Data Integration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 × Apache Iceberg × Glue Data Catalog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Medallion Architecture (Landing / Bronze / Silver / Gold)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Governance, Cost Optimization, Table Maintenance を統合設計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982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DOCUMENT INFO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9828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1268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9828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126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2026-05-13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9828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126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Team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1268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1268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Lakehouse on AWS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Status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126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Draft for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/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EA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Lakehouse on AWS — Iceberg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 / Agenda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全体思想と設計スタンス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6367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ストレージレイヤーの位置づけ・3つの基本サブレイヤー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5760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アーキテクチャ全体図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2037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下から上へ積み上がる6層の構成と横断機能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51176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551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32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物理ストレージ (Amazon S3)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70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保存対象・バケット設計・外部ストアの扱い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118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099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ファイル形式と圧縮方式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/ ORC / Avro / JSON の使い分け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666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904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オープンテーブルフォーマットと状態管理機構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251960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233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/ Metastore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471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vs Governance カタログの分離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18888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65760" y="4818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800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Medallion レイヤー設計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5038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 / Bronze / Silver / Gold / Quarantine / Audit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1417320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3093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Immutable Data と Snapshot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16367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の状態切替と監査性・再現性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1984248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309360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パーティション設計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22037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Hidden Partitioning・粒度・small files 対策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2551176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309360" y="2551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49440" y="2532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テーブルメンテナンス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49440" y="2770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 / Expire Snapshots / Orphan Cleanup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3118104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309360" y="3118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49440" y="3099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コスト最適化・階層化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49440" y="33375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Storage Class と Lifecycle Policy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3685032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30936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49440" y="3666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セキュリティ・ガバナンス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49440" y="3904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暗号化・アクセス制御・ABAC・WORM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9360" y="4251960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30936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949440" y="4233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周辺レイヤーとの接続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949440" y="4471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 / 読み取り経路の整理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09360" y="4818888"/>
            <a:ext cx="548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6309360" y="4818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49440" y="4800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設計サマリと検討事項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949440" y="5038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実装チェックリストと運用論点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全体思想 — ストレージレイヤーの位置づけと設計スタンス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143000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ストレージレイヤーは「データを置く場所」ではなく、レイクハウス基盤の中核である。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大量データを安全に保持しつつ、コストを最適化し、クエリエンジン / プロセシングレイヤーから高速に読み書きできることを満たす。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【設計原則】実データ・フォーマット・メタデータの3層を分離する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65760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73152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Physical Storage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物理ストレージ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370332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実データファイルを保存。安価でスケーラブルなオブジェクトストレージを採用。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526280"/>
            <a:ext cx="32004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943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983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・Landing / Bronze / Silver / Gold / Quarantine / Audit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・SSE-KMS・Bucket Policy・Versioning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・NoSQL / DWH は外部ストアとして別枠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788920"/>
            <a:ext cx="3657600" cy="36576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251960" y="2788920"/>
            <a:ext cx="73152" cy="3657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4805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File / Table Format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ファイル形式・テーブル形式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480560" y="3703320"/>
            <a:ext cx="5486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4805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上のデータを効率よく読み書きし、テーブルとして扱う層。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4526280"/>
            <a:ext cx="3200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4805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× Iceberg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4983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・Parquet (列指向) + Snappy / ZSTD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・Apache Iceberg : ACID / Snapshot / Time Travel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・Schema / Partition Evolution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2788920"/>
            <a:ext cx="3657600" cy="3657600"/>
          </a:xfrm>
          <a:prstGeom prst="rect">
            <a:avLst/>
          </a:prstGeom>
          <a:solidFill>
            <a:srgbClr val="CFFAFE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138160" y="2788920"/>
            <a:ext cx="73152" cy="3657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3667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Catalog / Governance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メタストア・ガバナンス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366760" y="3703320"/>
            <a:ext cx="54864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3667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テーブル名・スキーマ・保存場所・アクセス権限を管理。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66760" y="4526280"/>
            <a:ext cx="320040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83667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+ Lake Formation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66760" y="4983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・Glue Data Catalog / REST Catalog / HMS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・Lake Formation (Table / Column / Row 権限)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・DataHub / OpenMetadata (Governance)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アーキテクチャ全体図 — 6層構造と横断機能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772400" cy="548640"/>
          </a:xfrm>
          <a:prstGeom prst="rect">
            <a:avLst/>
          </a:prstGeom>
          <a:solidFill>
            <a:srgbClr val="CFFAFE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4630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 Catalog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 / OpenMetadata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777240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05740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 Control / Governance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28600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 Formation / IAM / KMS Policy / LF-Tag ABAC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777240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4864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65176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Catalog / Metastore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88036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Data Catalog / Iceberg REST Catalog / HMS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7772400" cy="5486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24612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Table Format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47472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(ACID / Snapshot / Time Travel / MERGE)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777240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657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84048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06908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/ ORC / Avro / JSON  +  Snappy / ZSTD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777240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548640" cy="13258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65760" y="438912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4348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Storage — Amazon S3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46634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  /  Bronze  /  Silver  /  Gold  /  Quarantine  /  Audit Archive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51560" y="4983480"/>
            <a:ext cx="112014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105156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17420" y="4983480"/>
            <a:ext cx="112014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21742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3280" y="4983480"/>
            <a:ext cx="112014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338328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49140" y="4983480"/>
            <a:ext cx="1120140" cy="5943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54914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Gold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15000" y="4983480"/>
            <a:ext cx="112014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71500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Quarantine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80860" y="4983480"/>
            <a:ext cx="11201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88086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5806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下層 (Physical) から 上層 (Governance) へ積み上がるレイクハウス構造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21040" y="1417320"/>
            <a:ext cx="365760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8321040" y="1417320"/>
            <a:ext cx="3657600" cy="3657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321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CROSS-CUTTING CONCERNS / 横断機能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58200" y="1874520"/>
            <a:ext cx="10972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864108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41080" y="21122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 / KMS / Lake Formation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Bucket Policy / CloudTrail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458200" y="2651760"/>
            <a:ext cx="10972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8641080" y="2651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Cost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641080" y="28895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Lifecycle / Intelligent-Tiering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Retention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458200" y="3429000"/>
            <a:ext cx="10972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864108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641080" y="36667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 / Expire Snapshots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Orphan File Cleanup / Manifest Rewrite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458200" y="420624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8641080" y="4206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641080" y="44439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Catalog (Operational)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 / OpenMetadata (Governance)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458200" y="4983480"/>
            <a:ext cx="109728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8641080" y="4983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641080" y="5221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Versioning / Object Lock (WORM)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/ Time Travel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321040" y="589788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8458200" y="5943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External / Specialized Stores</a:t>
            </a:r>
            <a:endParaRPr lang="en-US" sz="9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MongoDB / DynamoDB / Redshift / Snowflake / OpenSearch (図上は別枠)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物理ストレージ — Amazon S3 を中核とした保存層設計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1430000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 ▶ </a:t>
            </a: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実データファイルを永続的に保存する層。安価・高耐久・スケーラブルなオブジェクトストレージを中核とし、複数の論理領域に分割して配置する。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【主な保存対象】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外部からのファイル原本 (CSV / JSON / Excel等)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54680" y="251460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154680" y="251460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319272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 Changelog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RDBMSなどからのCDC差分・イベントログ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30352" y="3035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Event Logs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227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/ App / IoT等のストリーミングイベント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301752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154680" y="301752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319272" y="3035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Data Files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3227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 / Gold で利用する分析最適化ファイル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30352" y="3538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Metadata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3730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metadata.json / manifest list / manifest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54680" y="352044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3154680" y="352044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319272" y="3538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Data / Delete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9272" y="3730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Iceberg管理下のデータ・削除ファイル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02336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02336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30352" y="4041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Quarantine Data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4233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品質チェックで隔離された不正レコード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54680" y="402336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3154680" y="402336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3319272" y="4041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19272" y="4233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監査・コンプライアンス用の証跡データ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636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【バケット・パス設計例】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63640" y="2514600"/>
            <a:ext cx="5532120" cy="21945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46520" y="2606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Landing (一時受領)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s3://lake-landing-prd/source=&lt;sys&gt;/entity=&lt;ent&gt;/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load_id=&lt;uuid&gt;/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Bronze (Raw 永続)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s3://lake-bronze-prd/source_system=&lt;sys&gt;/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entity=&lt;ent&gt;/ingestion_date=YYYY-MM-DD/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Silver / Gold (Iceberg管理)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s3://lake-silver-prd/domain=&lt;dom&gt;/entity=&lt;ent&gt;/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s3://lake-gold-prd/domain=&lt;dom&gt;/table=&lt;tbl&gt;/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【バケット分割方針】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63640" y="5212080"/>
            <a:ext cx="553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環境別 (dev / stg / prd) に物理分離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層別 (landing / bronze / silver / gold) でバケットを分け、Lifecycle・IAMを層単位で制御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/ Quarantine は別バケット (Object Lock 適用)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5440680"/>
            <a:ext cx="5715000" cy="105156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365760" y="544068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548640" y="5486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外部ストアの位置づけ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574243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MongoDB / DynamoDB / Redshift / Snowflake / OpenSearch 等の NoSQL・DWH・検索エンジンは「ストレージレイヤーの中核」ではなく、用途別の外部ストア / 併設ストアとして扱う。アーキテクチャ図では S3 / Iceberg ブロックの内側ではなく、横の別枠に配置する。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ファイル形式 — 列指向 (Parquet) を分析の標準形式とする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S3上のデータを効率よく読み書きするための形式を、用途と層に応じて使い分ける。Silver / Gold は Parquet を標準とする。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11430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主な用途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推奨層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メリット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デメリット / 留意点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Parquet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分析用の標準形式 / Iceberg管理下のデータファイル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 / Gold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高圧縮率・列ごとアクセス・述語プッシュダウン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ストリーミング書き込みは不向き (バッチ向け)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ORC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Hive系エコシステムでの分析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 / Gold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Hive互換・高圧縮率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AWS / Iceberg環境では Parquet が一般的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Avro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CDC / Streaming / Kafka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Bronze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スキーマ進化に強い・書き込み高速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分析クエリ性能は列指向に劣る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JSON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半構造化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Raw / APIレスポンス / ログ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Landing / Bronze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柔軟・ネスト構造可・人が読める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分析性能低・ファイルサイズ大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CSV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外部ファイル連携 (受領 / 配信)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Landing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互換性が高い・人が読める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Silver以降では原則非推奨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【圧縮方式の選定】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5212080"/>
            <a:ext cx="3749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65760" y="5212080"/>
            <a:ext cx="73152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Snappy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77440" y="5330952"/>
            <a:ext cx="16459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2377440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推奨 (汎用)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5669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圧縮率は中程度だが、CPU負荷が低く展開が高速。Parquet分析の標準。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06240" y="5212080"/>
            <a:ext cx="3749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4206240" y="5212080"/>
            <a:ext cx="73152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389120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ZSTD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17920" y="5330952"/>
            <a:ext cx="16459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217920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推奨 (容量重視)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89120" y="5669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高圧縮率・高速。Snappyより圧縮率が高く、近年のParquet/Icebergでは選好される。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5212080"/>
            <a:ext cx="3749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1"/>
          <p:cNvSpPr/>
          <p:nvPr/>
        </p:nvSpPr>
        <p:spPr>
          <a:xfrm>
            <a:off x="8046720" y="521208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8229600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Gzip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058400" y="5330952"/>
            <a:ext cx="16459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10058400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レガシー連携用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5669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互換性が高いが、Snappy/ZSTDより展開が遅く分析用途では不利。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— オープンテーブルフォーマットでDB相当の機能を実現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1430000" cy="640080"/>
          </a:xfrm>
          <a:prstGeom prst="rect">
            <a:avLst/>
          </a:prstGeom>
          <a:solidFill>
            <a:srgbClr val="CFFAFE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▶ </a:t>
            </a: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S3上のファイル群を「データベースのテーブル」のように扱うためのオープンテーブルフォーマット。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オブジェクトストレージ上でも ACID トランザクション・Time Travel・Schema Evolution を実現する。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【Iceberg が提供する主要機能】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679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ACID Transaction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原子性のある書き込み / 同時更新の衝突回避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8608" y="260604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578608" y="260604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743200" y="2679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テーブル状態をスナップショット単位で保持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91456" y="260604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791456" y="260604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956048" y="2679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 Travel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過去スナップショットへのクエリ実行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30352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Rollback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指定スナップショットへのテーブル復元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78608" y="356616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2578608" y="356616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74320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 Evolution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Add / Drop / Rename / Reorder カラム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91456" y="356616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791456" y="356616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956048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Partition Evolution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パーティション仕様を後から変更可能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52628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52628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30352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MERGE INTO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CDC適用・Upsert・SCD Type 2 を効率的に処理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78608" y="452628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578608" y="452628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743200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Hidden Partitioning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利用者が物理パーティションを意識不要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91456" y="452628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4791456" y="452628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956048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Concurrent R/W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56048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Isolation による安全な並行処理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【Iceberg が管理するファイル階層】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223760" y="260604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7223760" y="2606040"/>
            <a:ext cx="91440" cy="43891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7360920" y="2624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60920" y="2825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Glue / REST / HMS — current snapshot pointer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509760" y="3044952"/>
            <a:ext cx="0" cy="6400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7223760" y="310896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7223760" y="3108960"/>
            <a:ext cx="914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7360920" y="3127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 File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60920" y="33284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metadata.json — table schema / snapshot list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509760" y="3547872"/>
            <a:ext cx="0" cy="6400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7223760" y="361188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7223760" y="3611880"/>
            <a:ext cx="9144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360920" y="3630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Manifest List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360920" y="38313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snap-&lt;id&gt;.avro — manifests for this snapshot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509760" y="4050792"/>
            <a:ext cx="0" cy="6400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7223760" y="411480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7223760" y="4114800"/>
            <a:ext cx="9144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7360920" y="4133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Manifest File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360920" y="4334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&lt;uuid&gt;.avro — list of data / delete files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509760" y="4553712"/>
            <a:ext cx="0" cy="6400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6"/>
          <p:cNvSpPr/>
          <p:nvPr/>
        </p:nvSpPr>
        <p:spPr>
          <a:xfrm>
            <a:off x="7223760" y="461772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7223760" y="4617720"/>
            <a:ext cx="9144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7360920" y="46360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/ Delete Files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360920" y="4837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*.parquet — actual table data on S3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365760" y="553212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548640" y="5577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運用上の重要ポイント — Iceberg はファイル配置ではなく『メタデータ+スナップショット』でテーブル状態を管理する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48640" y="58521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・S3 Lifecycle, Object Lock, ファイル削除, アーカイブ運用は、必ず Iceberg の snapshot 管理 / orphan cleanup と整合させること。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・metadata.json / manifest list / manifest を不用意にアーカイブ・削除すると、テーブルが読めなくなる (snapshot loss)。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・active snapshot が参照する data file を Lifecycle で削除しないよう、expire-snapshots → remove-orphan-files の順で運用する。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/ Metastore — Operational と Governance を明確に分離する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は「クエリエンジンが参照する Operational Catalog」と「利用者向けの Governance Catalog」の2系統に分けて設計する。混同すると権限の所在が曖昧になる。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715000" cy="44348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73152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Catalog / Metastore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クエリエンジンが実際に参照するテーブル管理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テーブル名 → 物理パス・スキーマ・metadata pointer を解決する。クエリエンジンはここを必ず通る。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【代表ツール】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7216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Glue Data Catalog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37216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AWS標準。Athena / Redshift Spectrum / EMR で利用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85800" y="4133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REST Catalog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41330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Iceberg公式の独立カタログ実装。マルチクラウド可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52628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85800" y="4544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Hive Metastore (HMS)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4544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Hadoop時代からの標準。レガシー連携用途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85800" y="4956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Nessie Catalog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49560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Git風のブランチ管理が可能なカタログ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58978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 ▶ </a:t>
            </a: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 / Athena / Spark / dbt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所管 ▶ </a:t>
            </a: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Platform / Engineering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2011680"/>
            <a:ext cx="5715000" cy="4434840"/>
          </a:xfrm>
          <a:prstGeom prst="rect">
            <a:avLst/>
          </a:prstGeom>
          <a:solidFill>
            <a:srgbClr val="E0F2FE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263640" y="2011680"/>
            <a:ext cx="73152" cy="4434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92240" y="21031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 Catalog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2468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利用者・管理者向けの説明・リネージ・品質管理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2788920"/>
            <a:ext cx="54864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492240" y="2880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 / 説明 / リネージ / タグ / 品質指標 / SLA を集約し、データの発見性と説明責任を高める。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429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【代表ツール】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370332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583680" y="37216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37216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OSS。LinkedIn発。リネージ・タグ・オーナー管理に強い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411480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583680" y="4133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OpenMetadata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41330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OSS。データ品質テスト・収集機能を統合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452628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583680" y="4544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DataZone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0" y="4544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AWSマネージド。Glue / Lake Formationと統合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92240" y="493776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583680" y="4956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Collibra / Alation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0" y="49560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商用エンタープライズ向け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58978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 ▶ </a:t>
            </a: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/ Analyst / Data Steward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所管 ▶ </a:t>
            </a: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Governance / Stewards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6537960"/>
            <a:ext cx="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Medallion レイヤー設計 — 用途と品質段階で論理分割する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ストレージ内のデータは、品質段階と用途に応じて Landing → Bronze → Silver → Gold の流れで配置する。Quarantine と Audit は補助領域として別建てで管理する。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7889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一時受領 / 検証前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278892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外部から届いたファイルを最初に受け取る一時領域。文字コード / 形式 / ウイルスチェック前。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4041648"/>
            <a:ext cx="251460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66928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s3://lake-landing/source=partner/entity=sales/load_id=xxx/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Temporary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783080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Pre-validation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 Check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54680" y="2240280"/>
            <a:ext cx="7315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227832" y="1965960"/>
            <a:ext cx="2788920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227832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27832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 データ保存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27832" y="2514600"/>
            <a:ext cx="278892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364992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4992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ソースに近い Raw データを永続保存。再処理用の原本・監査証跡・CDC changelog を append-only で保持。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64992" y="4041648"/>
            <a:ext cx="251460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bronze.salesforce_account_raw / bronze.postgres_orders_changelog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64992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364992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45152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645152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Changelog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64992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3364992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Append-only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45152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645152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Replayable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16752" y="2240280"/>
            <a:ext cx="7315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6089904" y="1965960"/>
            <a:ext cx="27889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089904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89904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整形・標準化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9904" y="2514600"/>
            <a:ext cx="278892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227064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27064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整形・標準化・重複排除・CDC反映・品質チェック済みのクレンジング層。下流のすべての分析の基盤。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27064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27064" y="4041648"/>
            <a:ext cx="251460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291072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silver.orders / silver.customers / silver.payments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27064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227064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Cleaned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507224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7507224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Standardized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27064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227064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Deduplicated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507224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7507224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 Merged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878824" y="2240280"/>
            <a:ext cx="7315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8951976" y="1965960"/>
            <a:ext cx="2788920" cy="54864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8951976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Gold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951976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業務利用・分析最適化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951976" y="2514600"/>
            <a:ext cx="278892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9089136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089136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 / 分析用途に最適化された信頼済データ。Fact / Dimension / 集計テーブル / KPI-ready dataset。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089136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089136" y="4041648"/>
            <a:ext cx="251460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9153144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gold.fct_orders / gold.dim_customers / gold.mart_sales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089136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9089136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Business-ready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0369296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10369296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Mart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089136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908913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Aggregated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369296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1036929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KPI-ready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5486400"/>
            <a:ext cx="5852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7"/>
          <p:cNvSpPr/>
          <p:nvPr/>
        </p:nvSpPr>
        <p:spPr>
          <a:xfrm>
            <a:off x="365760" y="548640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548640" y="5532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Quarantine — 隔離領域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48640" y="57881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 / 形式チェックで弾かれたレコードを隔離する領域。原因調査・再処理対象として保管。Bronze / Silver の処理失敗時に書き出す。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48640" y="6199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quarantine.invalid_orders / s3://lake-quarantine/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309360" y="548640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Shape 82"/>
          <p:cNvSpPr/>
          <p:nvPr/>
        </p:nvSpPr>
        <p:spPr>
          <a:xfrm>
            <a:off x="6309360" y="5486400"/>
            <a:ext cx="73152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/>
          <p:nvPr/>
        </p:nvSpPr>
        <p:spPr>
          <a:xfrm>
            <a:off x="6492240" y="5532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Archive — 長期保管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492240" y="57881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監査・コンプライアンス目的で長期保管する領域。確定済み Raw アーカイブ・改ざん不可データを Object Lock (WORM) 適用下で保持。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492240" y="6199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s3://lake-audit-archive/ (Object Lock 適用)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Immutable Data と Snapshot — ファイルを上書きせず状態を切り替える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オブジェクトストレージ上では、既存ファイルを直接更新せず、新しいファイル+メタデータを作成し、参照するスナップショットを切り替える。これにより ACID・Time Travel・監査性を実現する。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219456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Write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新しいデータファイルをS3に書き込み (Parquet)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2651760"/>
            <a:ext cx="7315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633472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633472" y="2194560"/>
            <a:ext cx="21945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633472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New Metadata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 manifest / manifest list / metadata.json を生成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28032" y="2651760"/>
            <a:ext cx="7315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901184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901184" y="2194560"/>
            <a:ext cx="219456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901184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New Snapshot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2624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ID を採番し、変更を記録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95744" y="2651760"/>
            <a:ext cx="7315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7168896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7168896" y="2194560"/>
            <a:ext cx="219456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168896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Pointer Swap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0336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の current snapshot を新IDに切り替え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63456" y="2651760"/>
            <a:ext cx="7315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9436608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9436608" y="2194560"/>
            <a:ext cx="219456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9436608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Readers See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28048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以降の読み取りは新スナップショットを参照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4290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65760" y="3429000"/>
            <a:ext cx="73152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破損防止 / 並行処理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886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書き込み途中の中間状態がリーダから見えない。Snapshot Isolation により、書き込みと読み取りが安全に並行可能。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0" y="34290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4206240" y="3429000"/>
            <a:ext cx="73152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 Travel / Rollback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89120" y="3886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過去スナップショットを指定して読める。不正データ混入時は、過去スナップショットへロールバック可能。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0" y="34290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8046720" y="3429000"/>
            <a:ext cx="73152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822960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監査性 / 再現性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0" y="3886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誰がいつ何を書いたかをスナップショット履歴で追跡可能。同じスナップショットから常に同じ結果を再現できる。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【Time Travel — クエリ実行例】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5212080"/>
            <a:ext cx="114300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48640" y="5285232"/>
            <a:ext cx="11155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最新スナップショットを参照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silver.orders;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過去スナップショットIDを指定 (Time Travel)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silver.orders FOR VERSION AS OF 7891234567890123456;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任意時点を指定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silver.orders FOR TIMESTAMP AS OF '2026-05-10 00:00:00';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パーティション設計 — クエリ性能・更新効率・ファイルサイズに直結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パーティション設計は、よく使うフィルタ条件・データ量・更新頻度を踏まえて決める。Iceberg の Hidden Partitioning により、利用者は物理パーティションを直接意識する必要がない。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【設計観点】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414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よく使うフィルタ条件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4414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句で頻繁に使う列をパーティションキーに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443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日付条件 / 時系列性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9443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order_date, event_time 等の時系列カラム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447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4472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 / テナント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4472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マルチテナント環境では tenant_id でバケット化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9502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データ量 / 更新頻度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9502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1パーティション 100MB–1GB 程度を目安に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4531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44531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高カーディナリティ回避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4531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user_id のような高基数列は直接使わない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93776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93776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9560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" y="4956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Small Files の抑制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4956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細かすぎるパーティションは性能を劣化させる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【Iceberg パーティション式の例】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2423160"/>
            <a:ext cx="553212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446520" y="24688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日次パーティション (orders系)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BY (days(order_date))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月次パーティション (event_time 大量データ)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BY (months(event_time))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バケット分割 (高カーディナリティ対策)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BY (bucket(32, customer_id))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4114800"/>
            <a:ext cx="5532120" cy="1371600"/>
          </a:xfrm>
          <a:prstGeom prst="rect">
            <a:avLst/>
          </a:prstGeom>
          <a:solidFill>
            <a:srgbClr val="CFFAFE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6263640" y="411480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Hidden Partitioning とは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46520" y="44348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利用者は order_date でフィルタするだけでよく、days(order_date) という物理パーティション式を意識する必要がない。Iceberg がメタデータからフィルタ式を物理パーティションに自動マッピングし、クエリ最適化に利用する。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5623560"/>
            <a:ext cx="11430000" cy="91440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365760" y="562356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パーティション設計のアンチパターン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5943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user_id のような高カーディナリティ列を直接パーティションキーにする  →  small files が爆発的に増える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時系列をパーティション化しないまま大量データを蓄積する  →  全テーブルスキャンが発生しクエリが極端に遅くなる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細かすぎる粒度 (時間単位など) のパーティション化  →  manifest が膨れクエリ計画が遅延する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テーブルメンテナンス — Iceberg は『置きっぱなし』にできない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テーブルは、データを書くだけでなく継続的なメンテナンスが必要。CDC・ストリーミング・頻繁な MERGE は small files・スナップショット肥大化・manifest 増大を引き起こす。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749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73152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38912" y="2011680"/>
            <a:ext cx="367588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Small Files 対策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なぜ必要か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 / ストリーミング / 頻繁なMERGEで、小さなParquetファイルが大量に生成される。クエリのI/Oが分散し性能が劣化、metadata肥大化を招く。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操作内容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小さいファイル群を1つの最適サイズ (128MB–1GB) のParquetに統合。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35204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system.rewrite_data_files('silver.orders')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5779008"/>
            <a:ext cx="914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5779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実行頻度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0" y="5779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 / 週次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2011680"/>
            <a:ext cx="3749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206240" y="2011680"/>
            <a:ext cx="73152" cy="4160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279392" y="2011680"/>
            <a:ext cx="3675888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43484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Expire Snapshots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484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スナップショット保持期間管理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なぜ必要か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297180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は更新のたびに snapshot を作成する。無期限に保持すると、過去 data files・metadata・manifest が S3 上に残り続け、コストとクエリ計画時間が増大する。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操作内容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4343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保持期間 (例: 7日) を超えた snapshot を期限切れにし、参照されない data files を削除可能にする。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5120640"/>
            <a:ext cx="35204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system.expire_snapshots('silver.orders', TIMESTAMP '2026-05-06 00:00:00')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89120" y="5779008"/>
            <a:ext cx="9144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389120" y="5779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実行頻度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960" y="5779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2011680"/>
            <a:ext cx="3749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8046720" y="2011680"/>
            <a:ext cx="73152" cy="41605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8119872" y="2011680"/>
            <a:ext cx="3675888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827532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Remove Orphans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7532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孤立ファイル / Manifest 最適化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なぜ必要か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297180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中断したジョブや失敗したcompactionが、どのスナップショットからも参照されない『孤立ファイル』をS3に残す。manifestも増えすぎるとクエリ計画が遅くなる。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2960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操作内容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343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メタデータから参照されないファイルを削除し、manifestを最適化 (rewrite_manifests)。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120640"/>
            <a:ext cx="35204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321040" y="5166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system.remove_orphan_files('silver.orders')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229600" y="5779008"/>
            <a:ext cx="9144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8229600" y="5779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実行頻度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235440" y="5779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 / 月次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推奨実行順序 — ① compaction → ② expire_snapshots → ③ remove_orphan_files (順序を逆にすると、まだ必要なファイルを削除するリスク)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コスト最適化 — S3 Storage Class と Lifecycle 設計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のストレージクラスと Lifecycle Policy を活用し、アクセス頻度・保存期間に応じてコストを最適化する。ただし Iceberg テーブルへの適用は、snapshot 管理との整合性に細心の注意が必要。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【S3 ストレージクラスと適用方針】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229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2377440"/>
            <a:ext cx="2743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Standard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0" y="237744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0233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直近・高頻度アクセス。Silver / Gold / 直近Bronze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0" y="2377440"/>
            <a:ext cx="2194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8229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8720" y="2788920"/>
            <a:ext cx="2743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Intelligent-Tiering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31920" y="278892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02336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アクセスパターン不明・変動。自動的にコスト最適化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0" y="2788920"/>
            <a:ext cx="2194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6012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8229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65760" y="3200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88720" y="3200400"/>
            <a:ext cx="2743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2801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Standard-IA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0" y="320040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02336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低頻度アクセス。30日以上アクセスのないBronze等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01200" y="3200400"/>
            <a:ext cx="2194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96012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Standardの約45%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822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6576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88720" y="3611880"/>
            <a:ext cx="2743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128016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Glacier Instant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31920" y="361188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02336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ミリ秒で取り出せるColdアーカイブ。長期保管Bronze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01200" y="3611880"/>
            <a:ext cx="2194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960120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Standardの約20%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023360"/>
            <a:ext cx="82296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365760" y="4023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Archive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128016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Glacier Flexible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931920" y="402336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40233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分〜時間単位の取り出し。年次監査ログ等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601200" y="4023360"/>
            <a:ext cx="2194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96012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Standardの約10%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434840"/>
            <a:ext cx="822960" cy="3657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365760" y="4434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Deep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88720" y="4434840"/>
            <a:ext cx="2743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128016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Glacier Deep Archive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931920" y="443484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402336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ほぼ参照しない長期保管。法定保管・終了データ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601200" y="4434840"/>
            <a:ext cx="2194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960120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Standardの約4%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937760"/>
            <a:ext cx="11430000" cy="164592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365760" y="4937760"/>
            <a:ext cx="73152" cy="1645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548640" y="49834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Iceberg テーブルに S3 Lifecycle を適用する際の必須注意点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640" y="525780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metadata.json / manifest list / manifest を Lifecycle で安易に Glacier 化しない (テーブル読み取り不能化)。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Active snapshot が参照する data file を削除しない (Lifecycle ルールから Iceberg 配下を除外、または expire_snapshots と整合)。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expire_snapshots / remove_orphan_files の保持期間と Lifecycle の移行期間を必ず整合させる。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 Lock (WORM) と compaction / cleanup は衝突する。WORMは Audit / Compliance 領域に限定適用する。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 </a:t>
            </a: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 の Raw ファイル (Iceberg非管理) と Silver/Gold (Iceberg管理) は別バケット / 別Lifecycleで設計するのが安全。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セキュリティ・ガバナンス — 暗号化 × アクセス制御 × ABAC × WORM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ストレージレイヤーのセキュリティは、暗号化・アクセス制御・タグベース制御 (ABAC)・改ざん防止 (WORM)・監査ログを多層で組み合わせる。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715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73152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暗号化 (Encryption)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SSE-S3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S3管理鍵によるサーバサイド暗号化。最小構成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15768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SSE-KMS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KMS管理鍵。エンタープライズ標準。CMKで鍵ローテ・監査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08376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94360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Client-side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3008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クライアント側で暗号化してから格納。高機密データ向け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5349240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419856"/>
            <a:ext cx="5257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推奨：本番は SSE-KMS (Customer Managed Key)。KMS鍵をデータ分類別に分離。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192024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263640" y="192024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9933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アクセス制御 (Access Control)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2313432"/>
            <a:ext cx="457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446520" y="2423160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9224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 Policy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5820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Principal × Resource × Action での基本制御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46520" y="2715768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9224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Bucket Policy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58200" y="2715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バケット単位の制御。クロスアカウントアクセスにも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3008376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492240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 Key Policy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58200" y="3008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暗号鍵への kms:Decrypt 権限の制御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46520" y="3300984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92240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 Formation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5820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 / Column / Row レベルでの統合権限管理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46520" y="3593592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49224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Catalog Perms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58200" y="3593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リソースに対する権限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46520" y="3977640"/>
            <a:ext cx="5166360" cy="0"/>
          </a:xfrm>
          <a:prstGeom prst="rect">
            <a:avLst/>
          </a:prstGeom>
          <a:solidFill>
            <a:srgbClr val="EFF6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537960" y="4005072"/>
            <a:ext cx="5074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Lake Formation を入口に統合管理し、IAM / Bucket Policy で multi-layer に防御。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206240"/>
            <a:ext cx="5715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365760" y="4206240"/>
            <a:ext cx="73152" cy="2331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48640" y="42793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ABAC / Tag-based Access Control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599432"/>
            <a:ext cx="45720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4709160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59436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LF-Tag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60320" y="4709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 Formation のタグベース権限。実効アクセス制御に使う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001768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594360" y="5001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 Tag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560320" y="5001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Principal / Resource タグでの動的判定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5294376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594360" y="5294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Classification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560320" y="5294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PII / Confidential / Internal / Public 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" y="5678424"/>
            <a:ext cx="5349240" cy="722376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40080" y="5705856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User属性 × Data属性 で動的判定。例: user.dept = finance かつ data.domain = finance のときアクセス許可。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DataHub上のタグだけでは実効制御にならない — 必ず LF-Tag / IAMポリシーに反映する。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63640" y="420624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6263640" y="4206240"/>
            <a:ext cx="73152" cy="2331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6446520" y="42793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WORM / Object Lock + 監査ログ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446520" y="4599432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6446520" y="4709160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649224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Object Lock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458200" y="4709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Once Read Many。改ざん不可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46520" y="5001768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6492240" y="5001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 Mode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458200" y="5001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Bypass権限あり。一般運用向け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46520" y="5294376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6492240" y="5294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Compliance Mode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458200" y="5294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誰も削除不可。法定保管向け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446520" y="5586984"/>
            <a:ext cx="19202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6492240" y="5586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CloudTrail / S3 Access Log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458200" y="5586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誰が何を読み書きしたかの監査ログ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46520" y="5971032"/>
            <a:ext cx="516636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6537960" y="599846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Audit / Compliance Archive のみ Object Lock 適用。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Iceberg管理テーブル全体には適用しない (compaction / cleanup と衝突)。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周辺レイヤーとの接続 — 書き込み / 読み取り経路の整理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ストレージレイヤーは、上流の Collecting / Processing から書き込まれ、下流の Query Engine / Access Layer から読み取られる。書込経路は Iceberg を介し、読取経路は Catalog を介すのが原則。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377440"/>
            <a:ext cx="4114800" cy="3200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023360" y="2377440"/>
            <a:ext cx="411480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023360" y="2423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651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× Iceberg × Catalog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306324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25196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(Glue / REST / HMS)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3630168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251960" y="3630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Tables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4197096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251960" y="4197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Files on Amazon S3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4764024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251960" y="47640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 / Silver / Gold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94560"/>
            <a:ext cx="338328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— 書き込み元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0292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Collecting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953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Fivetran / Airbyte / TROCCO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DMS / Debezium (CDC)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337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Bronze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67328" y="3108960"/>
            <a:ext cx="228600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685032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65760" y="3685032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730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Processing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986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Spark / dbt / Trino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Flink / AWS Glue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370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Silver / Gold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67328" y="4142232"/>
            <a:ext cx="228600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65760" y="4718304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718304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02920" y="4764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5020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Kinesis / Kafka / MSK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Flink Sink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5404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Bronze (Avro/Iceberg)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67328" y="5175504"/>
            <a:ext cx="228600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8412480" y="2194560"/>
            <a:ext cx="338328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841248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 — 読み取り先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2651760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8412480" y="265176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54964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Query Engine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49640" y="2953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 / Athena / Spark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Redshift Spectrum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49640" y="3337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Iceberg/Catalog 経由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83880" y="3108960"/>
            <a:ext cx="2103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8412480" y="3685032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8412480" y="3685032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8549640" y="3730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49640" y="3986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dbt / Spark / Notebook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Airflow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49640" y="4370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Iceberg/Catalog 経由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183880" y="4142232"/>
            <a:ext cx="2103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8412480" y="4718304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8412480" y="4718304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8549640" y="4764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 / Semantic Layer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49640" y="5020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Tableau / Looker / Metabase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Cube / dbt Semantic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49640" y="5404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Query Engine 経由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83880" y="5175504"/>
            <a:ext cx="2103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365760" y="5760720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502920" y="5788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【接続原則】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" y="60624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書き込みは Iceberg API / MERGE INTO 経由で行い、S3に直接ファイルを置かない (snapshot 不整合の原因)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読み取りは必ず Catalog (Glue / REST / HMS) 経由で行い、テーブル名で参照する。BI / Semantic Layer は通常 Query Engine を介す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設計サマリ — 実装チェックリストと運用上の論点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本設計書のポイントを集約。設計レビュー / 実装着手時のチェックリストとして使用する。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715000" cy="4572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設計の10ポイント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 を物理保存層の中核に置く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+ Snappy / ZSTD を分析用標準フォーマットに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でテーブル化 — ACID / Snapshot / Time Travel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Catalog (Glue/REST/HMS) と Governance Catalog (DataHub等) を分離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 / Bronze / Silver / Gold + Quarantine / Audit に論理分割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SSE-KMS で暗号化、Lake Formation で行/列/タグ権限を統合管理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Lifecycle / Intelligent-Tiering でコスト階層化 (ただし Iceberg と整合)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21208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48640" y="5212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 / Expire Snapshots / Orphan Cleanup を定常運用化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5778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48640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 Lock (WORM) は Audit / Compliance 領域に限定適用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9436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48640" y="5943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5897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外部ストア (NoSQL / DWH) はS3/Iceberg配下ではなく別枠で扱う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63640" y="192024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【実装前に決定すべき論点】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2331720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6263640" y="2331720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00800" y="23591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選定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2404872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046720" y="24048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/ Iceberg REST / Nessie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829800" y="23591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AWS中心ならGlue、マルチクラウド・OSSならREST、ブランチ運用ならNessie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63640" y="2852928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6263640" y="2852928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400800" y="28803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暗号鍵管理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46720" y="2926080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046720" y="2926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SSE-S3 / SSE-KMS / CMK単位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29800" y="28803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推奨はSSE-KMS+CMK。データ分類別に鍵分離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63640" y="3374136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6263640" y="3374136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400800" y="3401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バケット分割粒度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046720" y="3447288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8046720" y="34472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層別 / 層+環境別 / 機密度別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829800" y="3401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Lifecycle・IAMを層単位で制御するため層別分離が基本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63640" y="3895344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6263640" y="3895344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6400800" y="3922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Snapshot保持期間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46720" y="3968496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8046720" y="39684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 / 7日 / 30日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829800" y="3922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 Travel要件と監査要件のバランス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63640" y="4416552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6"/>
          <p:cNvSpPr/>
          <p:nvPr/>
        </p:nvSpPr>
        <p:spPr>
          <a:xfrm>
            <a:off x="6263640" y="4416552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6400800" y="4443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Compaction頻度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046720" y="4489704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8046720" y="44897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 / 日次 / 週次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829800" y="44439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更新頻度に応じて。CDC系は日次以上が必要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263640" y="4937760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72"/>
          <p:cNvSpPr/>
          <p:nvPr/>
        </p:nvSpPr>
        <p:spPr>
          <a:xfrm>
            <a:off x="6263640" y="4937760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6400800" y="49651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ABAC実装範囲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046720" y="5010912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8046720" y="5010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LF-Tagのみ / DataHub連携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829800" y="4965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DataHubタグは実効制御に直接使えない点に注意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63640" y="5458968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78"/>
          <p:cNvSpPr/>
          <p:nvPr/>
        </p:nvSpPr>
        <p:spPr>
          <a:xfrm>
            <a:off x="6263640" y="5458968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6400800" y="5486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 Lock範囲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046720" y="5532120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8046720" y="5532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Audit/Compliance限定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829800" y="54864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Iceberg配下への適用はNG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63640" y="5980176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Shape 84"/>
          <p:cNvSpPr/>
          <p:nvPr/>
        </p:nvSpPr>
        <p:spPr>
          <a:xfrm>
            <a:off x="6263640" y="5980176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/>
          <p:nvPr/>
        </p:nvSpPr>
        <p:spPr>
          <a:xfrm>
            <a:off x="6400800" y="60076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046720" y="6053328"/>
            <a:ext cx="16916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8046720" y="6053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Cross-Region Replication / Backup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829800" y="60076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RPO/RTOから逆算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90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3346</Words>
  <Application>Microsoft Office PowerPoint</Application>
  <PresentationFormat>ワイド画面</PresentationFormat>
  <Paragraphs>675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Yu Gothic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ストレージレイヤー アーキテクチャ設計書</dc:title>
  <dc:subject>PptxGenJS Presentation</dc:subject>
  <dc:creator>Data Platform Architecture Team</dc:creator>
  <cp:lastModifiedBy>yoshimasa obata</cp:lastModifiedBy>
  <cp:revision>1</cp:revision>
  <dcterms:created xsi:type="dcterms:W3CDTF">2026-05-13T02:55:36Z</dcterms:created>
  <dcterms:modified xsi:type="dcterms:W3CDTF">2026-05-13T03:00:48Z</dcterms:modified>
</cp:coreProperties>
</file>